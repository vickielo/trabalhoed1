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9" r:id="rId3"/>
    <p:sldId id="302" r:id="rId4"/>
    <p:sldId id="260" r:id="rId5"/>
    <p:sldId id="261" r:id="rId6"/>
    <p:sldId id="262" r:id="rId7"/>
    <p:sldId id="263" r:id="rId8"/>
    <p:sldId id="265" r:id="rId9"/>
    <p:sldId id="266" r:id="rId10"/>
    <p:sldId id="300" r:id="rId11"/>
    <p:sldId id="268" r:id="rId12"/>
    <p:sldId id="269" r:id="rId13"/>
    <p:sldId id="270" r:id="rId14"/>
    <p:sldId id="272" r:id="rId15"/>
    <p:sldId id="299" r:id="rId16"/>
    <p:sldId id="304" r:id="rId17"/>
    <p:sldId id="306" r:id="rId18"/>
    <p:sldId id="273" r:id="rId19"/>
    <p:sldId id="275" r:id="rId20"/>
    <p:sldId id="276" r:id="rId21"/>
    <p:sldId id="277" r:id="rId22"/>
    <p:sldId id="278" r:id="rId23"/>
    <p:sldId id="279" r:id="rId24"/>
    <p:sldId id="280" r:id="rId25"/>
    <p:sldId id="281" r:id="rId26"/>
  </p:sldIdLst>
  <p:sldSz cx="9144000" cy="6858000" type="screen4x3"/>
  <p:notesSz cx="7099300" cy="102346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91" autoAdjust="0"/>
  </p:normalViewPr>
  <p:slideViewPr>
    <p:cSldViewPr>
      <p:cViewPr varScale="1">
        <p:scale>
          <a:sx n="67" d="100"/>
          <a:sy n="67" d="100"/>
        </p:scale>
        <p:origin x="123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1" y="2"/>
            <a:ext cx="3076363" cy="511731"/>
          </a:xfrm>
          <a:prstGeom prst="rect">
            <a:avLst/>
          </a:prstGeom>
        </p:spPr>
        <p:txBody>
          <a:bodyPr vert="horz" lIns="99048" tIns="49524" rIns="99048" bIns="49524" rtlCol="0"/>
          <a:lstStyle>
            <a:lvl1pPr algn="l">
              <a:defRPr sz="1300"/>
            </a:lvl1pPr>
          </a:lstStyle>
          <a:p>
            <a:endParaRPr lang="pt-BR"/>
          </a:p>
        </p:txBody>
      </p:sp>
      <p:sp>
        <p:nvSpPr>
          <p:cNvPr id="3" name="Espaço Reservado para Data 2"/>
          <p:cNvSpPr>
            <a:spLocks noGrp="1"/>
          </p:cNvSpPr>
          <p:nvPr>
            <p:ph type="dt" idx="1"/>
          </p:nvPr>
        </p:nvSpPr>
        <p:spPr>
          <a:xfrm>
            <a:off x="4021295" y="2"/>
            <a:ext cx="3076363" cy="511731"/>
          </a:xfrm>
          <a:prstGeom prst="rect">
            <a:avLst/>
          </a:prstGeom>
        </p:spPr>
        <p:txBody>
          <a:bodyPr vert="horz" lIns="99048" tIns="49524" rIns="99048" bIns="49524" rtlCol="0"/>
          <a:lstStyle>
            <a:lvl1pPr algn="r">
              <a:defRPr sz="1300"/>
            </a:lvl1pPr>
          </a:lstStyle>
          <a:p>
            <a:fld id="{0922685C-F2DC-468B-9D30-6BDB1A0CB6D3}" type="datetimeFigureOut">
              <a:rPr lang="pt-BR" smtClean="0"/>
              <a:pPr/>
              <a:t>23/04/2026</a:t>
            </a:fld>
            <a:endParaRPr lang="pt-BR"/>
          </a:p>
        </p:txBody>
      </p:sp>
      <p:sp>
        <p:nvSpPr>
          <p:cNvPr id="4" name="Espaço Reservado para Imagem de Slide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pt-BR"/>
          </a:p>
        </p:txBody>
      </p:sp>
      <p:sp>
        <p:nvSpPr>
          <p:cNvPr id="5" name="Espaço Reservado para Anotações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1" y="9721108"/>
            <a:ext cx="3076363" cy="511731"/>
          </a:xfrm>
          <a:prstGeom prst="rect">
            <a:avLst/>
          </a:prstGeom>
        </p:spPr>
        <p:txBody>
          <a:bodyPr vert="horz" lIns="99048" tIns="49524" rIns="99048" bIns="49524" rtlCol="0" anchor="b"/>
          <a:lstStyle>
            <a:lvl1pPr algn="l">
              <a:defRPr sz="1300"/>
            </a:lvl1pPr>
          </a:lstStyle>
          <a:p>
            <a:endParaRPr lang="pt-BR"/>
          </a:p>
        </p:txBody>
      </p:sp>
      <p:sp>
        <p:nvSpPr>
          <p:cNvPr id="7" name="Espaço Reservado para Número de Slide 6"/>
          <p:cNvSpPr>
            <a:spLocks noGrp="1"/>
          </p:cNvSpPr>
          <p:nvPr>
            <p:ph type="sldNum" sz="quarter" idx="5"/>
          </p:nvPr>
        </p:nvSpPr>
        <p:spPr>
          <a:xfrm>
            <a:off x="4021295" y="9721108"/>
            <a:ext cx="3076363" cy="511731"/>
          </a:xfrm>
          <a:prstGeom prst="rect">
            <a:avLst/>
          </a:prstGeom>
        </p:spPr>
        <p:txBody>
          <a:bodyPr vert="horz" lIns="99048" tIns="49524" rIns="99048" bIns="49524" rtlCol="0" anchor="b"/>
          <a:lstStyle>
            <a:lvl1pPr algn="r">
              <a:defRPr sz="1300"/>
            </a:lvl1pPr>
          </a:lstStyle>
          <a:p>
            <a:fld id="{25782EBC-4F61-47C4-9498-519F241C4C87}" type="slidenum">
              <a:rPr lang="pt-BR" smtClean="0"/>
              <a:pPr/>
              <a:t>‹nº›</a:t>
            </a:fld>
            <a:endParaRPr lang="pt-BR"/>
          </a:p>
        </p:txBody>
      </p:sp>
    </p:spTree>
    <p:extLst>
      <p:ext uri="{BB962C8B-B14F-4D97-AF65-F5344CB8AC3E}">
        <p14:creationId xmlns:p14="http://schemas.microsoft.com/office/powerpoint/2010/main" val="3028555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25782EBC-4F61-47C4-9498-519F241C4C87}" type="slidenum">
              <a:rPr lang="pt-BR" smtClean="0"/>
              <a:pPr/>
              <a:t>5</a:t>
            </a:fld>
            <a:endParaRPr 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r>
              <a:rPr lang="pt-BR" dirty="0"/>
              <a:t>A</a:t>
            </a:r>
            <a:r>
              <a:rPr lang="pt-BR" baseline="0" dirty="0"/>
              <a:t> compactação pode ser feita quando um contador de registros de removidos atingir um certo limiar ou de acordo com uma data específica no calendário (todo dia 01 de cada mês ou todo domingo).</a:t>
            </a:r>
            <a:endParaRPr lang="pt-BR" dirty="0"/>
          </a:p>
        </p:txBody>
      </p:sp>
      <p:sp>
        <p:nvSpPr>
          <p:cNvPr id="4" name="Espaço Reservado para Número de Slide 3"/>
          <p:cNvSpPr>
            <a:spLocks noGrp="1"/>
          </p:cNvSpPr>
          <p:nvPr>
            <p:ph type="sldNum" sz="quarter" idx="10"/>
          </p:nvPr>
        </p:nvSpPr>
        <p:spPr/>
        <p:txBody>
          <a:bodyPr/>
          <a:lstStyle/>
          <a:p>
            <a:fld id="{25782EBC-4F61-47C4-9498-519F241C4C87}" type="slidenum">
              <a:rPr lang="pt-BR" smtClean="0"/>
              <a:pPr/>
              <a:t>6</a:t>
            </a:fld>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25782EBC-4F61-47C4-9498-519F241C4C87}" type="slidenum">
              <a:rPr lang="pt-BR" smtClean="0"/>
              <a:pPr/>
              <a:t>7</a:t>
            </a:fld>
            <a:endParaRPr lang="pt-BR"/>
          </a:p>
        </p:txBody>
      </p:sp>
    </p:spTree>
    <p:extLst>
      <p:ext uri="{BB962C8B-B14F-4D97-AF65-F5344CB8AC3E}">
        <p14:creationId xmlns:p14="http://schemas.microsoft.com/office/powerpoint/2010/main" val="2011599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buNone/>
            </a:pPr>
            <a:r>
              <a:rPr lang="pt-BR" b="1" dirty="0"/>
              <a:t>⚙️ Como funciona?</a:t>
            </a:r>
          </a:p>
          <a:p>
            <a:pPr>
              <a:buNone/>
            </a:pPr>
            <a:r>
              <a:rPr lang="pt-BR" dirty="0"/>
              <a:t>A PED funciona como uma </a:t>
            </a:r>
            <a:r>
              <a:rPr lang="pt-BR" b="1" dirty="0"/>
              <a:t>pilha (</a:t>
            </a:r>
            <a:r>
              <a:rPr lang="pt-BR" b="1" dirty="0" err="1"/>
              <a:t>stack</a:t>
            </a:r>
            <a:r>
              <a:rPr lang="pt-BR" b="1" dirty="0"/>
              <a:t>)</a:t>
            </a:r>
            <a:r>
              <a:rPr lang="pt-BR" dirty="0"/>
              <a:t> — ou seja, os espaços são inseridos e removidos </a:t>
            </a:r>
            <a:r>
              <a:rPr lang="pt-BR" b="1" dirty="0"/>
              <a:t>no estilo LIFO</a:t>
            </a:r>
            <a:r>
              <a:rPr lang="pt-BR" dirty="0"/>
              <a:t> (</a:t>
            </a:r>
            <a:r>
              <a:rPr lang="pt-BR" dirty="0" err="1"/>
              <a:t>Last</a:t>
            </a:r>
            <a:r>
              <a:rPr lang="pt-BR" dirty="0"/>
              <a:t> In, </a:t>
            </a:r>
            <a:r>
              <a:rPr lang="pt-BR" dirty="0" err="1"/>
              <a:t>First</a:t>
            </a:r>
            <a:r>
              <a:rPr lang="pt-BR" dirty="0"/>
              <a:t> Out).</a:t>
            </a:r>
          </a:p>
          <a:p>
            <a:pPr>
              <a:buNone/>
            </a:pPr>
            <a:r>
              <a:rPr lang="pt-BR" b="1" dirty="0"/>
              <a:t>🧮 Exemplo:</a:t>
            </a:r>
          </a:p>
          <a:p>
            <a:pPr>
              <a:buFont typeface="+mj-lt"/>
              <a:buAutoNum type="arabicPeriod"/>
            </a:pPr>
            <a:r>
              <a:rPr lang="pt-BR" dirty="0"/>
              <a:t>Arquivo tem 10 registros.</a:t>
            </a:r>
          </a:p>
          <a:p>
            <a:pPr>
              <a:buFont typeface="+mj-lt"/>
              <a:buAutoNum type="arabicPeriod"/>
            </a:pPr>
            <a:r>
              <a:rPr lang="pt-BR" dirty="0"/>
              <a:t>Remove-se o registro da posição 4.</a:t>
            </a:r>
          </a:p>
          <a:p>
            <a:pPr>
              <a:buFont typeface="+mj-lt"/>
              <a:buAutoNum type="arabicPeriod"/>
            </a:pPr>
            <a:r>
              <a:rPr lang="pt-BR" dirty="0"/>
              <a:t>A posição 4 vai para o topo da PED.</a:t>
            </a:r>
          </a:p>
          <a:p>
            <a:pPr>
              <a:buFont typeface="+mj-lt"/>
              <a:buAutoNum type="arabicPeriod"/>
            </a:pPr>
            <a:r>
              <a:rPr lang="pt-BR" dirty="0"/>
              <a:t>Quando um novo registro precisar ser inserido:</a:t>
            </a:r>
          </a:p>
          <a:p>
            <a:pPr marL="742950" lvl="1" indent="-285750">
              <a:buFont typeface="+mj-lt"/>
              <a:buAutoNum type="arabicPeriod"/>
            </a:pPr>
            <a:r>
              <a:rPr lang="pt-BR" dirty="0"/>
              <a:t>O sistema verifica a PED: "Ah! Tem espaço na posição 4!"</a:t>
            </a:r>
          </a:p>
          <a:p>
            <a:pPr marL="742950" lvl="1" indent="-285750">
              <a:buFont typeface="+mj-lt"/>
              <a:buAutoNum type="arabicPeriod"/>
            </a:pPr>
            <a:r>
              <a:rPr lang="pt-BR" dirty="0"/>
              <a:t>Escreve o novo registro lá.</a:t>
            </a:r>
          </a:p>
          <a:p>
            <a:pPr marL="742950" lvl="1" indent="-285750">
              <a:buFont typeface="+mj-lt"/>
              <a:buAutoNum type="arabicPeriod"/>
            </a:pPr>
            <a:r>
              <a:rPr lang="pt-BR" dirty="0"/>
              <a:t>Remove a posição 4 da PED.</a:t>
            </a:r>
          </a:p>
          <a:p>
            <a:endParaRPr lang="pt-BR" dirty="0"/>
          </a:p>
        </p:txBody>
      </p:sp>
      <p:sp>
        <p:nvSpPr>
          <p:cNvPr id="4" name="Espaço Reservado para Número de Slide 3"/>
          <p:cNvSpPr>
            <a:spLocks noGrp="1"/>
          </p:cNvSpPr>
          <p:nvPr>
            <p:ph type="sldNum" sz="quarter" idx="5"/>
          </p:nvPr>
        </p:nvSpPr>
        <p:spPr/>
        <p:txBody>
          <a:bodyPr/>
          <a:lstStyle/>
          <a:p>
            <a:fld id="{25782EBC-4F61-47C4-9498-519F241C4C87}" type="slidenum">
              <a:rPr lang="pt-BR" smtClean="0"/>
              <a:pPr/>
              <a:t>9</a:t>
            </a:fld>
            <a:endParaRPr lang="pt-BR"/>
          </a:p>
        </p:txBody>
      </p:sp>
    </p:spTree>
    <p:extLst>
      <p:ext uri="{BB962C8B-B14F-4D97-AF65-F5344CB8AC3E}">
        <p14:creationId xmlns:p14="http://schemas.microsoft.com/office/powerpoint/2010/main" val="3339792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buNone/>
            </a:pPr>
            <a:r>
              <a:rPr lang="pt-BR" b="1" dirty="0"/>
              <a:t>📁 Como isso é implementado?</a:t>
            </a:r>
          </a:p>
          <a:p>
            <a:pPr>
              <a:buNone/>
            </a:pPr>
            <a:r>
              <a:rPr lang="pt-BR" dirty="0"/>
              <a:t>Existem várias formas, mas um jeito comum (em arquivos de registros de tamanho fixo) é:</a:t>
            </a:r>
          </a:p>
          <a:p>
            <a:pPr>
              <a:buFont typeface="Arial" panose="020B0604020202020204" pitchFamily="34" charset="0"/>
              <a:buChar char="•"/>
            </a:pPr>
            <a:r>
              <a:rPr lang="pt-BR" b="1" dirty="0"/>
              <a:t>O próprio espaço do registro deletado armazena o ponteiro</a:t>
            </a:r>
            <a:r>
              <a:rPr lang="pt-BR" dirty="0"/>
              <a:t> (ou número do próximo espaço disponível).</a:t>
            </a:r>
          </a:p>
          <a:p>
            <a:pPr>
              <a:buFont typeface="Arial" panose="020B0604020202020204" pitchFamily="34" charset="0"/>
              <a:buChar char="•"/>
            </a:pPr>
            <a:r>
              <a:rPr lang="pt-BR" dirty="0"/>
              <a:t>A </a:t>
            </a:r>
            <a:r>
              <a:rPr lang="pt-BR" b="1" dirty="0"/>
              <a:t>cabeça da pilha</a:t>
            </a:r>
            <a:r>
              <a:rPr lang="pt-BR" dirty="0"/>
              <a:t> fica armazenada em um </a:t>
            </a:r>
            <a:r>
              <a:rPr lang="pt-BR" b="1" dirty="0"/>
              <a:t>registro especial</a:t>
            </a:r>
            <a:r>
              <a:rPr lang="pt-BR" dirty="0"/>
              <a:t> (geralmente o cabeçalho do arquivo).</a:t>
            </a:r>
          </a:p>
          <a:p>
            <a:pPr>
              <a:buNone/>
            </a:pPr>
            <a:endParaRPr lang="pt-BR" b="1" dirty="0"/>
          </a:p>
          <a:p>
            <a:pPr>
              <a:buNone/>
            </a:pPr>
            <a:br>
              <a:rPr lang="pt-BR" b="1" dirty="0"/>
            </a:br>
            <a:r>
              <a:rPr lang="pt-BR" b="1" dirty="0"/>
              <a:t>🎯 Quando usar a PED?</a:t>
            </a:r>
          </a:p>
          <a:p>
            <a:pPr>
              <a:buFont typeface="Arial" panose="020B0604020202020204" pitchFamily="34" charset="0"/>
              <a:buChar char="•"/>
            </a:pPr>
            <a:r>
              <a:rPr lang="pt-BR" dirty="0"/>
              <a:t>Em arquivos com </a:t>
            </a:r>
            <a:r>
              <a:rPr lang="pt-BR" b="1" dirty="0"/>
              <a:t>registros de tamanho fixo</a:t>
            </a:r>
            <a:r>
              <a:rPr lang="pt-BR" dirty="0"/>
              <a:t> (mais simples de gerenciar).</a:t>
            </a:r>
          </a:p>
          <a:p>
            <a:pPr>
              <a:buFont typeface="Arial" panose="020B0604020202020204" pitchFamily="34" charset="0"/>
              <a:buChar char="•"/>
            </a:pPr>
            <a:r>
              <a:rPr lang="pt-BR" dirty="0"/>
              <a:t>Quando o sistema permite </a:t>
            </a:r>
            <a:r>
              <a:rPr lang="pt-BR" b="1" dirty="0"/>
              <a:t>remoção lógica de registros</a:t>
            </a:r>
            <a:r>
              <a:rPr lang="pt-BR" dirty="0"/>
              <a:t> (marcando como deletados).</a:t>
            </a:r>
          </a:p>
          <a:p>
            <a:pPr>
              <a:buFont typeface="Arial" panose="020B0604020202020204" pitchFamily="34" charset="0"/>
              <a:buChar char="•"/>
            </a:pPr>
            <a:r>
              <a:rPr lang="pt-BR" dirty="0"/>
              <a:t>Em sistemas onde o </a:t>
            </a:r>
            <a:r>
              <a:rPr lang="pt-BR" b="1" dirty="0"/>
              <a:t>número de inserções e remoções é alto</a:t>
            </a:r>
            <a:r>
              <a:rPr lang="pt-BR" dirty="0"/>
              <a:t>, e a </a:t>
            </a:r>
            <a:r>
              <a:rPr lang="pt-BR" b="1" dirty="0"/>
              <a:t>eficiência do uso do espaço</a:t>
            </a:r>
            <a:r>
              <a:rPr lang="pt-BR" dirty="0"/>
              <a:t> é relevante.</a:t>
            </a:r>
          </a:p>
          <a:p>
            <a:endParaRPr lang="pt-BR" dirty="0"/>
          </a:p>
        </p:txBody>
      </p:sp>
      <p:sp>
        <p:nvSpPr>
          <p:cNvPr id="4" name="Espaço Reservado para Número de Slide 3"/>
          <p:cNvSpPr>
            <a:spLocks noGrp="1"/>
          </p:cNvSpPr>
          <p:nvPr>
            <p:ph type="sldNum" sz="quarter" idx="5"/>
          </p:nvPr>
        </p:nvSpPr>
        <p:spPr/>
        <p:txBody>
          <a:bodyPr/>
          <a:lstStyle/>
          <a:p>
            <a:fld id="{25782EBC-4F61-47C4-9498-519F241C4C87}" type="slidenum">
              <a:rPr lang="pt-BR" smtClean="0"/>
              <a:pPr/>
              <a:t>10</a:t>
            </a:fld>
            <a:endParaRPr lang="pt-BR"/>
          </a:p>
        </p:txBody>
      </p:sp>
    </p:spTree>
    <p:extLst>
      <p:ext uri="{BB962C8B-B14F-4D97-AF65-F5344CB8AC3E}">
        <p14:creationId xmlns:p14="http://schemas.microsoft.com/office/powerpoint/2010/main" val="3888930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25782EBC-4F61-47C4-9498-519F241C4C87}" type="slidenum">
              <a:rPr lang="pt-BR" smtClean="0"/>
              <a:pPr/>
              <a:t>14</a:t>
            </a:fld>
            <a:endParaRPr lang="pt-B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25782EBC-4F61-47C4-9498-519F241C4C87}" type="slidenum">
              <a:rPr lang="pt-BR" smtClean="0"/>
              <a:pPr/>
              <a:t>15</a:t>
            </a:fld>
            <a:endParaRPr lang="pt-BR"/>
          </a:p>
        </p:txBody>
      </p:sp>
    </p:spTree>
    <p:extLst>
      <p:ext uri="{BB962C8B-B14F-4D97-AF65-F5344CB8AC3E}">
        <p14:creationId xmlns:p14="http://schemas.microsoft.com/office/powerpoint/2010/main" val="919185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25782EBC-4F61-47C4-9498-519F241C4C87}" type="slidenum">
              <a:rPr lang="pt-BR" smtClean="0"/>
              <a:pPr/>
              <a:t>16</a:t>
            </a:fld>
            <a:endParaRPr lang="pt-BR"/>
          </a:p>
        </p:txBody>
      </p:sp>
    </p:spTree>
    <p:extLst>
      <p:ext uri="{BB962C8B-B14F-4D97-AF65-F5344CB8AC3E}">
        <p14:creationId xmlns:p14="http://schemas.microsoft.com/office/powerpoint/2010/main" val="3922567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25782EBC-4F61-47C4-9498-519F241C4C87}" type="slidenum">
              <a:rPr lang="pt-BR" smtClean="0"/>
              <a:pPr/>
              <a:t>17</a:t>
            </a:fld>
            <a:endParaRPr lang="pt-BR"/>
          </a:p>
        </p:txBody>
      </p:sp>
    </p:spTree>
    <p:extLst>
      <p:ext uri="{BB962C8B-B14F-4D97-AF65-F5344CB8AC3E}">
        <p14:creationId xmlns:p14="http://schemas.microsoft.com/office/powerpoint/2010/main" val="1270072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3600">
                <a:solidFill>
                  <a:srgbClr val="009900"/>
                </a:solidFill>
                <a:effectLst>
                  <a:outerShdw blurRad="38100" dist="38100" dir="2700000" algn="tl">
                    <a:srgbClr val="000000">
                      <a:alpha val="43137"/>
                    </a:srgbClr>
                  </a:outerShdw>
                </a:effectLst>
              </a:defRPr>
            </a:lvl1pPr>
          </a:lstStyle>
          <a:p>
            <a:r>
              <a:rPr lang="pt-BR" dirty="0"/>
              <a:t>Clique para editar o estilo do título mestre</a:t>
            </a:r>
          </a:p>
        </p:txBody>
      </p:sp>
      <p:sp>
        <p:nvSpPr>
          <p:cNvPr id="3" name="Espaço Reservado para Conteúdo 2"/>
          <p:cNvSpPr>
            <a:spLocks noGrp="1"/>
          </p:cNvSpPr>
          <p:nvPr>
            <p:ph idx="1"/>
          </p:nvPr>
        </p:nvSpPr>
        <p:spPr>
          <a:xfrm>
            <a:off x="457200" y="1600200"/>
            <a:ext cx="8229600" cy="4972072"/>
          </a:xfrm>
        </p:spPr>
        <p:txBody>
          <a:bodyPr>
            <a:normAutofit/>
          </a:bodyPr>
          <a:lstStyle>
            <a:lvl1pPr>
              <a:buClr>
                <a:srgbClr val="009900"/>
              </a:buClr>
              <a:buFont typeface="Wingdings" pitchFamily="2" charset="2"/>
              <a:buChar char="§"/>
              <a:defRPr sz="2800"/>
            </a:lvl1pPr>
            <a:lvl2pPr>
              <a:buClr>
                <a:srgbClr val="009900"/>
              </a:buClr>
              <a:defRPr sz="2400"/>
            </a:lvl2pPr>
            <a:lvl3pPr>
              <a:buClr>
                <a:srgbClr val="009900"/>
              </a:buClr>
              <a:defRPr sz="2000"/>
            </a:lvl3pPr>
            <a:lvl4pPr>
              <a:buClr>
                <a:srgbClr val="009900"/>
              </a:buClr>
              <a:defRPr sz="1800"/>
            </a:lvl4pPr>
            <a:lvl5pPr>
              <a:buClr>
                <a:srgbClr val="009900"/>
              </a:buClr>
              <a:defRPr sz="1800"/>
            </a:lvl5pPr>
          </a:lstStyle>
          <a:p>
            <a:pPr lvl="0"/>
            <a:r>
              <a:rPr lang="pt-BR" dirty="0"/>
              <a:t>Clique para editar os estilos do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4000">
                <a:solidFill>
                  <a:srgbClr val="009900"/>
                </a:solidFill>
                <a:effectLst>
                  <a:outerShdw blurRad="38100" dist="38100" dir="2700000" algn="tl">
                    <a:srgbClr val="000000">
                      <a:alpha val="43137"/>
                    </a:srgbClr>
                  </a:outerShdw>
                </a:effectLst>
              </a:defRPr>
            </a:lvl1p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972072"/>
          </a:xfrm>
        </p:spPr>
        <p:txBody>
          <a:bodyPr>
            <a:normAutofit/>
          </a:bodyPr>
          <a:lstStyle>
            <a:lvl1pPr>
              <a:buClr>
                <a:srgbClr val="009900"/>
              </a:buClr>
              <a:buFont typeface="Wingdings" pitchFamily="2" charset="2"/>
              <a:buChar char="§"/>
              <a:defRPr sz="2400"/>
            </a:lvl1pPr>
            <a:lvl2pPr>
              <a:buClr>
                <a:srgbClr val="009900"/>
              </a:buClr>
              <a:defRPr sz="2000"/>
            </a:lvl2pPr>
            <a:lvl3pPr>
              <a:buClr>
                <a:srgbClr val="009900"/>
              </a:buClr>
              <a:defRPr sz="1800"/>
            </a:lvl3pPr>
            <a:lvl4pPr>
              <a:buClr>
                <a:srgbClr val="009900"/>
              </a:buClr>
              <a:defRPr sz="1600"/>
            </a:lvl4pPr>
            <a:lvl5pPr>
              <a:buClr>
                <a:srgbClr val="009900"/>
              </a:buClr>
              <a:defRPr sz="1600"/>
            </a:lvl5pPr>
            <a:lvl6pPr>
              <a:defRPr sz="1800"/>
            </a:lvl6pPr>
            <a:lvl7pPr>
              <a:defRPr sz="1800"/>
            </a:lvl7pPr>
            <a:lvl8pPr>
              <a:defRPr sz="1800"/>
            </a:lvl8pPr>
            <a:lvl9pPr>
              <a:defRPr sz="1800"/>
            </a:lvl9pPr>
          </a:lstStyle>
          <a:p>
            <a:pPr lvl="0"/>
            <a:r>
              <a:rPr lang="pt-BR" dirty="0"/>
              <a:t>Clique para editar os estilos do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Conteúdo 3"/>
          <p:cNvSpPr>
            <a:spLocks noGrp="1"/>
          </p:cNvSpPr>
          <p:nvPr>
            <p:ph sz="half" idx="2"/>
          </p:nvPr>
        </p:nvSpPr>
        <p:spPr>
          <a:xfrm>
            <a:off x="4648200" y="1600200"/>
            <a:ext cx="4038600" cy="4972072"/>
          </a:xfrm>
        </p:spPr>
        <p:txBody>
          <a:bodyPr>
            <a:normAutofit/>
          </a:bodyPr>
          <a:lstStyle>
            <a:lvl1pPr>
              <a:buClr>
                <a:srgbClr val="009900"/>
              </a:buClr>
              <a:buFont typeface="Wingdings" pitchFamily="2" charset="2"/>
              <a:buChar char="§"/>
              <a:defRPr sz="2400"/>
            </a:lvl1pPr>
            <a:lvl2pPr>
              <a:buClr>
                <a:srgbClr val="009900"/>
              </a:buClr>
              <a:defRPr sz="2000"/>
            </a:lvl2pPr>
            <a:lvl3pPr>
              <a:buClr>
                <a:srgbClr val="009900"/>
              </a:buClr>
              <a:defRPr sz="1800"/>
            </a:lvl3pPr>
            <a:lvl4pPr>
              <a:buClr>
                <a:srgbClr val="009900"/>
              </a:buClr>
              <a:defRPr sz="1600"/>
            </a:lvl4pPr>
            <a:lvl5pPr>
              <a:buClr>
                <a:srgbClr val="009900"/>
              </a:buClr>
              <a:defRPr sz="1600"/>
            </a:lvl5pPr>
            <a:lvl6pPr>
              <a:defRPr sz="1800"/>
            </a:lvl6pPr>
            <a:lvl7pPr>
              <a:defRPr sz="1800"/>
            </a:lvl7pPr>
            <a:lvl8pPr>
              <a:defRPr sz="1800"/>
            </a:lvl8pPr>
            <a:lvl9pPr>
              <a:defRPr sz="1800"/>
            </a:lvl9pPr>
          </a:lstStyle>
          <a:p>
            <a:pPr lvl="0"/>
            <a:r>
              <a:rPr lang="pt-BR" dirty="0"/>
              <a:t>Clique para editar os estilos do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4000">
                <a:solidFill>
                  <a:srgbClr val="009900"/>
                </a:solidFill>
                <a:effectLst>
                  <a:outerShdw blurRad="38100" dist="38100" dir="2700000" algn="tl">
                    <a:srgbClr val="000000">
                      <a:alpha val="43137"/>
                    </a:srgbClr>
                  </a:outerShdw>
                </a:effectLst>
              </a:defRPr>
            </a:lvl1pPr>
          </a:lstStyle>
          <a:p>
            <a:r>
              <a:rPr lang="pt-BR"/>
              <a:t>Clique para editar o estilo do título mestre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3EC1F74-DA28-437A-ACEE-BED5741CBB44}" type="datetimeFigureOut">
              <a:rPr lang="pt-BR" smtClean="0"/>
              <a:pPr/>
              <a:t>23/04/2026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3D6D1BA-DCA6-4BF6-83F0-B82A6A0C07A5}"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EC1F74-DA28-437A-ACEE-BED5741CBB44}" type="datetimeFigureOut">
              <a:rPr lang="pt-BR" smtClean="0"/>
              <a:pPr/>
              <a:t>23/04/2026</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D6D1BA-DCA6-4BF6-83F0-B82A6A0C07A5}"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857365"/>
            <a:ext cx="7772400" cy="1743086"/>
          </a:xfrm>
        </p:spPr>
        <p:txBody>
          <a:bodyPr>
            <a:normAutofit/>
          </a:bodyPr>
          <a:lstStyle/>
          <a:p>
            <a:pPr eaLnBrk="1" hangingPunct="1">
              <a:defRPr/>
            </a:pPr>
            <a:r>
              <a:rPr lang="pt-BR" dirty="0">
                <a:solidFill>
                  <a:srgbClr val="008000"/>
                </a:solidFill>
              </a:rPr>
              <a:t>Fragmentação e </a:t>
            </a:r>
            <a:br>
              <a:rPr lang="pt-BR" dirty="0">
                <a:solidFill>
                  <a:srgbClr val="008000"/>
                </a:solidFill>
              </a:rPr>
            </a:br>
            <a:r>
              <a:rPr lang="pt-BR" dirty="0">
                <a:solidFill>
                  <a:srgbClr val="008000"/>
                </a:solidFill>
              </a:rPr>
              <a:t>Reutilização de Espaço</a:t>
            </a:r>
            <a:endParaRPr lang="en-US" dirty="0">
              <a:solidFill>
                <a:srgbClr val="008000"/>
              </a:solidFill>
            </a:endParaRPr>
          </a:p>
        </p:txBody>
      </p:sp>
      <p:sp>
        <p:nvSpPr>
          <p:cNvPr id="2051" name="Subtítulo 2"/>
          <p:cNvSpPr>
            <a:spLocks noGrp="1"/>
          </p:cNvSpPr>
          <p:nvPr>
            <p:ph type="subTitle" idx="1"/>
          </p:nvPr>
        </p:nvSpPr>
        <p:spPr>
          <a:xfrm>
            <a:off x="642938" y="3886200"/>
            <a:ext cx="7858125" cy="2543175"/>
          </a:xfrm>
        </p:spPr>
        <p:txBody>
          <a:bodyPr>
            <a:normAutofit/>
          </a:bodyPr>
          <a:lstStyle/>
          <a:p>
            <a:r>
              <a:rPr lang="pt-BR" sz="2400" dirty="0">
                <a:solidFill>
                  <a:srgbClr val="898989"/>
                </a:solidFill>
              </a:rPr>
              <a:t>Organização e Recuperação </a:t>
            </a:r>
            <a:r>
              <a:rPr lang="pt-BR" sz="2400">
                <a:solidFill>
                  <a:srgbClr val="898989"/>
                </a:solidFill>
              </a:rPr>
              <a:t>de Dados</a:t>
            </a:r>
            <a:endParaRPr lang="pt-BR" sz="2400" dirty="0">
              <a:solidFill>
                <a:srgbClr val="898989"/>
              </a:solidFill>
            </a:endParaRPr>
          </a:p>
          <a:p>
            <a:pPr eaLnBrk="1" hangingPunct="1"/>
            <a:endParaRPr lang="pt-BR" sz="2400" dirty="0">
              <a:solidFill>
                <a:srgbClr val="898989"/>
              </a:solidFill>
            </a:endParaRPr>
          </a:p>
          <a:p>
            <a:pPr eaLnBrk="1" hangingPunct="1"/>
            <a:r>
              <a:rPr lang="pt-BR" sz="2400" dirty="0">
                <a:solidFill>
                  <a:srgbClr val="898989"/>
                </a:solidFill>
              </a:rPr>
              <a:t>UEM – CTC – DIN</a:t>
            </a:r>
            <a:endParaRPr lang="en-US" sz="2400" dirty="0">
              <a:solidFill>
                <a:srgbClr val="898989"/>
              </a:solidFill>
            </a:endParaRPr>
          </a:p>
        </p:txBody>
      </p:sp>
      <p:sp>
        <p:nvSpPr>
          <p:cNvPr id="2052" name="CaixaDeTexto 3"/>
          <p:cNvSpPr txBox="1">
            <a:spLocks noChangeArrowheads="1"/>
          </p:cNvSpPr>
          <p:nvPr/>
        </p:nvSpPr>
        <p:spPr bwMode="auto">
          <a:xfrm>
            <a:off x="214313" y="6279703"/>
            <a:ext cx="8643937" cy="461665"/>
          </a:xfrm>
          <a:prstGeom prst="rect">
            <a:avLst/>
          </a:prstGeom>
          <a:noFill/>
          <a:ln w="9525">
            <a:noFill/>
            <a:miter lim="800000"/>
            <a:headEnd/>
            <a:tailEnd/>
          </a:ln>
        </p:spPr>
        <p:txBody>
          <a:bodyPr>
            <a:spAutoFit/>
          </a:bodyPr>
          <a:lstStyle/>
          <a:p>
            <a:r>
              <a:rPr lang="pt-BR" sz="1200" dirty="0">
                <a:latin typeface="Calibri" pitchFamily="34" charset="0"/>
              </a:rPr>
              <a:t>Slides preparados com base no Cap. 5 livro FOLK, </a:t>
            </a:r>
            <a:r>
              <a:rPr lang="pt-BR" sz="1200" dirty="0" err="1">
                <a:latin typeface="Calibri" pitchFamily="34" charset="0"/>
              </a:rPr>
              <a:t>M.J.</a:t>
            </a:r>
            <a:r>
              <a:rPr lang="pt-BR" sz="1200" dirty="0">
                <a:latin typeface="Calibri" pitchFamily="34" charset="0"/>
              </a:rPr>
              <a:t> &amp; ZOELLICK, B. </a:t>
            </a:r>
            <a:r>
              <a:rPr lang="pt-BR" sz="1200" i="1" dirty="0">
                <a:latin typeface="Calibri" pitchFamily="34" charset="0"/>
              </a:rPr>
              <a:t>File </a:t>
            </a:r>
            <a:r>
              <a:rPr lang="pt-BR" sz="1200" i="1" dirty="0" err="1">
                <a:latin typeface="Calibri" pitchFamily="34" charset="0"/>
              </a:rPr>
              <a:t>Structures</a:t>
            </a:r>
            <a:r>
              <a:rPr lang="pt-BR" sz="1200" dirty="0">
                <a:latin typeface="Calibri" pitchFamily="34" charset="0"/>
              </a:rPr>
              <a:t>. 2</a:t>
            </a:r>
            <a:r>
              <a:rPr lang="pt-BR" sz="1200" baseline="30000" dirty="0">
                <a:latin typeface="Calibri" pitchFamily="34" charset="0"/>
              </a:rPr>
              <a:t>nd</a:t>
            </a:r>
            <a:r>
              <a:rPr lang="pt-BR" sz="1200" dirty="0">
                <a:latin typeface="Calibri" pitchFamily="34" charset="0"/>
              </a:rPr>
              <a:t> </a:t>
            </a:r>
            <a:r>
              <a:rPr lang="pt-BR" sz="1200" dirty="0" err="1">
                <a:latin typeface="Calibri" pitchFamily="34" charset="0"/>
              </a:rPr>
              <a:t>Edition</a:t>
            </a:r>
            <a:r>
              <a:rPr lang="pt-BR" sz="1200" dirty="0">
                <a:latin typeface="Calibri" pitchFamily="34" charset="0"/>
              </a:rPr>
              <a:t>, </a:t>
            </a:r>
            <a:r>
              <a:rPr lang="pt-BR" sz="1200" dirty="0" err="1">
                <a:latin typeface="Calibri" pitchFamily="34" charset="0"/>
              </a:rPr>
              <a:t>Addison</a:t>
            </a:r>
            <a:r>
              <a:rPr lang="pt-BR" sz="1200" dirty="0">
                <a:latin typeface="Calibri" pitchFamily="34" charset="0"/>
              </a:rPr>
              <a:t>-Wesley </a:t>
            </a:r>
            <a:r>
              <a:rPr lang="pt-BR" sz="1200" dirty="0" err="1">
                <a:latin typeface="Calibri" pitchFamily="34" charset="0"/>
              </a:rPr>
              <a:t>Publishing</a:t>
            </a:r>
            <a:r>
              <a:rPr lang="pt-BR" sz="1200" dirty="0">
                <a:latin typeface="Calibri" pitchFamily="34" charset="0"/>
              </a:rPr>
              <a:t> </a:t>
            </a:r>
            <a:r>
              <a:rPr lang="pt-BR" sz="1200" dirty="0" err="1">
                <a:latin typeface="Calibri" pitchFamily="34" charset="0"/>
              </a:rPr>
              <a:t>Company</a:t>
            </a:r>
            <a:r>
              <a:rPr lang="pt-BR" sz="1200" dirty="0">
                <a:latin typeface="Calibri" pitchFamily="34" charset="0"/>
              </a:rPr>
              <a:t>, 1992, e nos slides disponibilizados pelo Prof. Pedro de Azevedo Berger (DCC/UnB)</a:t>
            </a:r>
            <a:endParaRPr lang="en-US" sz="1200" dirty="0">
              <a:latin typeface="Calibri"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3600" dirty="0"/>
              <a:t>Fragmentação em arquivos</a:t>
            </a:r>
          </a:p>
        </p:txBody>
      </p:sp>
      <p:sp>
        <p:nvSpPr>
          <p:cNvPr id="3" name="Espaço Reservado para Conteúdo 2"/>
          <p:cNvSpPr>
            <a:spLocks noGrp="1"/>
          </p:cNvSpPr>
          <p:nvPr>
            <p:ph idx="1"/>
          </p:nvPr>
        </p:nvSpPr>
        <p:spPr/>
        <p:txBody>
          <a:bodyPr>
            <a:noAutofit/>
          </a:bodyPr>
          <a:lstStyle/>
          <a:p>
            <a:r>
              <a:rPr lang="pt-BR" sz="2400" dirty="0"/>
              <a:t>Suponha um arquivo com registros de tamanho variável</a:t>
            </a:r>
          </a:p>
          <a:p>
            <a:endParaRPr lang="pt-BR" sz="2400" dirty="0"/>
          </a:p>
          <a:p>
            <a:endParaRPr lang="pt-BR" sz="2400" dirty="0"/>
          </a:p>
          <a:p>
            <a:r>
              <a:rPr lang="pt-BR" sz="2400" dirty="0"/>
              <a:t>Suponha também que um dos registros foi modificado e o novo registro é maior do que o original</a:t>
            </a:r>
          </a:p>
          <a:p>
            <a:endParaRPr lang="pt-BR" sz="2400" dirty="0"/>
          </a:p>
          <a:p>
            <a:endParaRPr lang="pt-BR" sz="2400" dirty="0"/>
          </a:p>
          <a:p>
            <a:endParaRPr lang="pt-BR" sz="2400" dirty="0"/>
          </a:p>
          <a:p>
            <a:r>
              <a:rPr lang="pt-BR" sz="2400" dirty="0"/>
              <a:t>O que fazer?</a:t>
            </a:r>
          </a:p>
          <a:p>
            <a:pPr lvl="1"/>
            <a:r>
              <a:rPr lang="pt-BR" sz="2000" dirty="0"/>
              <a:t>Reescrever parte do arquivo para abrir espaço não é uma opção</a:t>
            </a:r>
          </a:p>
        </p:txBody>
      </p:sp>
      <p:sp>
        <p:nvSpPr>
          <p:cNvPr id="5" name="CaixaDeTexto 4">
            <a:extLst>
              <a:ext uri="{FF2B5EF4-FFF2-40B4-BE49-F238E27FC236}">
                <a16:creationId xmlns:a16="http://schemas.microsoft.com/office/drawing/2014/main" id="{3FEFA468-EB91-4D41-94A0-81FB07640EDC}"/>
              </a:ext>
            </a:extLst>
          </p:cNvPr>
          <p:cNvSpPr txBox="1"/>
          <p:nvPr/>
        </p:nvSpPr>
        <p:spPr>
          <a:xfrm>
            <a:off x="368879" y="2276872"/>
            <a:ext cx="8406242" cy="338554"/>
          </a:xfrm>
          <a:prstGeom prst="rect">
            <a:avLst/>
          </a:prstGeom>
          <a:solidFill>
            <a:schemeClr val="accent5">
              <a:lumMod val="20000"/>
              <a:lumOff val="80000"/>
            </a:schemeClr>
          </a:solidFill>
          <a:ln>
            <a:solidFill>
              <a:schemeClr val="accent5">
                <a:lumMod val="50000"/>
              </a:schemeClr>
            </a:solidFill>
          </a:ln>
        </p:spPr>
        <p:txBody>
          <a:bodyPr wrap="square" rtlCol="0">
            <a:spAutoFit/>
          </a:bodyPr>
          <a:lstStyle/>
          <a:p>
            <a:pPr fontAlgn="t"/>
            <a:r>
              <a:rPr lang="en-US" sz="1600" b="1" dirty="0">
                <a:solidFill>
                  <a:srgbClr val="FF0000"/>
                </a:solidFill>
                <a:latin typeface="+mn-lt"/>
              </a:rPr>
              <a:t>25</a:t>
            </a:r>
            <a:r>
              <a:rPr lang="en-US" sz="1600" dirty="0">
                <a:latin typeface="+mn-lt"/>
              </a:rPr>
              <a:t>Silva</a:t>
            </a:r>
            <a:r>
              <a:rPr lang="pt-BR" sz="1600" dirty="0">
                <a:solidFill>
                  <a:schemeClr val="accent6">
                    <a:lumMod val="75000"/>
                  </a:schemeClr>
                </a:solidFill>
                <a:latin typeface="+mn-lt"/>
              </a:rPr>
              <a:t>|</a:t>
            </a:r>
            <a:r>
              <a:rPr lang="en-US" sz="1600" dirty="0">
                <a:latin typeface="+mn-lt"/>
              </a:rPr>
              <a:t>Alan</a:t>
            </a:r>
            <a:r>
              <a:rPr lang="pt-BR" sz="1600" dirty="0">
                <a:solidFill>
                  <a:schemeClr val="accent6">
                    <a:lumMod val="75000"/>
                  </a:schemeClr>
                </a:solidFill>
                <a:latin typeface="+mn-lt"/>
              </a:rPr>
              <a:t>|</a:t>
            </a:r>
            <a:r>
              <a:rPr lang="pt-BR" sz="1600" dirty="0">
                <a:latin typeface="+mn-lt"/>
              </a:rPr>
              <a:t>(23)3666-1111</a:t>
            </a:r>
            <a:r>
              <a:rPr lang="pt-BR" sz="1600" dirty="0">
                <a:solidFill>
                  <a:schemeClr val="accent6">
                    <a:lumMod val="75000"/>
                  </a:schemeClr>
                </a:solidFill>
                <a:latin typeface="+mn-lt"/>
              </a:rPr>
              <a:t>|</a:t>
            </a:r>
            <a:r>
              <a:rPr lang="en-US" sz="1600" b="1" dirty="0">
                <a:solidFill>
                  <a:srgbClr val="FF0000"/>
                </a:solidFill>
                <a:latin typeface="+mn-lt"/>
              </a:rPr>
              <a:t>23</a:t>
            </a:r>
            <a:r>
              <a:rPr lang="en-US" sz="1600" dirty="0">
                <a:latin typeface="+mn-lt"/>
              </a:rPr>
              <a:t>Flores</a:t>
            </a:r>
            <a:r>
              <a:rPr lang="pt-BR" sz="1600" dirty="0">
                <a:solidFill>
                  <a:schemeClr val="accent6">
                    <a:lumMod val="75000"/>
                  </a:schemeClr>
                </a:solidFill>
                <a:latin typeface="+mn-lt"/>
              </a:rPr>
              <a:t>|</a:t>
            </a:r>
            <a:r>
              <a:rPr lang="en-US" sz="1600" dirty="0">
                <a:latin typeface="+mn-lt"/>
              </a:rPr>
              <a:t>Andre</a:t>
            </a:r>
            <a:r>
              <a:rPr lang="pt-BR" sz="1600" dirty="0">
                <a:solidFill>
                  <a:schemeClr val="accent6">
                    <a:lumMod val="75000"/>
                  </a:schemeClr>
                </a:solidFill>
                <a:latin typeface="+mn-lt"/>
              </a:rPr>
              <a:t>|</a:t>
            </a:r>
            <a:r>
              <a:rPr lang="pt-BR" sz="1600" dirty="0">
                <a:latin typeface="+mn-lt"/>
              </a:rPr>
              <a:t>3300-9874</a:t>
            </a:r>
            <a:r>
              <a:rPr lang="pt-BR" sz="1600" dirty="0">
                <a:solidFill>
                  <a:schemeClr val="accent6">
                    <a:lumMod val="75000"/>
                  </a:schemeClr>
                </a:solidFill>
                <a:latin typeface="+mn-lt"/>
              </a:rPr>
              <a:t>|</a:t>
            </a:r>
            <a:r>
              <a:rPr lang="en-US" sz="1600" b="1" dirty="0">
                <a:solidFill>
                  <a:srgbClr val="FF0000"/>
                </a:solidFill>
                <a:latin typeface="+mn-lt"/>
              </a:rPr>
              <a:t>30</a:t>
            </a:r>
            <a:r>
              <a:rPr lang="en-US" sz="1600" dirty="0">
                <a:latin typeface="+mn-lt"/>
              </a:rPr>
              <a:t>Santos</a:t>
            </a:r>
            <a:r>
              <a:rPr lang="pt-BR" sz="1600" dirty="0">
                <a:solidFill>
                  <a:schemeClr val="accent6">
                    <a:lumMod val="75000"/>
                  </a:schemeClr>
                </a:solidFill>
                <a:latin typeface="+mn-lt"/>
              </a:rPr>
              <a:t>|</a:t>
            </a:r>
            <a:r>
              <a:rPr lang="en-US" sz="1600" dirty="0">
                <a:latin typeface="+mn-lt"/>
              </a:rPr>
              <a:t>Cristina</a:t>
            </a:r>
            <a:r>
              <a:rPr lang="pt-BR" sz="1600" dirty="0">
                <a:solidFill>
                  <a:schemeClr val="accent6">
                    <a:lumMod val="75000"/>
                  </a:schemeClr>
                </a:solidFill>
                <a:latin typeface="+mn-lt"/>
              </a:rPr>
              <a:t>|</a:t>
            </a:r>
            <a:r>
              <a:rPr lang="pt-BR" sz="1600" dirty="0">
                <a:latin typeface="+mn-lt"/>
              </a:rPr>
              <a:t>(42)3568-4789</a:t>
            </a:r>
            <a:r>
              <a:rPr lang="pt-BR" sz="1600" dirty="0">
                <a:solidFill>
                  <a:schemeClr val="accent6">
                    <a:lumMod val="75000"/>
                  </a:schemeClr>
                </a:solidFill>
                <a:latin typeface="+mn-lt"/>
              </a:rPr>
              <a:t>|</a:t>
            </a:r>
            <a:r>
              <a:rPr lang="pt-BR" sz="1600" dirty="0">
                <a:latin typeface="+mn-lt"/>
              </a:rPr>
              <a:t>...</a:t>
            </a:r>
          </a:p>
        </p:txBody>
      </p:sp>
      <p:grpSp>
        <p:nvGrpSpPr>
          <p:cNvPr id="14" name="Agrupar 13">
            <a:extLst>
              <a:ext uri="{FF2B5EF4-FFF2-40B4-BE49-F238E27FC236}">
                <a16:creationId xmlns:a16="http://schemas.microsoft.com/office/drawing/2014/main" id="{C6577A45-0D5D-413C-8500-7DE3C2F2E082}"/>
              </a:ext>
            </a:extLst>
          </p:cNvPr>
          <p:cNvGrpSpPr/>
          <p:nvPr/>
        </p:nvGrpSpPr>
        <p:grpSpPr>
          <a:xfrm>
            <a:off x="457200" y="3916959"/>
            <a:ext cx="8406242" cy="1002723"/>
            <a:chOff x="457200" y="3916959"/>
            <a:chExt cx="8406242" cy="1002723"/>
          </a:xfrm>
        </p:grpSpPr>
        <p:sp>
          <p:nvSpPr>
            <p:cNvPr id="7" name="CaixaDeTexto 6">
              <a:extLst>
                <a:ext uri="{FF2B5EF4-FFF2-40B4-BE49-F238E27FC236}">
                  <a16:creationId xmlns:a16="http://schemas.microsoft.com/office/drawing/2014/main" id="{DF821C73-6B25-4E44-AD6C-F6BC89DF062F}"/>
                </a:ext>
              </a:extLst>
            </p:cNvPr>
            <p:cNvSpPr txBox="1"/>
            <p:nvPr/>
          </p:nvSpPr>
          <p:spPr>
            <a:xfrm>
              <a:off x="457200" y="3916959"/>
              <a:ext cx="8406242" cy="338554"/>
            </a:xfrm>
            <a:prstGeom prst="rect">
              <a:avLst/>
            </a:prstGeom>
            <a:solidFill>
              <a:schemeClr val="accent5">
                <a:lumMod val="20000"/>
                <a:lumOff val="80000"/>
              </a:schemeClr>
            </a:solidFill>
            <a:ln>
              <a:solidFill>
                <a:schemeClr val="accent5">
                  <a:lumMod val="50000"/>
                </a:schemeClr>
              </a:solidFill>
            </a:ln>
          </p:spPr>
          <p:txBody>
            <a:bodyPr wrap="square" rtlCol="0">
              <a:spAutoFit/>
            </a:bodyPr>
            <a:lstStyle/>
            <a:p>
              <a:pPr fontAlgn="t"/>
              <a:r>
                <a:rPr lang="en-US" sz="1600" b="1" dirty="0">
                  <a:solidFill>
                    <a:srgbClr val="FF0000"/>
                  </a:solidFill>
                  <a:latin typeface="+mn-lt"/>
                </a:rPr>
                <a:t>25</a:t>
              </a:r>
              <a:r>
                <a:rPr lang="en-US" sz="1600" dirty="0">
                  <a:latin typeface="+mn-lt"/>
                </a:rPr>
                <a:t>Silva</a:t>
              </a:r>
              <a:r>
                <a:rPr lang="pt-BR" sz="1600" dirty="0">
                  <a:solidFill>
                    <a:schemeClr val="accent6">
                      <a:lumMod val="75000"/>
                    </a:schemeClr>
                  </a:solidFill>
                  <a:latin typeface="+mn-lt"/>
                </a:rPr>
                <a:t>|</a:t>
              </a:r>
              <a:r>
                <a:rPr lang="en-US" sz="1600" dirty="0">
                  <a:latin typeface="+mn-lt"/>
                </a:rPr>
                <a:t>Alan</a:t>
              </a:r>
              <a:r>
                <a:rPr lang="pt-BR" sz="1600" dirty="0">
                  <a:solidFill>
                    <a:schemeClr val="accent6">
                      <a:lumMod val="75000"/>
                    </a:schemeClr>
                  </a:solidFill>
                  <a:latin typeface="+mn-lt"/>
                </a:rPr>
                <a:t>|</a:t>
              </a:r>
              <a:r>
                <a:rPr lang="pt-BR" sz="1600" dirty="0">
                  <a:latin typeface="+mn-lt"/>
                </a:rPr>
                <a:t>(23)3666-1111</a:t>
              </a:r>
              <a:r>
                <a:rPr lang="pt-BR" sz="1600" dirty="0">
                  <a:solidFill>
                    <a:schemeClr val="accent6">
                      <a:lumMod val="75000"/>
                    </a:schemeClr>
                  </a:solidFill>
                  <a:latin typeface="+mn-lt"/>
                </a:rPr>
                <a:t>|</a:t>
              </a:r>
              <a:r>
                <a:rPr lang="en-US" sz="1600" b="1" dirty="0">
                  <a:solidFill>
                    <a:srgbClr val="FF0000"/>
                  </a:solidFill>
                  <a:highlight>
                    <a:srgbClr val="FFFF00"/>
                  </a:highlight>
                  <a:latin typeface="+mn-lt"/>
                </a:rPr>
                <a:t>23</a:t>
              </a:r>
              <a:r>
                <a:rPr lang="en-US" sz="1600" dirty="0">
                  <a:highlight>
                    <a:srgbClr val="FFFF00"/>
                  </a:highlight>
                  <a:latin typeface="+mn-lt"/>
                </a:rPr>
                <a:t>Flores</a:t>
              </a:r>
              <a:r>
                <a:rPr lang="pt-BR" sz="1600" dirty="0">
                  <a:solidFill>
                    <a:schemeClr val="accent6">
                      <a:lumMod val="75000"/>
                    </a:schemeClr>
                  </a:solidFill>
                  <a:highlight>
                    <a:srgbClr val="FFFF00"/>
                  </a:highlight>
                  <a:latin typeface="+mn-lt"/>
                </a:rPr>
                <a:t>|</a:t>
              </a:r>
              <a:r>
                <a:rPr lang="en-US" sz="1600" dirty="0">
                  <a:highlight>
                    <a:srgbClr val="FFFF00"/>
                  </a:highlight>
                  <a:latin typeface="+mn-lt"/>
                </a:rPr>
                <a:t>Andre</a:t>
              </a:r>
              <a:r>
                <a:rPr lang="pt-BR" sz="1600" dirty="0">
                  <a:solidFill>
                    <a:schemeClr val="accent6">
                      <a:lumMod val="75000"/>
                    </a:schemeClr>
                  </a:solidFill>
                  <a:highlight>
                    <a:srgbClr val="FFFF00"/>
                  </a:highlight>
                  <a:latin typeface="+mn-lt"/>
                </a:rPr>
                <a:t>|</a:t>
              </a:r>
              <a:r>
                <a:rPr lang="pt-BR" sz="1600" dirty="0">
                  <a:highlight>
                    <a:srgbClr val="FFFF00"/>
                  </a:highlight>
                  <a:latin typeface="+mn-lt"/>
                </a:rPr>
                <a:t>3300-9874</a:t>
              </a:r>
              <a:r>
                <a:rPr lang="pt-BR" sz="1600" dirty="0">
                  <a:solidFill>
                    <a:schemeClr val="accent6">
                      <a:lumMod val="75000"/>
                    </a:schemeClr>
                  </a:solidFill>
                  <a:highlight>
                    <a:srgbClr val="FFFF00"/>
                  </a:highlight>
                  <a:latin typeface="+mn-lt"/>
                </a:rPr>
                <a:t>|</a:t>
              </a:r>
              <a:r>
                <a:rPr lang="en-US" sz="1600" b="1" dirty="0">
                  <a:solidFill>
                    <a:srgbClr val="FF0000"/>
                  </a:solidFill>
                  <a:latin typeface="+mn-lt"/>
                </a:rPr>
                <a:t>30</a:t>
              </a:r>
              <a:r>
                <a:rPr lang="en-US" sz="1600" dirty="0">
                  <a:latin typeface="+mn-lt"/>
                </a:rPr>
                <a:t>Santos</a:t>
              </a:r>
              <a:r>
                <a:rPr lang="pt-BR" sz="1600" dirty="0">
                  <a:solidFill>
                    <a:schemeClr val="accent6">
                      <a:lumMod val="75000"/>
                    </a:schemeClr>
                  </a:solidFill>
                  <a:latin typeface="+mn-lt"/>
                </a:rPr>
                <a:t>|</a:t>
              </a:r>
              <a:r>
                <a:rPr lang="en-US" sz="1600" dirty="0">
                  <a:latin typeface="+mn-lt"/>
                </a:rPr>
                <a:t>Cristina</a:t>
              </a:r>
              <a:r>
                <a:rPr lang="pt-BR" sz="1600" dirty="0">
                  <a:solidFill>
                    <a:schemeClr val="accent6">
                      <a:lumMod val="75000"/>
                    </a:schemeClr>
                  </a:solidFill>
                  <a:latin typeface="+mn-lt"/>
                </a:rPr>
                <a:t>|</a:t>
              </a:r>
              <a:r>
                <a:rPr lang="pt-BR" sz="1600" dirty="0">
                  <a:latin typeface="+mn-lt"/>
                </a:rPr>
                <a:t>(42)3568-4789</a:t>
              </a:r>
              <a:r>
                <a:rPr lang="pt-BR" sz="1600" dirty="0">
                  <a:solidFill>
                    <a:schemeClr val="accent6">
                      <a:lumMod val="75000"/>
                    </a:schemeClr>
                  </a:solidFill>
                  <a:latin typeface="+mn-lt"/>
                </a:rPr>
                <a:t>|</a:t>
              </a:r>
              <a:r>
                <a:rPr lang="pt-BR" sz="1600" dirty="0">
                  <a:latin typeface="+mn-lt"/>
                </a:rPr>
                <a:t>...</a:t>
              </a:r>
            </a:p>
          </p:txBody>
        </p:sp>
        <p:sp>
          <p:nvSpPr>
            <p:cNvPr id="8" name="CaixaDeTexto 7">
              <a:extLst>
                <a:ext uri="{FF2B5EF4-FFF2-40B4-BE49-F238E27FC236}">
                  <a16:creationId xmlns:a16="http://schemas.microsoft.com/office/drawing/2014/main" id="{A486822B-EDBB-4045-89F6-DA04B04F6DF5}"/>
                </a:ext>
              </a:extLst>
            </p:cNvPr>
            <p:cNvSpPr txBox="1"/>
            <p:nvPr/>
          </p:nvSpPr>
          <p:spPr>
            <a:xfrm>
              <a:off x="2915816" y="4581128"/>
              <a:ext cx="2952328" cy="338554"/>
            </a:xfrm>
            <a:prstGeom prst="rect">
              <a:avLst/>
            </a:prstGeom>
            <a:solidFill>
              <a:schemeClr val="accent5">
                <a:lumMod val="20000"/>
                <a:lumOff val="80000"/>
              </a:schemeClr>
            </a:solidFill>
            <a:ln>
              <a:noFill/>
            </a:ln>
          </p:spPr>
          <p:txBody>
            <a:bodyPr wrap="square" rtlCol="0">
              <a:spAutoFit/>
            </a:bodyPr>
            <a:lstStyle/>
            <a:p>
              <a:pPr fontAlgn="t"/>
              <a:r>
                <a:rPr lang="en-US" sz="1600" b="1" dirty="0">
                  <a:solidFill>
                    <a:srgbClr val="FF0000"/>
                  </a:solidFill>
                  <a:highlight>
                    <a:srgbClr val="00FFFF"/>
                  </a:highlight>
                  <a:latin typeface="+mn-lt"/>
                </a:rPr>
                <a:t>27</a:t>
              </a:r>
              <a:r>
                <a:rPr lang="en-US" sz="1600" dirty="0">
                  <a:highlight>
                    <a:srgbClr val="00FFFF"/>
                  </a:highlight>
                  <a:latin typeface="+mn-lt"/>
                </a:rPr>
                <a:t>Flores</a:t>
              </a:r>
              <a:r>
                <a:rPr lang="pt-BR" sz="1600" dirty="0">
                  <a:solidFill>
                    <a:schemeClr val="accent6">
                      <a:lumMod val="75000"/>
                    </a:schemeClr>
                  </a:solidFill>
                  <a:highlight>
                    <a:srgbClr val="00FFFF"/>
                  </a:highlight>
                  <a:latin typeface="+mn-lt"/>
                </a:rPr>
                <a:t>|</a:t>
              </a:r>
              <a:r>
                <a:rPr lang="en-US" sz="1600" dirty="0">
                  <a:highlight>
                    <a:srgbClr val="00FFFF"/>
                  </a:highlight>
                  <a:latin typeface="+mn-lt"/>
                </a:rPr>
                <a:t>Andre</a:t>
              </a:r>
              <a:r>
                <a:rPr lang="pt-BR" sz="1600" dirty="0">
                  <a:solidFill>
                    <a:schemeClr val="accent6">
                      <a:lumMod val="75000"/>
                    </a:schemeClr>
                  </a:solidFill>
                  <a:highlight>
                    <a:srgbClr val="00FFFF"/>
                  </a:highlight>
                  <a:latin typeface="+mn-lt"/>
                </a:rPr>
                <a:t>|(21)</a:t>
              </a:r>
              <a:r>
                <a:rPr lang="pt-BR" sz="1600" dirty="0">
                  <a:highlight>
                    <a:srgbClr val="00FFFF"/>
                  </a:highlight>
                  <a:latin typeface="+mn-lt"/>
                </a:rPr>
                <a:t>3300-9874</a:t>
              </a:r>
              <a:r>
                <a:rPr lang="pt-BR" sz="1600" dirty="0">
                  <a:solidFill>
                    <a:schemeClr val="accent6">
                      <a:lumMod val="75000"/>
                    </a:schemeClr>
                  </a:solidFill>
                  <a:highlight>
                    <a:srgbClr val="00FFFF"/>
                  </a:highlight>
                  <a:latin typeface="+mn-lt"/>
                </a:rPr>
                <a:t>|</a:t>
              </a:r>
              <a:endParaRPr lang="pt-BR" sz="1600" dirty="0">
                <a:highlight>
                  <a:srgbClr val="00FFFF"/>
                </a:highlight>
                <a:latin typeface="+mn-lt"/>
              </a:endParaRPr>
            </a:p>
          </p:txBody>
        </p:sp>
        <p:cxnSp>
          <p:nvCxnSpPr>
            <p:cNvPr id="10" name="Conector reto 9">
              <a:extLst>
                <a:ext uri="{FF2B5EF4-FFF2-40B4-BE49-F238E27FC236}">
                  <a16:creationId xmlns:a16="http://schemas.microsoft.com/office/drawing/2014/main" id="{B96792D1-92A1-4CB4-8657-37A273D6FD8D}"/>
                </a:ext>
              </a:extLst>
            </p:cNvPr>
            <p:cNvCxnSpPr>
              <a:cxnSpLocks/>
            </p:cNvCxnSpPr>
            <p:nvPr/>
          </p:nvCxnSpPr>
          <p:spPr>
            <a:xfrm>
              <a:off x="2987824" y="4255513"/>
              <a:ext cx="0" cy="3256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18B1CBB9-21BC-4263-A5AF-D781B766BF52}"/>
                </a:ext>
              </a:extLst>
            </p:cNvPr>
            <p:cNvCxnSpPr/>
            <p:nvPr/>
          </p:nvCxnSpPr>
          <p:spPr>
            <a:xfrm>
              <a:off x="5364088" y="4255513"/>
              <a:ext cx="504056" cy="3256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E58E18-F486-4E41-93B8-FA2C2E95CBA3}"/>
              </a:ext>
            </a:extLst>
          </p:cNvPr>
          <p:cNvSpPr>
            <a:spLocks noGrp="1"/>
          </p:cNvSpPr>
          <p:nvPr>
            <p:ph type="title"/>
          </p:nvPr>
        </p:nvSpPr>
        <p:spPr/>
        <p:txBody>
          <a:bodyPr/>
          <a:lstStyle/>
          <a:p>
            <a:r>
              <a:rPr lang="pt-BR" sz="3600" dirty="0"/>
              <a:t>Fragmentação em arquivos</a:t>
            </a:r>
            <a:endParaRPr lang="pt-BR" dirty="0"/>
          </a:p>
        </p:txBody>
      </p:sp>
      <p:sp>
        <p:nvSpPr>
          <p:cNvPr id="3" name="Espaço Reservado para Conteúdo 2">
            <a:extLst>
              <a:ext uri="{FF2B5EF4-FFF2-40B4-BE49-F238E27FC236}">
                <a16:creationId xmlns:a16="http://schemas.microsoft.com/office/drawing/2014/main" id="{9DA0187E-301F-4492-8416-4B996F2BF9A3}"/>
              </a:ext>
            </a:extLst>
          </p:cNvPr>
          <p:cNvSpPr>
            <a:spLocks noGrp="1"/>
          </p:cNvSpPr>
          <p:nvPr>
            <p:ph idx="1"/>
          </p:nvPr>
        </p:nvSpPr>
        <p:spPr/>
        <p:txBody>
          <a:bodyPr>
            <a:normAutofit/>
          </a:bodyPr>
          <a:lstStyle/>
          <a:p>
            <a:r>
              <a:rPr lang="pt-BR" sz="2400" dirty="0"/>
              <a:t>A solução mais comum é </a:t>
            </a:r>
            <a:r>
              <a:rPr lang="pt-BR" sz="2400" u="sng" dirty="0">
                <a:solidFill>
                  <a:schemeClr val="accent6">
                    <a:lumMod val="75000"/>
                  </a:schemeClr>
                </a:solidFill>
              </a:rPr>
              <a:t>remover logicamente</a:t>
            </a:r>
            <a:r>
              <a:rPr lang="pt-BR" sz="2400" dirty="0">
                <a:solidFill>
                  <a:schemeClr val="accent6">
                    <a:lumMod val="75000"/>
                  </a:schemeClr>
                </a:solidFill>
              </a:rPr>
              <a:t> o registro antigo e gravar o registro novo no fim do arquivo</a:t>
            </a:r>
          </a:p>
          <a:p>
            <a:pPr lvl="1"/>
            <a:endParaRPr lang="pt-BR" sz="2000" dirty="0"/>
          </a:p>
          <a:p>
            <a:endParaRPr lang="pt-BR" sz="2400" dirty="0"/>
          </a:p>
          <a:p>
            <a:pPr marL="457200" lvl="1" indent="0">
              <a:buNone/>
            </a:pPr>
            <a:endParaRPr lang="pt-BR" sz="3600" dirty="0"/>
          </a:p>
          <a:p>
            <a:r>
              <a:rPr lang="pt-BR" sz="2400" dirty="0"/>
              <a:t>O espaço ocupado pelo registro removido é um tipo de </a:t>
            </a:r>
            <a:r>
              <a:rPr lang="pt-BR" sz="2400" dirty="0">
                <a:solidFill>
                  <a:schemeClr val="accent6">
                    <a:lumMod val="75000"/>
                  </a:schemeClr>
                </a:solidFill>
              </a:rPr>
              <a:t>fragmentação</a:t>
            </a:r>
          </a:p>
          <a:p>
            <a:pPr lvl="1"/>
            <a:r>
              <a:rPr lang="pt-BR" sz="2000" dirty="0"/>
              <a:t>Arquivos crescem dinamicamente conforme fazemos novas escritas, mas não encolhem com as remoções</a:t>
            </a:r>
          </a:p>
        </p:txBody>
      </p:sp>
      <p:grpSp>
        <p:nvGrpSpPr>
          <p:cNvPr id="4" name="Agrupar 3">
            <a:extLst>
              <a:ext uri="{FF2B5EF4-FFF2-40B4-BE49-F238E27FC236}">
                <a16:creationId xmlns:a16="http://schemas.microsoft.com/office/drawing/2014/main" id="{FA7E4532-B45B-4D0B-BC86-C7D458583B0B}"/>
              </a:ext>
            </a:extLst>
          </p:cNvPr>
          <p:cNvGrpSpPr/>
          <p:nvPr/>
        </p:nvGrpSpPr>
        <p:grpSpPr>
          <a:xfrm>
            <a:off x="2339752" y="3201943"/>
            <a:ext cx="1772492" cy="338554"/>
            <a:chOff x="2339752" y="3201943"/>
            <a:chExt cx="1772492" cy="338554"/>
          </a:xfrm>
        </p:grpSpPr>
        <p:cxnSp>
          <p:nvCxnSpPr>
            <p:cNvPr id="10" name="Conector reto 9">
              <a:extLst>
                <a:ext uri="{FF2B5EF4-FFF2-40B4-BE49-F238E27FC236}">
                  <a16:creationId xmlns:a16="http://schemas.microsoft.com/office/drawing/2014/main" id="{DA2842AC-FBEC-4C47-BCFB-E53767D397A9}"/>
                </a:ext>
              </a:extLst>
            </p:cNvPr>
            <p:cNvCxnSpPr/>
            <p:nvPr/>
          </p:nvCxnSpPr>
          <p:spPr>
            <a:xfrm>
              <a:off x="2339752" y="3266814"/>
              <a:ext cx="0" cy="15388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2" name="Conector reto 11">
              <a:extLst>
                <a:ext uri="{FF2B5EF4-FFF2-40B4-BE49-F238E27FC236}">
                  <a16:creationId xmlns:a16="http://schemas.microsoft.com/office/drawing/2014/main" id="{BC966368-9D86-4366-9267-88B582AE8A61}"/>
                </a:ext>
              </a:extLst>
            </p:cNvPr>
            <p:cNvCxnSpPr/>
            <p:nvPr/>
          </p:nvCxnSpPr>
          <p:spPr>
            <a:xfrm>
              <a:off x="4112244" y="3278886"/>
              <a:ext cx="0" cy="15388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3" name="Conector reto 12">
              <a:extLst>
                <a:ext uri="{FF2B5EF4-FFF2-40B4-BE49-F238E27FC236}">
                  <a16:creationId xmlns:a16="http://schemas.microsoft.com/office/drawing/2014/main" id="{4C5D02FD-D70D-4BC2-BDE1-2AEAD9F204CC}"/>
                </a:ext>
              </a:extLst>
            </p:cNvPr>
            <p:cNvCxnSpPr>
              <a:cxnSpLocks/>
            </p:cNvCxnSpPr>
            <p:nvPr/>
          </p:nvCxnSpPr>
          <p:spPr>
            <a:xfrm flipV="1">
              <a:off x="2339752" y="3362533"/>
              <a:ext cx="1772492" cy="2865"/>
            </a:xfrm>
            <a:prstGeom prst="line">
              <a:avLst/>
            </a:prstGeom>
            <a:ln w="12700"/>
          </p:spPr>
          <p:style>
            <a:lnRef idx="1">
              <a:schemeClr val="accent2"/>
            </a:lnRef>
            <a:fillRef idx="0">
              <a:schemeClr val="accent2"/>
            </a:fillRef>
            <a:effectRef idx="0">
              <a:schemeClr val="accent2"/>
            </a:effectRef>
            <a:fontRef idx="minor">
              <a:schemeClr val="tx1"/>
            </a:fontRef>
          </p:style>
        </p:cxnSp>
        <p:sp>
          <p:nvSpPr>
            <p:cNvPr id="14" name="CaixaDeTexto 13">
              <a:extLst>
                <a:ext uri="{FF2B5EF4-FFF2-40B4-BE49-F238E27FC236}">
                  <a16:creationId xmlns:a16="http://schemas.microsoft.com/office/drawing/2014/main" id="{E50FF18B-0961-4C63-9C92-B5E7453A080D}"/>
                </a:ext>
              </a:extLst>
            </p:cNvPr>
            <p:cNvSpPr txBox="1"/>
            <p:nvPr/>
          </p:nvSpPr>
          <p:spPr>
            <a:xfrm>
              <a:off x="2583486" y="3201943"/>
              <a:ext cx="1296143" cy="338554"/>
            </a:xfrm>
            <a:prstGeom prst="rect">
              <a:avLst/>
            </a:prstGeom>
            <a:solidFill>
              <a:schemeClr val="bg1"/>
            </a:solidFill>
            <a:ln>
              <a:noFill/>
            </a:ln>
          </p:spPr>
          <p:style>
            <a:lnRef idx="2">
              <a:schemeClr val="accent2"/>
            </a:lnRef>
            <a:fillRef idx="1">
              <a:schemeClr val="lt1"/>
            </a:fillRef>
            <a:effectRef idx="0">
              <a:schemeClr val="accent2"/>
            </a:effectRef>
            <a:fontRef idx="minor">
              <a:schemeClr val="dk1"/>
            </a:fontRef>
          </p:style>
          <p:txBody>
            <a:bodyPr wrap="square" lIns="36000" rIns="36000" rtlCol="0">
              <a:spAutoFit/>
            </a:bodyPr>
            <a:lstStyle/>
            <a:p>
              <a:pPr algn="ctr"/>
              <a:r>
                <a:rPr lang="pt-BR" sz="1600" b="1" dirty="0">
                  <a:solidFill>
                    <a:srgbClr val="C00000"/>
                  </a:solidFill>
                </a:rPr>
                <a:t>Fragmentação</a:t>
              </a:r>
              <a:endParaRPr lang="pt-BR" sz="1400" b="1" dirty="0">
                <a:solidFill>
                  <a:srgbClr val="C00000"/>
                </a:solidFill>
              </a:endParaRPr>
            </a:p>
          </p:txBody>
        </p:sp>
      </p:grpSp>
      <p:sp>
        <p:nvSpPr>
          <p:cNvPr id="5" name="CaixaDeTexto 4">
            <a:extLst>
              <a:ext uri="{FF2B5EF4-FFF2-40B4-BE49-F238E27FC236}">
                <a16:creationId xmlns:a16="http://schemas.microsoft.com/office/drawing/2014/main" id="{5B0D6EC4-B2AF-4944-9459-270E9FB032E0}"/>
              </a:ext>
            </a:extLst>
          </p:cNvPr>
          <p:cNvSpPr txBox="1"/>
          <p:nvPr/>
        </p:nvSpPr>
        <p:spPr>
          <a:xfrm>
            <a:off x="457200" y="2924944"/>
            <a:ext cx="8406242" cy="276999"/>
          </a:xfrm>
          <a:prstGeom prst="rect">
            <a:avLst/>
          </a:prstGeom>
          <a:solidFill>
            <a:schemeClr val="accent5">
              <a:lumMod val="20000"/>
              <a:lumOff val="80000"/>
            </a:schemeClr>
          </a:solidFill>
          <a:ln>
            <a:solidFill>
              <a:schemeClr val="accent5">
                <a:lumMod val="50000"/>
              </a:schemeClr>
            </a:solidFill>
          </a:ln>
        </p:spPr>
        <p:txBody>
          <a:bodyPr wrap="square" rtlCol="0">
            <a:spAutoFit/>
          </a:bodyPr>
          <a:lstStyle/>
          <a:p>
            <a:pPr fontAlgn="t"/>
            <a:r>
              <a:rPr lang="en-US" sz="1200" b="1" dirty="0">
                <a:solidFill>
                  <a:srgbClr val="FF0000"/>
                </a:solidFill>
                <a:latin typeface="+mn-lt"/>
              </a:rPr>
              <a:t>25</a:t>
            </a:r>
            <a:r>
              <a:rPr lang="en-US" sz="1200" dirty="0">
                <a:latin typeface="+mn-lt"/>
              </a:rPr>
              <a:t>Silva</a:t>
            </a:r>
            <a:r>
              <a:rPr lang="pt-BR" sz="1200" dirty="0">
                <a:solidFill>
                  <a:schemeClr val="accent6">
                    <a:lumMod val="75000"/>
                  </a:schemeClr>
                </a:solidFill>
                <a:latin typeface="+mn-lt"/>
              </a:rPr>
              <a:t>|</a:t>
            </a:r>
            <a:r>
              <a:rPr lang="en-US" sz="1200" dirty="0">
                <a:latin typeface="+mn-lt"/>
              </a:rPr>
              <a:t>Alan</a:t>
            </a:r>
            <a:r>
              <a:rPr lang="pt-BR" sz="1200" dirty="0">
                <a:solidFill>
                  <a:schemeClr val="accent6">
                    <a:lumMod val="75000"/>
                  </a:schemeClr>
                </a:solidFill>
                <a:latin typeface="+mn-lt"/>
              </a:rPr>
              <a:t>|</a:t>
            </a:r>
            <a:r>
              <a:rPr lang="pt-BR" sz="1200" dirty="0">
                <a:latin typeface="+mn-lt"/>
              </a:rPr>
              <a:t>(23)3666-1111</a:t>
            </a:r>
            <a:r>
              <a:rPr lang="pt-BR" sz="1200" dirty="0">
                <a:solidFill>
                  <a:schemeClr val="accent6">
                    <a:lumMod val="75000"/>
                  </a:schemeClr>
                </a:solidFill>
                <a:latin typeface="+mn-lt"/>
              </a:rPr>
              <a:t>|</a:t>
            </a:r>
            <a:r>
              <a:rPr lang="en-US" sz="1200" b="1" strike="sngStrike" dirty="0">
                <a:solidFill>
                  <a:srgbClr val="FF0000"/>
                </a:solidFill>
                <a:highlight>
                  <a:srgbClr val="FFFF00"/>
                </a:highlight>
                <a:latin typeface="+mn-lt"/>
              </a:rPr>
              <a:t>23</a:t>
            </a:r>
            <a:r>
              <a:rPr lang="en-US" sz="1200" strike="sngStrike" dirty="0">
                <a:highlight>
                  <a:srgbClr val="FFFF00"/>
                </a:highlight>
                <a:latin typeface="+mn-lt"/>
              </a:rPr>
              <a:t>Flores</a:t>
            </a:r>
            <a:r>
              <a:rPr lang="pt-BR" sz="1200" strike="sngStrike" dirty="0">
                <a:solidFill>
                  <a:schemeClr val="accent6">
                    <a:lumMod val="75000"/>
                  </a:schemeClr>
                </a:solidFill>
                <a:highlight>
                  <a:srgbClr val="FFFF00"/>
                </a:highlight>
                <a:latin typeface="+mn-lt"/>
              </a:rPr>
              <a:t>|</a:t>
            </a:r>
            <a:r>
              <a:rPr lang="en-US" sz="1200" strike="sngStrike" dirty="0">
                <a:highlight>
                  <a:srgbClr val="FFFF00"/>
                </a:highlight>
                <a:latin typeface="+mn-lt"/>
              </a:rPr>
              <a:t>Andre</a:t>
            </a:r>
            <a:r>
              <a:rPr lang="pt-BR" sz="1200" strike="sngStrike" dirty="0">
                <a:solidFill>
                  <a:schemeClr val="accent6">
                    <a:lumMod val="75000"/>
                  </a:schemeClr>
                </a:solidFill>
                <a:highlight>
                  <a:srgbClr val="FFFF00"/>
                </a:highlight>
                <a:latin typeface="+mn-lt"/>
              </a:rPr>
              <a:t>|</a:t>
            </a:r>
            <a:r>
              <a:rPr lang="pt-BR" sz="1200" strike="sngStrike" dirty="0">
                <a:highlight>
                  <a:srgbClr val="FFFF00"/>
                </a:highlight>
                <a:latin typeface="+mn-lt"/>
              </a:rPr>
              <a:t>3300-9874</a:t>
            </a:r>
            <a:r>
              <a:rPr lang="pt-BR" sz="1200" strike="sngStrike" dirty="0">
                <a:solidFill>
                  <a:schemeClr val="accent6">
                    <a:lumMod val="75000"/>
                  </a:schemeClr>
                </a:solidFill>
                <a:highlight>
                  <a:srgbClr val="FFFF00"/>
                </a:highlight>
                <a:latin typeface="+mn-lt"/>
              </a:rPr>
              <a:t>|</a:t>
            </a:r>
            <a:r>
              <a:rPr lang="en-US" sz="1200" b="1" dirty="0">
                <a:solidFill>
                  <a:srgbClr val="FF0000"/>
                </a:solidFill>
                <a:latin typeface="+mn-lt"/>
              </a:rPr>
              <a:t>30</a:t>
            </a:r>
            <a:r>
              <a:rPr lang="en-US" sz="1200" dirty="0">
                <a:latin typeface="+mn-lt"/>
              </a:rPr>
              <a:t>Santos</a:t>
            </a:r>
            <a:r>
              <a:rPr lang="pt-BR" sz="1200" dirty="0">
                <a:solidFill>
                  <a:schemeClr val="accent6">
                    <a:lumMod val="75000"/>
                  </a:schemeClr>
                </a:solidFill>
                <a:latin typeface="+mn-lt"/>
              </a:rPr>
              <a:t>|</a:t>
            </a:r>
            <a:r>
              <a:rPr lang="en-US" sz="1200" dirty="0">
                <a:latin typeface="+mn-lt"/>
              </a:rPr>
              <a:t>Cristina</a:t>
            </a:r>
            <a:r>
              <a:rPr lang="pt-BR" sz="1200" dirty="0">
                <a:solidFill>
                  <a:schemeClr val="accent6">
                    <a:lumMod val="75000"/>
                  </a:schemeClr>
                </a:solidFill>
                <a:latin typeface="+mn-lt"/>
              </a:rPr>
              <a:t>|</a:t>
            </a:r>
            <a:r>
              <a:rPr lang="pt-BR" sz="1200" dirty="0">
                <a:latin typeface="+mn-lt"/>
              </a:rPr>
              <a:t>(42)3568-4789</a:t>
            </a:r>
            <a:r>
              <a:rPr lang="pt-BR" sz="1200" dirty="0">
                <a:solidFill>
                  <a:schemeClr val="accent6">
                    <a:lumMod val="75000"/>
                  </a:schemeClr>
                </a:solidFill>
                <a:latin typeface="+mn-lt"/>
              </a:rPr>
              <a:t>|</a:t>
            </a:r>
            <a:r>
              <a:rPr lang="en-US" sz="1200" b="1" dirty="0">
                <a:solidFill>
                  <a:srgbClr val="FF0000"/>
                </a:solidFill>
                <a:highlight>
                  <a:srgbClr val="00FFFF"/>
                </a:highlight>
                <a:latin typeface="+mn-lt"/>
              </a:rPr>
              <a:t>27</a:t>
            </a:r>
            <a:r>
              <a:rPr lang="en-US" sz="1200" dirty="0">
                <a:highlight>
                  <a:srgbClr val="00FFFF"/>
                </a:highlight>
                <a:latin typeface="+mn-lt"/>
              </a:rPr>
              <a:t>Flores</a:t>
            </a:r>
            <a:r>
              <a:rPr lang="pt-BR" sz="1200" dirty="0">
                <a:solidFill>
                  <a:schemeClr val="accent6">
                    <a:lumMod val="75000"/>
                  </a:schemeClr>
                </a:solidFill>
                <a:highlight>
                  <a:srgbClr val="00FFFF"/>
                </a:highlight>
                <a:latin typeface="+mn-lt"/>
              </a:rPr>
              <a:t>|</a:t>
            </a:r>
            <a:r>
              <a:rPr lang="en-US" sz="1200" dirty="0">
                <a:highlight>
                  <a:srgbClr val="00FFFF"/>
                </a:highlight>
                <a:latin typeface="+mn-lt"/>
              </a:rPr>
              <a:t>Andre</a:t>
            </a:r>
            <a:r>
              <a:rPr lang="pt-BR" sz="1200" dirty="0">
                <a:solidFill>
                  <a:schemeClr val="accent6">
                    <a:lumMod val="75000"/>
                  </a:schemeClr>
                </a:solidFill>
                <a:highlight>
                  <a:srgbClr val="00FFFF"/>
                </a:highlight>
                <a:latin typeface="+mn-lt"/>
              </a:rPr>
              <a:t>|(21)</a:t>
            </a:r>
            <a:r>
              <a:rPr lang="pt-BR" sz="1200" dirty="0">
                <a:highlight>
                  <a:srgbClr val="00FFFF"/>
                </a:highlight>
                <a:latin typeface="+mn-lt"/>
              </a:rPr>
              <a:t>3300-9874</a:t>
            </a:r>
            <a:r>
              <a:rPr lang="pt-BR" sz="1200" dirty="0">
                <a:solidFill>
                  <a:schemeClr val="accent6">
                    <a:lumMod val="75000"/>
                  </a:schemeClr>
                </a:solidFill>
                <a:highlight>
                  <a:srgbClr val="00FFFF"/>
                </a:highlight>
                <a:latin typeface="+mn-lt"/>
              </a:rPr>
              <a:t>|</a:t>
            </a:r>
            <a:r>
              <a:rPr lang="pt-BR" sz="1200" dirty="0">
                <a:latin typeface="+mn-lt"/>
              </a:rPr>
              <a:t>...</a:t>
            </a:r>
          </a:p>
        </p:txBody>
      </p:sp>
    </p:spTree>
    <p:extLst>
      <p:ext uri="{BB962C8B-B14F-4D97-AF65-F5344CB8AC3E}">
        <p14:creationId xmlns:p14="http://schemas.microsoft.com/office/powerpoint/2010/main" val="4059461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Fragmentação em arquivos</a:t>
            </a:r>
          </a:p>
        </p:txBody>
      </p:sp>
      <p:sp>
        <p:nvSpPr>
          <p:cNvPr id="3" name="Espaço Reservado para Conteúdo 2"/>
          <p:cNvSpPr>
            <a:spLocks noGrp="1"/>
          </p:cNvSpPr>
          <p:nvPr>
            <p:ph idx="1"/>
          </p:nvPr>
        </p:nvSpPr>
        <p:spPr>
          <a:xfrm>
            <a:off x="457200" y="1600200"/>
            <a:ext cx="8363272" cy="4972072"/>
          </a:xfrm>
        </p:spPr>
        <p:txBody>
          <a:bodyPr>
            <a:normAutofit/>
          </a:bodyPr>
          <a:lstStyle/>
          <a:p>
            <a:r>
              <a:rPr lang="pt-BR" sz="2400" dirty="0"/>
              <a:t>Devido à fragmentação, a organização do arquivo pode se </a:t>
            </a:r>
            <a:r>
              <a:rPr lang="pt-BR" sz="2400" u="sng" dirty="0"/>
              <a:t>deteriorar</a:t>
            </a:r>
            <a:r>
              <a:rPr lang="pt-BR" sz="2400" dirty="0"/>
              <a:t> a medida que ele vai sendo modificado</a:t>
            </a:r>
          </a:p>
          <a:p>
            <a:pPr lvl="1"/>
            <a:r>
              <a:rPr lang="pt-BR" sz="2000" dirty="0"/>
              <a:t>Como ficaria a busca em um arquivo fragmentado?</a:t>
            </a:r>
          </a:p>
          <a:p>
            <a:pPr>
              <a:spcBef>
                <a:spcPts val="1800"/>
              </a:spcBef>
            </a:pPr>
            <a:r>
              <a:rPr lang="pt-BR" sz="2400" b="1" dirty="0">
                <a:solidFill>
                  <a:schemeClr val="accent6">
                    <a:lumMod val="75000"/>
                  </a:schemeClr>
                </a:solidFill>
              </a:rPr>
              <a:t>Fragmentação</a:t>
            </a:r>
            <a:r>
              <a:rPr lang="pt-BR" sz="2400" dirty="0"/>
              <a:t> em </a:t>
            </a:r>
            <a:r>
              <a:rPr lang="pt-BR" sz="2400" u="sng" dirty="0"/>
              <a:t>nível de arquivo</a:t>
            </a:r>
          </a:p>
          <a:p>
            <a:pPr lvl="1"/>
            <a:r>
              <a:rPr lang="pt-BR" sz="2200" b="1" dirty="0">
                <a:solidFill>
                  <a:schemeClr val="accent6">
                    <a:lumMod val="75000"/>
                  </a:schemeClr>
                </a:solidFill>
              </a:rPr>
              <a:t>Interna</a:t>
            </a:r>
            <a:r>
              <a:rPr lang="pt-BR" sz="2200" dirty="0"/>
              <a:t>: espaço perdido </a:t>
            </a:r>
            <a:r>
              <a:rPr lang="pt-BR" sz="2200" u="sng" dirty="0"/>
              <a:t>dentro de um registro</a:t>
            </a:r>
          </a:p>
          <a:p>
            <a:pPr lvl="1"/>
            <a:r>
              <a:rPr lang="pt-BR" sz="2200" b="1" dirty="0">
                <a:solidFill>
                  <a:schemeClr val="accent6">
                    <a:lumMod val="75000"/>
                  </a:schemeClr>
                </a:solidFill>
              </a:rPr>
              <a:t>Externa</a:t>
            </a:r>
            <a:r>
              <a:rPr lang="pt-BR" sz="2200" dirty="0"/>
              <a:t>: espaço perdido </a:t>
            </a:r>
            <a:r>
              <a:rPr lang="pt-BR" sz="2200" u="sng" dirty="0"/>
              <a:t>fora dos registros</a:t>
            </a:r>
          </a:p>
          <a:p>
            <a:pPr lvl="2"/>
            <a:r>
              <a:rPr lang="pt-BR" sz="1800" dirty="0"/>
              <a:t>Não confundir com fragmentação do disco, que é gerenciada pelo </a:t>
            </a:r>
            <a:r>
              <a:rPr lang="pt-BR" sz="1800" dirty="0" err="1"/>
              <a:t>S.O.</a:t>
            </a:r>
            <a:endParaRPr lang="pt-BR" sz="1800" dirty="0"/>
          </a:p>
          <a:p>
            <a:pPr>
              <a:spcBef>
                <a:spcPts val="1800"/>
              </a:spcBef>
            </a:pPr>
            <a:r>
              <a:rPr lang="pt-BR" sz="2400" dirty="0"/>
              <a:t>Modificações no arquivo são ocasionadas por:</a:t>
            </a:r>
          </a:p>
          <a:p>
            <a:pPr lvl="1"/>
            <a:r>
              <a:rPr lang="pt-BR" sz="2000" dirty="0">
                <a:solidFill>
                  <a:schemeClr val="accent6">
                    <a:lumMod val="75000"/>
                  </a:schemeClr>
                </a:solidFill>
              </a:rPr>
              <a:t>Inserção </a:t>
            </a:r>
            <a:r>
              <a:rPr lang="pt-BR" sz="2000" dirty="0"/>
              <a:t>de novos registros</a:t>
            </a:r>
          </a:p>
          <a:p>
            <a:pPr lvl="1"/>
            <a:r>
              <a:rPr lang="pt-BR" sz="2000" dirty="0">
                <a:solidFill>
                  <a:schemeClr val="accent6">
                    <a:lumMod val="75000"/>
                  </a:schemeClr>
                </a:solidFill>
              </a:rPr>
              <a:t>Atualização</a:t>
            </a:r>
            <a:r>
              <a:rPr lang="pt-BR" sz="2000" dirty="0"/>
              <a:t> de registros</a:t>
            </a:r>
          </a:p>
          <a:p>
            <a:pPr lvl="1"/>
            <a:r>
              <a:rPr lang="pt-BR" sz="2000" dirty="0">
                <a:solidFill>
                  <a:schemeClr val="accent6">
                    <a:lumMod val="75000"/>
                  </a:schemeClr>
                </a:solidFill>
              </a:rPr>
              <a:t>Remoção </a:t>
            </a:r>
            <a:r>
              <a:rPr lang="pt-BR" sz="2000" dirty="0"/>
              <a:t>de registros</a:t>
            </a:r>
          </a:p>
        </p:txBody>
      </p:sp>
      <p:grpSp>
        <p:nvGrpSpPr>
          <p:cNvPr id="4" name="Agrupar 3">
            <a:extLst>
              <a:ext uri="{FF2B5EF4-FFF2-40B4-BE49-F238E27FC236}">
                <a16:creationId xmlns:a16="http://schemas.microsoft.com/office/drawing/2014/main" id="{EB580266-A984-4211-8096-8FAE8E16A412}"/>
              </a:ext>
            </a:extLst>
          </p:cNvPr>
          <p:cNvGrpSpPr/>
          <p:nvPr/>
        </p:nvGrpSpPr>
        <p:grpSpPr>
          <a:xfrm>
            <a:off x="1259632" y="5419396"/>
            <a:ext cx="4464496" cy="857256"/>
            <a:chOff x="1259632" y="4941168"/>
            <a:chExt cx="4464496" cy="857256"/>
          </a:xfrm>
        </p:grpSpPr>
        <p:sp>
          <p:nvSpPr>
            <p:cNvPr id="6" name="Retângulo 5"/>
            <p:cNvSpPr/>
            <p:nvPr/>
          </p:nvSpPr>
          <p:spPr>
            <a:xfrm>
              <a:off x="1259632" y="4941168"/>
              <a:ext cx="2643206" cy="857256"/>
            </a:xfrm>
            <a:prstGeom prst="rect">
              <a:avLst/>
            </a:prstGeom>
            <a:noFill/>
            <a:ln w="1905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3902838" y="5213649"/>
              <a:ext cx="1821290" cy="584775"/>
            </a:xfrm>
            <a:prstGeom prst="rect">
              <a:avLst/>
            </a:prstGeom>
            <a:solidFill>
              <a:srgbClr val="008000"/>
            </a:solidFill>
            <a:ln>
              <a:solidFill>
                <a:srgbClr val="008000"/>
              </a:solidFill>
            </a:ln>
          </p:spPr>
          <p:txBody>
            <a:bodyPr wrap="square" rtlCol="0">
              <a:spAutoFit/>
            </a:bodyPr>
            <a:lstStyle/>
            <a:p>
              <a:r>
                <a:rPr lang="pt-BR" sz="1600" dirty="0">
                  <a:solidFill>
                    <a:schemeClr val="bg1"/>
                  </a:solidFill>
                </a:rPr>
                <a:t>Ações que podem gerar fragmentação</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Fragmentação em arquivos</a:t>
            </a:r>
          </a:p>
        </p:txBody>
      </p:sp>
      <p:sp>
        <p:nvSpPr>
          <p:cNvPr id="3" name="Espaço Reservado para Conteúdo 2"/>
          <p:cNvSpPr>
            <a:spLocks noGrp="1"/>
          </p:cNvSpPr>
          <p:nvPr>
            <p:ph idx="1"/>
          </p:nvPr>
        </p:nvSpPr>
        <p:spPr/>
        <p:txBody>
          <a:bodyPr>
            <a:normAutofit/>
          </a:bodyPr>
          <a:lstStyle/>
          <a:p>
            <a:r>
              <a:rPr lang="pt-BR" sz="2400" dirty="0"/>
              <a:t>Situações que geram fragmentação:</a:t>
            </a:r>
          </a:p>
          <a:p>
            <a:pPr lvl="1"/>
            <a:r>
              <a:rPr lang="pt-BR" dirty="0">
                <a:solidFill>
                  <a:schemeClr val="accent6">
                    <a:lumMod val="75000"/>
                  </a:schemeClr>
                </a:solidFill>
              </a:rPr>
              <a:t>Atualização</a:t>
            </a:r>
            <a:r>
              <a:rPr lang="pt-BR" dirty="0"/>
              <a:t> de registro de </a:t>
            </a:r>
            <a:r>
              <a:rPr lang="pt-BR" dirty="0">
                <a:solidFill>
                  <a:srgbClr val="008000"/>
                </a:solidFill>
              </a:rPr>
              <a:t>tamanho </a:t>
            </a:r>
            <a:r>
              <a:rPr lang="pt-BR" b="1" dirty="0">
                <a:solidFill>
                  <a:srgbClr val="008000"/>
                </a:solidFill>
              </a:rPr>
              <a:t>variável</a:t>
            </a:r>
          </a:p>
          <a:p>
            <a:pPr lvl="2"/>
            <a:r>
              <a:rPr lang="pt-BR" dirty="0"/>
              <a:t>Se o novo registro é menor, atualize no mesmo lugar </a:t>
            </a:r>
            <a:r>
              <a:rPr lang="pt-BR" dirty="0">
                <a:sym typeface="Wingdings" panose="05000000000000000000" pitchFamily="2" charset="2"/>
              </a:rPr>
              <a:t></a:t>
            </a:r>
            <a:r>
              <a:rPr lang="pt-BR" dirty="0"/>
              <a:t> fragmentação interna</a:t>
            </a:r>
          </a:p>
          <a:p>
            <a:pPr lvl="2"/>
            <a:r>
              <a:rPr lang="pt-BR" dirty="0"/>
              <a:t>Se o novo registro é maior, remova o registro antigo e insira o novo no fim do arquivo </a:t>
            </a:r>
            <a:r>
              <a:rPr lang="pt-BR" dirty="0">
                <a:sym typeface="Wingdings" panose="05000000000000000000" pitchFamily="2" charset="2"/>
              </a:rPr>
              <a:t> </a:t>
            </a:r>
            <a:r>
              <a:rPr lang="pt-BR" dirty="0"/>
              <a:t>fragmentação externa</a:t>
            </a:r>
          </a:p>
          <a:p>
            <a:pPr lvl="2"/>
            <a:endParaRPr lang="pt-BR" sz="1100" dirty="0"/>
          </a:p>
          <a:p>
            <a:pPr lvl="1"/>
            <a:r>
              <a:rPr lang="pt-BR" dirty="0">
                <a:solidFill>
                  <a:schemeClr val="accent6">
                    <a:lumMod val="75000"/>
                  </a:schemeClr>
                </a:solidFill>
              </a:rPr>
              <a:t>Remoção </a:t>
            </a:r>
            <a:r>
              <a:rPr lang="pt-BR" dirty="0"/>
              <a:t>de registro de </a:t>
            </a:r>
            <a:r>
              <a:rPr lang="pt-BR" dirty="0">
                <a:solidFill>
                  <a:srgbClr val="008000"/>
                </a:solidFill>
              </a:rPr>
              <a:t>tamanho </a:t>
            </a:r>
            <a:r>
              <a:rPr lang="pt-BR" b="1" dirty="0">
                <a:solidFill>
                  <a:srgbClr val="008000"/>
                </a:solidFill>
              </a:rPr>
              <a:t>fixo</a:t>
            </a:r>
            <a:r>
              <a:rPr lang="pt-BR" dirty="0">
                <a:solidFill>
                  <a:srgbClr val="008000"/>
                </a:solidFill>
              </a:rPr>
              <a:t> </a:t>
            </a:r>
            <a:r>
              <a:rPr lang="pt-BR" b="1" dirty="0">
                <a:solidFill>
                  <a:srgbClr val="008000"/>
                </a:solidFill>
              </a:rPr>
              <a:t>ou</a:t>
            </a:r>
            <a:r>
              <a:rPr lang="pt-BR" dirty="0">
                <a:solidFill>
                  <a:srgbClr val="008000"/>
                </a:solidFill>
              </a:rPr>
              <a:t> </a:t>
            </a:r>
            <a:r>
              <a:rPr lang="pt-BR" b="1" dirty="0">
                <a:solidFill>
                  <a:srgbClr val="008000"/>
                </a:solidFill>
              </a:rPr>
              <a:t>variável</a:t>
            </a:r>
          </a:p>
          <a:p>
            <a:pPr lvl="2"/>
            <a:r>
              <a:rPr lang="pt-BR" dirty="0"/>
              <a:t>A remoção é </a:t>
            </a:r>
            <a:r>
              <a:rPr lang="pt-BR" b="1" u="sng" dirty="0"/>
              <a:t>LÓGICA</a:t>
            </a:r>
            <a:r>
              <a:rPr lang="pt-BR" b="1" dirty="0"/>
              <a:t> </a:t>
            </a:r>
            <a:r>
              <a:rPr lang="pt-BR" dirty="0">
                <a:sym typeface="Wingdings" panose="05000000000000000000" pitchFamily="2" charset="2"/>
              </a:rPr>
              <a:t> o registro deve ser marcado como removido de alguma forma</a:t>
            </a:r>
            <a:endParaRPr lang="pt-BR" dirty="0"/>
          </a:p>
          <a:p>
            <a:pPr lvl="3"/>
            <a:r>
              <a:rPr lang="pt-BR" dirty="0"/>
              <a:t>Insira um </a:t>
            </a:r>
            <a:r>
              <a:rPr lang="pt-BR" dirty="0">
                <a:solidFill>
                  <a:schemeClr val="accent6">
                    <a:lumMod val="75000"/>
                  </a:schemeClr>
                </a:solidFill>
              </a:rPr>
              <a:t>caractere especial </a:t>
            </a:r>
            <a:r>
              <a:rPr lang="pt-BR" dirty="0"/>
              <a:t>(por exemplo, ‘*’) no início do registro removido para indicar que ele não é mais válido</a:t>
            </a:r>
          </a:p>
          <a:p>
            <a:pPr lvl="3"/>
            <a:r>
              <a:rPr lang="pt-BR" dirty="0"/>
              <a:t>Reserve um </a:t>
            </a:r>
            <a:r>
              <a:rPr lang="pt-BR" dirty="0">
                <a:solidFill>
                  <a:schemeClr val="accent6">
                    <a:lumMod val="75000"/>
                  </a:schemeClr>
                </a:solidFill>
              </a:rPr>
              <a:t>campo</a:t>
            </a:r>
            <a:r>
              <a:rPr lang="pt-BR" dirty="0"/>
              <a:t> adicional para sinalizar a remoção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Reutilização estática</a:t>
            </a:r>
          </a:p>
        </p:txBody>
      </p:sp>
      <p:sp>
        <p:nvSpPr>
          <p:cNvPr id="3" name="Espaço Reservado para Conteúdo 2"/>
          <p:cNvSpPr>
            <a:spLocks noGrp="1"/>
          </p:cNvSpPr>
          <p:nvPr>
            <p:ph idx="1"/>
          </p:nvPr>
        </p:nvSpPr>
        <p:spPr/>
        <p:txBody>
          <a:bodyPr>
            <a:normAutofit/>
          </a:bodyPr>
          <a:lstStyle/>
          <a:p>
            <a:r>
              <a:rPr lang="pt-BR" sz="2400" dirty="0"/>
              <a:t>O que fazer com o espaço ocupado por fragmentação?</a:t>
            </a:r>
            <a:endParaRPr lang="pt-BR" sz="2000" dirty="0"/>
          </a:p>
          <a:p>
            <a:pPr>
              <a:spcBef>
                <a:spcPts val="1800"/>
              </a:spcBef>
            </a:pPr>
            <a:r>
              <a:rPr lang="pt-BR" sz="2400" dirty="0">
                <a:solidFill>
                  <a:srgbClr val="008000"/>
                </a:solidFill>
              </a:rPr>
              <a:t>Reutilização </a:t>
            </a:r>
            <a:r>
              <a:rPr lang="pt-BR" sz="2400" b="1" dirty="0">
                <a:solidFill>
                  <a:srgbClr val="008000"/>
                </a:solidFill>
              </a:rPr>
              <a:t>estática (compactação)</a:t>
            </a:r>
          </a:p>
          <a:p>
            <a:pPr lvl="1"/>
            <a:r>
              <a:rPr lang="pt-BR" sz="2000" dirty="0">
                <a:solidFill>
                  <a:schemeClr val="accent6">
                    <a:lumMod val="75000"/>
                  </a:schemeClr>
                </a:solidFill>
              </a:rPr>
              <a:t>De tempos em tempos, recupere todos os espaços de uma só vez</a:t>
            </a:r>
            <a:endParaRPr lang="pt-BR" sz="2000" dirty="0"/>
          </a:p>
          <a:p>
            <a:pPr lvl="2"/>
            <a:r>
              <a:rPr lang="pt-BR" sz="1800" dirty="0"/>
              <a:t>Copie os registros válidos para um novo arquivo e libere a arquivo antigo </a:t>
            </a:r>
            <a:r>
              <a:rPr lang="pt-BR" sz="1800" dirty="0">
                <a:sym typeface="Wingdings" pitchFamily="2" charset="2"/>
              </a:rPr>
              <a:t> mais fácil</a:t>
            </a:r>
            <a:endParaRPr lang="pt-BR" sz="1800" dirty="0"/>
          </a:p>
          <a:p>
            <a:pPr lvl="2"/>
            <a:r>
              <a:rPr lang="pt-BR" sz="1800" dirty="0"/>
              <a:t>Compactar no mesmo lugar, lendo e regravando apenas os registros válidos </a:t>
            </a:r>
            <a:r>
              <a:rPr lang="pt-BR" sz="1800" dirty="0">
                <a:sym typeface="Wingdings" pitchFamily="2" charset="2"/>
              </a:rPr>
              <a:t> mais demorado, mas requer menos espaço em disco</a:t>
            </a:r>
            <a:endParaRPr lang="pt-BR" sz="1800" dirty="0"/>
          </a:p>
        </p:txBody>
      </p:sp>
      <p:sp>
        <p:nvSpPr>
          <p:cNvPr id="10" name="CaixaDeTexto 9">
            <a:extLst>
              <a:ext uri="{FF2B5EF4-FFF2-40B4-BE49-F238E27FC236}">
                <a16:creationId xmlns:a16="http://schemas.microsoft.com/office/drawing/2014/main" id="{DCB9CAFF-41F9-4A90-A5E6-0878BAC0DC7C}"/>
              </a:ext>
            </a:extLst>
          </p:cNvPr>
          <p:cNvSpPr txBox="1"/>
          <p:nvPr/>
        </p:nvSpPr>
        <p:spPr>
          <a:xfrm>
            <a:off x="289693" y="4437112"/>
            <a:ext cx="1906043" cy="369332"/>
          </a:xfrm>
          <a:prstGeom prst="rect">
            <a:avLst/>
          </a:prstGeom>
          <a:noFill/>
        </p:spPr>
        <p:txBody>
          <a:bodyPr wrap="square" rtlCol="0">
            <a:spAutoFit/>
          </a:bodyPr>
          <a:lstStyle/>
          <a:p>
            <a:r>
              <a:rPr lang="pt-BR" dirty="0"/>
              <a:t>Arquivo original:</a:t>
            </a:r>
          </a:p>
        </p:txBody>
      </p:sp>
      <p:sp>
        <p:nvSpPr>
          <p:cNvPr id="11" name="CaixaDeTexto 10">
            <a:extLst>
              <a:ext uri="{FF2B5EF4-FFF2-40B4-BE49-F238E27FC236}">
                <a16:creationId xmlns:a16="http://schemas.microsoft.com/office/drawing/2014/main" id="{926BA0E1-E839-44A5-ADFB-6AA95907526C}"/>
              </a:ext>
            </a:extLst>
          </p:cNvPr>
          <p:cNvSpPr txBox="1"/>
          <p:nvPr/>
        </p:nvSpPr>
        <p:spPr>
          <a:xfrm>
            <a:off x="347989" y="5816297"/>
            <a:ext cx="6528267" cy="276999"/>
          </a:xfrm>
          <a:prstGeom prst="rect">
            <a:avLst/>
          </a:prstGeom>
          <a:solidFill>
            <a:schemeClr val="accent5">
              <a:lumMod val="20000"/>
              <a:lumOff val="80000"/>
            </a:schemeClr>
          </a:solidFill>
          <a:ln>
            <a:solidFill>
              <a:schemeClr val="accent5">
                <a:lumMod val="50000"/>
              </a:schemeClr>
            </a:solidFill>
          </a:ln>
        </p:spPr>
        <p:txBody>
          <a:bodyPr wrap="square" rtlCol="0">
            <a:spAutoFit/>
          </a:bodyPr>
          <a:lstStyle/>
          <a:p>
            <a:pPr fontAlgn="t"/>
            <a:r>
              <a:rPr lang="en-US" sz="1200" b="1" dirty="0">
                <a:solidFill>
                  <a:srgbClr val="FF0000"/>
                </a:solidFill>
                <a:latin typeface="+mn-lt"/>
              </a:rPr>
              <a:t>25</a:t>
            </a:r>
            <a:r>
              <a:rPr lang="en-US" sz="1200" dirty="0">
                <a:latin typeface="+mn-lt"/>
              </a:rPr>
              <a:t>Silva</a:t>
            </a:r>
            <a:r>
              <a:rPr lang="pt-BR" sz="1200" dirty="0">
                <a:solidFill>
                  <a:schemeClr val="accent6">
                    <a:lumMod val="75000"/>
                  </a:schemeClr>
                </a:solidFill>
                <a:latin typeface="+mn-lt"/>
              </a:rPr>
              <a:t>|</a:t>
            </a:r>
            <a:r>
              <a:rPr lang="en-US" sz="1200" dirty="0">
                <a:latin typeface="+mn-lt"/>
              </a:rPr>
              <a:t>Alan</a:t>
            </a:r>
            <a:r>
              <a:rPr lang="pt-BR" sz="1200" dirty="0">
                <a:solidFill>
                  <a:schemeClr val="accent6">
                    <a:lumMod val="75000"/>
                  </a:schemeClr>
                </a:solidFill>
                <a:latin typeface="+mn-lt"/>
              </a:rPr>
              <a:t>|</a:t>
            </a:r>
            <a:r>
              <a:rPr lang="pt-BR" sz="1200" dirty="0">
                <a:latin typeface="+mn-lt"/>
              </a:rPr>
              <a:t>(23)3666-1111</a:t>
            </a:r>
            <a:r>
              <a:rPr lang="pt-BR" sz="1200" dirty="0">
                <a:solidFill>
                  <a:schemeClr val="accent6">
                    <a:lumMod val="75000"/>
                  </a:schemeClr>
                </a:solidFill>
                <a:latin typeface="+mn-lt"/>
              </a:rPr>
              <a:t>|</a:t>
            </a:r>
            <a:r>
              <a:rPr lang="en-US" sz="1200" b="1" dirty="0">
                <a:solidFill>
                  <a:srgbClr val="FF0000"/>
                </a:solidFill>
                <a:latin typeface="+mn-lt"/>
              </a:rPr>
              <a:t>30</a:t>
            </a:r>
            <a:r>
              <a:rPr lang="en-US" sz="1200" dirty="0">
                <a:latin typeface="+mn-lt"/>
              </a:rPr>
              <a:t>Santos</a:t>
            </a:r>
            <a:r>
              <a:rPr lang="pt-BR" sz="1200" dirty="0">
                <a:solidFill>
                  <a:schemeClr val="accent6">
                    <a:lumMod val="75000"/>
                  </a:schemeClr>
                </a:solidFill>
                <a:latin typeface="+mn-lt"/>
              </a:rPr>
              <a:t>|</a:t>
            </a:r>
            <a:r>
              <a:rPr lang="en-US" sz="1200" dirty="0">
                <a:latin typeface="+mn-lt"/>
              </a:rPr>
              <a:t>Cristina</a:t>
            </a:r>
            <a:r>
              <a:rPr lang="pt-BR" sz="1200" dirty="0">
                <a:solidFill>
                  <a:schemeClr val="accent6">
                    <a:lumMod val="75000"/>
                  </a:schemeClr>
                </a:solidFill>
                <a:latin typeface="+mn-lt"/>
              </a:rPr>
              <a:t>|</a:t>
            </a:r>
            <a:r>
              <a:rPr lang="pt-BR" sz="1200" dirty="0">
                <a:latin typeface="+mn-lt"/>
              </a:rPr>
              <a:t>(42)3568-4789</a:t>
            </a:r>
            <a:r>
              <a:rPr lang="pt-BR" sz="1200" dirty="0">
                <a:solidFill>
                  <a:schemeClr val="accent6">
                    <a:lumMod val="75000"/>
                  </a:schemeClr>
                </a:solidFill>
                <a:latin typeface="+mn-lt"/>
              </a:rPr>
              <a:t>|</a:t>
            </a:r>
            <a:r>
              <a:rPr lang="en-US" sz="1200" b="1" dirty="0">
                <a:solidFill>
                  <a:srgbClr val="FF0000"/>
                </a:solidFill>
                <a:latin typeface="+mn-lt"/>
              </a:rPr>
              <a:t>27</a:t>
            </a:r>
            <a:r>
              <a:rPr lang="en-US" sz="1200" dirty="0">
                <a:latin typeface="+mn-lt"/>
              </a:rPr>
              <a:t>Flores</a:t>
            </a:r>
            <a:r>
              <a:rPr lang="pt-BR" sz="1200" dirty="0">
                <a:solidFill>
                  <a:schemeClr val="accent6">
                    <a:lumMod val="75000"/>
                  </a:schemeClr>
                </a:solidFill>
                <a:latin typeface="+mn-lt"/>
              </a:rPr>
              <a:t>|</a:t>
            </a:r>
            <a:r>
              <a:rPr lang="en-US" sz="1200" dirty="0">
                <a:latin typeface="+mn-lt"/>
              </a:rPr>
              <a:t>Andre</a:t>
            </a:r>
            <a:r>
              <a:rPr lang="pt-BR" sz="1200" dirty="0">
                <a:solidFill>
                  <a:schemeClr val="accent6">
                    <a:lumMod val="75000"/>
                  </a:schemeClr>
                </a:solidFill>
                <a:latin typeface="+mn-lt"/>
              </a:rPr>
              <a:t>|</a:t>
            </a:r>
            <a:r>
              <a:rPr lang="pt-BR" sz="1200" dirty="0">
                <a:latin typeface="+mn-lt"/>
              </a:rPr>
              <a:t>(21)3300-9874</a:t>
            </a:r>
            <a:r>
              <a:rPr lang="pt-BR" sz="1200" dirty="0">
                <a:solidFill>
                  <a:schemeClr val="accent6">
                    <a:lumMod val="75000"/>
                  </a:schemeClr>
                </a:solidFill>
                <a:latin typeface="+mn-lt"/>
              </a:rPr>
              <a:t>|</a:t>
            </a:r>
            <a:r>
              <a:rPr lang="pt-BR" sz="1200" dirty="0">
                <a:latin typeface="+mn-lt"/>
              </a:rPr>
              <a:t>...</a:t>
            </a:r>
          </a:p>
        </p:txBody>
      </p:sp>
      <p:sp>
        <p:nvSpPr>
          <p:cNvPr id="14" name="CaixaDeTexto 13">
            <a:extLst>
              <a:ext uri="{FF2B5EF4-FFF2-40B4-BE49-F238E27FC236}">
                <a16:creationId xmlns:a16="http://schemas.microsoft.com/office/drawing/2014/main" id="{089313FB-89FC-41EC-A274-F4D86DCEC09F}"/>
              </a:ext>
            </a:extLst>
          </p:cNvPr>
          <p:cNvSpPr txBox="1"/>
          <p:nvPr/>
        </p:nvSpPr>
        <p:spPr>
          <a:xfrm>
            <a:off x="268804" y="5467212"/>
            <a:ext cx="2358982" cy="369332"/>
          </a:xfrm>
          <a:prstGeom prst="rect">
            <a:avLst/>
          </a:prstGeom>
          <a:noFill/>
        </p:spPr>
        <p:txBody>
          <a:bodyPr wrap="square" rtlCol="0">
            <a:spAutoFit/>
          </a:bodyPr>
          <a:lstStyle/>
          <a:p>
            <a:r>
              <a:rPr lang="pt-BR" dirty="0"/>
              <a:t>Arquivo compactado:</a:t>
            </a:r>
          </a:p>
        </p:txBody>
      </p:sp>
      <p:grpSp>
        <p:nvGrpSpPr>
          <p:cNvPr id="24" name="Agrupar 23">
            <a:extLst>
              <a:ext uri="{FF2B5EF4-FFF2-40B4-BE49-F238E27FC236}">
                <a16:creationId xmlns:a16="http://schemas.microsoft.com/office/drawing/2014/main" id="{F3572D51-22DE-4640-97E7-793F68C2C975}"/>
              </a:ext>
            </a:extLst>
          </p:cNvPr>
          <p:cNvGrpSpPr/>
          <p:nvPr/>
        </p:nvGrpSpPr>
        <p:grpSpPr>
          <a:xfrm>
            <a:off x="2267744" y="5029549"/>
            <a:ext cx="1772492" cy="307777"/>
            <a:chOff x="2267744" y="5389589"/>
            <a:chExt cx="1772492" cy="307777"/>
          </a:xfrm>
        </p:grpSpPr>
        <p:cxnSp>
          <p:nvCxnSpPr>
            <p:cNvPr id="16" name="Conector reto 15">
              <a:extLst>
                <a:ext uri="{FF2B5EF4-FFF2-40B4-BE49-F238E27FC236}">
                  <a16:creationId xmlns:a16="http://schemas.microsoft.com/office/drawing/2014/main" id="{46B8ED88-57C3-403A-9367-E256CA3EF4D7}"/>
                </a:ext>
              </a:extLst>
            </p:cNvPr>
            <p:cNvCxnSpPr/>
            <p:nvPr/>
          </p:nvCxnSpPr>
          <p:spPr>
            <a:xfrm>
              <a:off x="2267744" y="5454460"/>
              <a:ext cx="0" cy="15388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7" name="Conector reto 16">
              <a:extLst>
                <a:ext uri="{FF2B5EF4-FFF2-40B4-BE49-F238E27FC236}">
                  <a16:creationId xmlns:a16="http://schemas.microsoft.com/office/drawing/2014/main" id="{2AE88E92-01AF-4B80-8F7F-CCB58A7F94FA}"/>
                </a:ext>
              </a:extLst>
            </p:cNvPr>
            <p:cNvCxnSpPr/>
            <p:nvPr/>
          </p:nvCxnSpPr>
          <p:spPr>
            <a:xfrm>
              <a:off x="4040236" y="5466532"/>
              <a:ext cx="0" cy="15388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9" name="Conector reto 18">
              <a:extLst>
                <a:ext uri="{FF2B5EF4-FFF2-40B4-BE49-F238E27FC236}">
                  <a16:creationId xmlns:a16="http://schemas.microsoft.com/office/drawing/2014/main" id="{10040EDD-6C02-4FCC-80DA-E30AB105E8FB}"/>
                </a:ext>
              </a:extLst>
            </p:cNvPr>
            <p:cNvCxnSpPr>
              <a:cxnSpLocks/>
            </p:cNvCxnSpPr>
            <p:nvPr/>
          </p:nvCxnSpPr>
          <p:spPr>
            <a:xfrm flipV="1">
              <a:off x="2267744" y="5550179"/>
              <a:ext cx="1772492" cy="2865"/>
            </a:xfrm>
            <a:prstGeom prst="line">
              <a:avLst/>
            </a:prstGeom>
            <a:ln w="12700"/>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7E011C2C-5663-4199-8025-1CBE08A622D7}"/>
                </a:ext>
              </a:extLst>
            </p:cNvPr>
            <p:cNvSpPr txBox="1"/>
            <p:nvPr/>
          </p:nvSpPr>
          <p:spPr>
            <a:xfrm>
              <a:off x="2627785" y="5389589"/>
              <a:ext cx="1152128" cy="307777"/>
            </a:xfrm>
            <a:prstGeom prst="rect">
              <a:avLst/>
            </a:prstGeom>
            <a:solidFill>
              <a:schemeClr val="bg1"/>
            </a:solidFill>
            <a:ln>
              <a:noFill/>
            </a:ln>
          </p:spPr>
          <p:style>
            <a:lnRef idx="2">
              <a:schemeClr val="accent2"/>
            </a:lnRef>
            <a:fillRef idx="1">
              <a:schemeClr val="lt1"/>
            </a:fillRef>
            <a:effectRef idx="0">
              <a:schemeClr val="accent2"/>
            </a:effectRef>
            <a:fontRef idx="minor">
              <a:schemeClr val="dk1"/>
            </a:fontRef>
          </p:style>
          <p:txBody>
            <a:bodyPr wrap="square" lIns="36000" rIns="36000" rtlCol="0">
              <a:spAutoFit/>
            </a:bodyPr>
            <a:lstStyle/>
            <a:p>
              <a:pPr algn="ctr"/>
              <a:r>
                <a:rPr lang="pt-BR" sz="1400" b="1" dirty="0">
                  <a:solidFill>
                    <a:srgbClr val="C00000"/>
                  </a:solidFill>
                </a:rPr>
                <a:t>Fragmentação</a:t>
              </a:r>
            </a:p>
          </p:txBody>
        </p:sp>
      </p:grpSp>
      <p:sp>
        <p:nvSpPr>
          <p:cNvPr id="4" name="CaixaDeTexto 3">
            <a:extLst>
              <a:ext uri="{FF2B5EF4-FFF2-40B4-BE49-F238E27FC236}">
                <a16:creationId xmlns:a16="http://schemas.microsoft.com/office/drawing/2014/main" id="{D55D42EE-4DF1-418C-A2C3-F2E12C183A3E}"/>
              </a:ext>
            </a:extLst>
          </p:cNvPr>
          <p:cNvSpPr txBox="1"/>
          <p:nvPr/>
        </p:nvSpPr>
        <p:spPr>
          <a:xfrm>
            <a:off x="368879" y="4786197"/>
            <a:ext cx="8406242" cy="276999"/>
          </a:xfrm>
          <a:prstGeom prst="rect">
            <a:avLst/>
          </a:prstGeom>
          <a:solidFill>
            <a:schemeClr val="accent5">
              <a:lumMod val="20000"/>
              <a:lumOff val="80000"/>
            </a:schemeClr>
          </a:solidFill>
          <a:ln>
            <a:solidFill>
              <a:schemeClr val="accent5">
                <a:lumMod val="50000"/>
              </a:schemeClr>
            </a:solidFill>
          </a:ln>
        </p:spPr>
        <p:txBody>
          <a:bodyPr wrap="square" rtlCol="0">
            <a:spAutoFit/>
          </a:bodyPr>
          <a:lstStyle/>
          <a:p>
            <a:pPr fontAlgn="t"/>
            <a:r>
              <a:rPr lang="en-US" sz="1200" b="1" dirty="0">
                <a:solidFill>
                  <a:srgbClr val="FF0000"/>
                </a:solidFill>
                <a:latin typeface="+mn-lt"/>
              </a:rPr>
              <a:t>25</a:t>
            </a:r>
            <a:r>
              <a:rPr lang="en-US" sz="1200" dirty="0">
                <a:latin typeface="+mn-lt"/>
              </a:rPr>
              <a:t>Silva</a:t>
            </a:r>
            <a:r>
              <a:rPr lang="pt-BR" sz="1200" dirty="0">
                <a:solidFill>
                  <a:schemeClr val="accent6">
                    <a:lumMod val="75000"/>
                  </a:schemeClr>
                </a:solidFill>
                <a:latin typeface="+mn-lt"/>
              </a:rPr>
              <a:t>|</a:t>
            </a:r>
            <a:r>
              <a:rPr lang="en-US" sz="1200" dirty="0">
                <a:latin typeface="+mn-lt"/>
              </a:rPr>
              <a:t>Alan</a:t>
            </a:r>
            <a:r>
              <a:rPr lang="pt-BR" sz="1200" dirty="0">
                <a:solidFill>
                  <a:schemeClr val="accent6">
                    <a:lumMod val="75000"/>
                  </a:schemeClr>
                </a:solidFill>
                <a:latin typeface="+mn-lt"/>
              </a:rPr>
              <a:t>|</a:t>
            </a:r>
            <a:r>
              <a:rPr lang="pt-BR" sz="1200" dirty="0">
                <a:latin typeface="+mn-lt"/>
              </a:rPr>
              <a:t>(23)3666-1111</a:t>
            </a:r>
            <a:r>
              <a:rPr lang="pt-BR" sz="1200" dirty="0">
                <a:solidFill>
                  <a:schemeClr val="accent6">
                    <a:lumMod val="75000"/>
                  </a:schemeClr>
                </a:solidFill>
                <a:latin typeface="+mn-lt"/>
              </a:rPr>
              <a:t>|</a:t>
            </a:r>
            <a:r>
              <a:rPr lang="en-US" sz="1200" b="1" strike="sngStrike" dirty="0">
                <a:solidFill>
                  <a:srgbClr val="FF0000"/>
                </a:solidFill>
                <a:highlight>
                  <a:srgbClr val="FFFF00"/>
                </a:highlight>
                <a:latin typeface="+mn-lt"/>
              </a:rPr>
              <a:t>23</a:t>
            </a:r>
            <a:r>
              <a:rPr lang="en-US" sz="1200" strike="sngStrike" dirty="0">
                <a:highlight>
                  <a:srgbClr val="FFFF00"/>
                </a:highlight>
                <a:latin typeface="+mn-lt"/>
              </a:rPr>
              <a:t>*</a:t>
            </a:r>
            <a:r>
              <a:rPr lang="en-US" sz="1200" strike="sngStrike" dirty="0" err="1">
                <a:highlight>
                  <a:srgbClr val="FFFF00"/>
                </a:highlight>
                <a:latin typeface="+mn-lt"/>
              </a:rPr>
              <a:t>lores</a:t>
            </a:r>
            <a:r>
              <a:rPr lang="pt-BR" sz="1200" strike="sngStrike" dirty="0">
                <a:solidFill>
                  <a:schemeClr val="accent6">
                    <a:lumMod val="75000"/>
                  </a:schemeClr>
                </a:solidFill>
                <a:highlight>
                  <a:srgbClr val="FFFF00"/>
                </a:highlight>
                <a:latin typeface="+mn-lt"/>
              </a:rPr>
              <a:t>|</a:t>
            </a:r>
            <a:r>
              <a:rPr lang="en-US" sz="1200" strike="sngStrike" dirty="0">
                <a:highlight>
                  <a:srgbClr val="FFFF00"/>
                </a:highlight>
                <a:latin typeface="+mn-lt"/>
              </a:rPr>
              <a:t>Andre</a:t>
            </a:r>
            <a:r>
              <a:rPr lang="pt-BR" sz="1200" strike="sngStrike" dirty="0">
                <a:solidFill>
                  <a:schemeClr val="accent6">
                    <a:lumMod val="75000"/>
                  </a:schemeClr>
                </a:solidFill>
                <a:highlight>
                  <a:srgbClr val="FFFF00"/>
                </a:highlight>
                <a:latin typeface="+mn-lt"/>
              </a:rPr>
              <a:t>|</a:t>
            </a:r>
            <a:r>
              <a:rPr lang="pt-BR" sz="1200" strike="sngStrike" dirty="0">
                <a:highlight>
                  <a:srgbClr val="FFFF00"/>
                </a:highlight>
                <a:latin typeface="+mn-lt"/>
              </a:rPr>
              <a:t>3300-9874</a:t>
            </a:r>
            <a:r>
              <a:rPr lang="pt-BR" sz="1200" strike="sngStrike" dirty="0">
                <a:solidFill>
                  <a:schemeClr val="accent6">
                    <a:lumMod val="75000"/>
                  </a:schemeClr>
                </a:solidFill>
                <a:highlight>
                  <a:srgbClr val="FFFF00"/>
                </a:highlight>
                <a:latin typeface="+mn-lt"/>
              </a:rPr>
              <a:t>|</a:t>
            </a:r>
            <a:r>
              <a:rPr lang="en-US" sz="1200" b="1" dirty="0">
                <a:solidFill>
                  <a:srgbClr val="FF0000"/>
                </a:solidFill>
                <a:latin typeface="+mn-lt"/>
              </a:rPr>
              <a:t>30</a:t>
            </a:r>
            <a:r>
              <a:rPr lang="en-US" sz="1200" dirty="0">
                <a:latin typeface="+mn-lt"/>
              </a:rPr>
              <a:t>Santos</a:t>
            </a:r>
            <a:r>
              <a:rPr lang="pt-BR" sz="1200" dirty="0">
                <a:solidFill>
                  <a:schemeClr val="accent6">
                    <a:lumMod val="75000"/>
                  </a:schemeClr>
                </a:solidFill>
                <a:latin typeface="+mn-lt"/>
              </a:rPr>
              <a:t>|</a:t>
            </a:r>
            <a:r>
              <a:rPr lang="en-US" sz="1200" dirty="0">
                <a:latin typeface="+mn-lt"/>
              </a:rPr>
              <a:t>Cristina</a:t>
            </a:r>
            <a:r>
              <a:rPr lang="pt-BR" sz="1200" dirty="0">
                <a:solidFill>
                  <a:schemeClr val="accent6">
                    <a:lumMod val="75000"/>
                  </a:schemeClr>
                </a:solidFill>
                <a:latin typeface="+mn-lt"/>
              </a:rPr>
              <a:t>|</a:t>
            </a:r>
            <a:r>
              <a:rPr lang="pt-BR" sz="1200" dirty="0">
                <a:latin typeface="+mn-lt"/>
              </a:rPr>
              <a:t>(42)3568-4789</a:t>
            </a:r>
            <a:r>
              <a:rPr lang="pt-BR" sz="1200" dirty="0">
                <a:solidFill>
                  <a:schemeClr val="accent6">
                    <a:lumMod val="75000"/>
                  </a:schemeClr>
                </a:solidFill>
                <a:latin typeface="+mn-lt"/>
              </a:rPr>
              <a:t>|</a:t>
            </a:r>
            <a:r>
              <a:rPr lang="en-US" sz="1200" b="1" dirty="0">
                <a:solidFill>
                  <a:srgbClr val="FF0000"/>
                </a:solidFill>
                <a:highlight>
                  <a:srgbClr val="00FFFF"/>
                </a:highlight>
                <a:latin typeface="+mn-lt"/>
              </a:rPr>
              <a:t>27</a:t>
            </a:r>
            <a:r>
              <a:rPr lang="en-US" sz="1200" dirty="0">
                <a:highlight>
                  <a:srgbClr val="00FFFF"/>
                </a:highlight>
                <a:latin typeface="+mn-lt"/>
              </a:rPr>
              <a:t>Flores</a:t>
            </a:r>
            <a:r>
              <a:rPr lang="pt-BR" sz="1200" dirty="0">
                <a:solidFill>
                  <a:schemeClr val="accent6">
                    <a:lumMod val="75000"/>
                  </a:schemeClr>
                </a:solidFill>
                <a:highlight>
                  <a:srgbClr val="00FFFF"/>
                </a:highlight>
                <a:latin typeface="+mn-lt"/>
              </a:rPr>
              <a:t>|</a:t>
            </a:r>
            <a:r>
              <a:rPr lang="en-US" sz="1200" dirty="0">
                <a:highlight>
                  <a:srgbClr val="00FFFF"/>
                </a:highlight>
                <a:latin typeface="+mn-lt"/>
              </a:rPr>
              <a:t>Andre</a:t>
            </a:r>
            <a:r>
              <a:rPr lang="pt-BR" sz="1200" dirty="0">
                <a:solidFill>
                  <a:schemeClr val="accent6">
                    <a:lumMod val="75000"/>
                  </a:schemeClr>
                </a:solidFill>
                <a:highlight>
                  <a:srgbClr val="00FFFF"/>
                </a:highlight>
                <a:latin typeface="+mn-lt"/>
              </a:rPr>
              <a:t>|(21)</a:t>
            </a:r>
            <a:r>
              <a:rPr lang="pt-BR" sz="1200" dirty="0">
                <a:highlight>
                  <a:srgbClr val="00FFFF"/>
                </a:highlight>
                <a:latin typeface="+mn-lt"/>
              </a:rPr>
              <a:t>3300-9874</a:t>
            </a:r>
            <a:r>
              <a:rPr lang="pt-BR" sz="1200" dirty="0">
                <a:solidFill>
                  <a:schemeClr val="accent6">
                    <a:lumMod val="75000"/>
                  </a:schemeClr>
                </a:solidFill>
                <a:highlight>
                  <a:srgbClr val="00FFFF"/>
                </a:highlight>
                <a:latin typeface="+mn-lt"/>
              </a:rPr>
              <a:t>|</a:t>
            </a:r>
            <a:r>
              <a:rPr lang="pt-BR" sz="1200" dirty="0">
                <a:latin typeface="+mn-l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Reutilização dinâmica</a:t>
            </a:r>
          </a:p>
        </p:txBody>
      </p:sp>
      <p:sp>
        <p:nvSpPr>
          <p:cNvPr id="3" name="Espaço Reservado para Conteúdo 2"/>
          <p:cNvSpPr>
            <a:spLocks noGrp="1"/>
          </p:cNvSpPr>
          <p:nvPr>
            <p:ph idx="1"/>
          </p:nvPr>
        </p:nvSpPr>
        <p:spPr/>
        <p:txBody>
          <a:bodyPr>
            <a:normAutofit/>
          </a:bodyPr>
          <a:lstStyle/>
          <a:p>
            <a:r>
              <a:rPr lang="pt-BR" sz="2400" dirty="0">
                <a:solidFill>
                  <a:srgbClr val="008000"/>
                </a:solidFill>
              </a:rPr>
              <a:t>Reutilização</a:t>
            </a:r>
            <a:r>
              <a:rPr lang="pt-BR" sz="2400" b="1" dirty="0">
                <a:solidFill>
                  <a:srgbClr val="008000"/>
                </a:solidFill>
              </a:rPr>
              <a:t> dinâmica</a:t>
            </a:r>
          </a:p>
          <a:p>
            <a:pPr lvl="1"/>
            <a:r>
              <a:rPr lang="pt-BR" sz="2000" dirty="0">
                <a:solidFill>
                  <a:schemeClr val="accent6">
                    <a:lumMod val="75000"/>
                  </a:schemeClr>
                </a:solidFill>
              </a:rPr>
              <a:t>Utilize os espaços de fragmentação na inserção de novos registros</a:t>
            </a:r>
          </a:p>
          <a:p>
            <a:pPr lvl="1">
              <a:spcAft>
                <a:spcPts val="1200"/>
              </a:spcAft>
            </a:pPr>
            <a:r>
              <a:rPr lang="pt-BR" sz="2000" dirty="0"/>
              <a:t>Pode ser usada como forma de retardar a reutilização estática (compactação)</a:t>
            </a:r>
            <a:endParaRPr lang="pt-BR" dirty="0"/>
          </a:p>
          <a:p>
            <a:r>
              <a:rPr lang="pt-BR" sz="2000" dirty="0"/>
              <a:t>Para poder reutilizar o espaço de um registro removido de forma rápida, precisamos:</a:t>
            </a:r>
          </a:p>
          <a:p>
            <a:pPr lvl="1"/>
            <a:r>
              <a:rPr lang="pt-BR" sz="2000" dirty="0"/>
              <a:t>Saber rapidamente se existem espaços disponíveis no arquivo</a:t>
            </a:r>
          </a:p>
          <a:p>
            <a:pPr lvl="1"/>
            <a:r>
              <a:rPr lang="pt-BR" sz="2000" dirty="0"/>
              <a:t>Poder “saltar” diretamente para esses espaços, caso existam</a:t>
            </a:r>
          </a:p>
          <a:p>
            <a:pPr lvl="1">
              <a:spcAft>
                <a:spcPts val="1200"/>
              </a:spcAft>
            </a:pPr>
            <a:r>
              <a:rPr lang="pt-BR" sz="2000" dirty="0"/>
              <a:t>Para isso, precisamos armazenar o </a:t>
            </a:r>
            <a:r>
              <a:rPr lang="pt-BR" sz="2000" b="1" dirty="0">
                <a:solidFill>
                  <a:schemeClr val="accent6">
                    <a:lumMod val="75000"/>
                  </a:schemeClr>
                </a:solidFill>
              </a:rPr>
              <a:t>endereço dos espaços</a:t>
            </a:r>
            <a:r>
              <a:rPr lang="pt-BR" sz="2000" dirty="0"/>
              <a:t> </a:t>
            </a:r>
            <a:r>
              <a:rPr lang="pt-BR" sz="2000" b="1" dirty="0">
                <a:solidFill>
                  <a:schemeClr val="accent6">
                    <a:lumMod val="75000"/>
                  </a:schemeClr>
                </a:solidFill>
              </a:rPr>
              <a:t>disponíveis</a:t>
            </a:r>
            <a:endParaRPr lang="pt-BR" sz="2000" dirty="0"/>
          </a:p>
          <a:p>
            <a:r>
              <a:rPr lang="pt-BR" sz="2000" dirty="0"/>
              <a:t>A estrutura de dados utilizada para armazenar os endereços disponíveis pode variar dependendo se o arquivo armazena registros de tamanho fixo ou variável</a:t>
            </a:r>
          </a:p>
          <a:p>
            <a:pPr lvl="1"/>
            <a:endParaRPr lang="pt-B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Reutilização dinâmica</a:t>
            </a:r>
          </a:p>
        </p:txBody>
      </p:sp>
      <p:sp>
        <p:nvSpPr>
          <p:cNvPr id="3" name="Espaço Reservado para Conteúdo 2"/>
          <p:cNvSpPr>
            <a:spLocks noGrp="1"/>
          </p:cNvSpPr>
          <p:nvPr>
            <p:ph idx="1"/>
          </p:nvPr>
        </p:nvSpPr>
        <p:spPr>
          <a:xfrm>
            <a:off x="457200" y="1600200"/>
            <a:ext cx="8229600" cy="4925144"/>
          </a:xfrm>
        </p:spPr>
        <p:txBody>
          <a:bodyPr>
            <a:normAutofit/>
          </a:bodyPr>
          <a:lstStyle/>
          <a:p>
            <a:r>
              <a:rPr lang="pt-BR" sz="2400" dirty="0"/>
              <a:t>Arquivos com registros de </a:t>
            </a:r>
            <a:r>
              <a:rPr lang="pt-BR" sz="2400" dirty="0">
                <a:solidFill>
                  <a:srgbClr val="008000"/>
                </a:solidFill>
              </a:rPr>
              <a:t>tamanho </a:t>
            </a:r>
            <a:r>
              <a:rPr lang="pt-BR" sz="2400" b="1" dirty="0">
                <a:solidFill>
                  <a:srgbClr val="008000"/>
                </a:solidFill>
              </a:rPr>
              <a:t>fixo</a:t>
            </a:r>
          </a:p>
          <a:p>
            <a:pPr lvl="1"/>
            <a:r>
              <a:rPr lang="pt-BR" sz="2200" dirty="0"/>
              <a:t>Podemos usar uma </a:t>
            </a:r>
            <a:r>
              <a:rPr lang="pt-BR" sz="2200" b="1" dirty="0">
                <a:solidFill>
                  <a:srgbClr val="009900"/>
                </a:solidFill>
              </a:rPr>
              <a:t>pilha </a:t>
            </a:r>
            <a:r>
              <a:rPr lang="pt-BR" sz="2200" dirty="0">
                <a:sym typeface="Wingdings" pitchFamily="2" charset="2"/>
              </a:rPr>
              <a:t> </a:t>
            </a:r>
            <a:r>
              <a:rPr lang="pt-BR" sz="2200" b="1" dirty="0">
                <a:solidFill>
                  <a:schemeClr val="accent6">
                    <a:lumMod val="75000"/>
                  </a:schemeClr>
                </a:solidFill>
                <a:sym typeface="Wingdings" pitchFamily="2" charset="2"/>
              </a:rPr>
              <a:t>Pilha de Espaços Disponíveis (PED)</a:t>
            </a:r>
            <a:endParaRPr lang="pt-BR" sz="2200" b="1" dirty="0">
              <a:solidFill>
                <a:schemeClr val="accent6">
                  <a:lumMod val="75000"/>
                </a:schemeClr>
              </a:solidFill>
            </a:endParaRPr>
          </a:p>
          <a:p>
            <a:pPr lvl="1"/>
            <a:r>
              <a:rPr lang="pt-BR" sz="2200" dirty="0">
                <a:solidFill>
                  <a:schemeClr val="accent6">
                    <a:lumMod val="75000"/>
                  </a:schemeClr>
                </a:solidFill>
              </a:rPr>
              <a:t>Os ponteiros da PED são os </a:t>
            </a:r>
            <a:r>
              <a:rPr lang="pt-BR" sz="2200" dirty="0" err="1">
                <a:solidFill>
                  <a:schemeClr val="accent6">
                    <a:lumMod val="75000"/>
                  </a:schemeClr>
                </a:solidFill>
              </a:rPr>
              <a:t>RRNs</a:t>
            </a:r>
            <a:r>
              <a:rPr lang="pt-BR" sz="2200" dirty="0">
                <a:solidFill>
                  <a:schemeClr val="accent6">
                    <a:lumMod val="75000"/>
                  </a:schemeClr>
                </a:solidFill>
              </a:rPr>
              <a:t> dos registros removidos</a:t>
            </a:r>
          </a:p>
          <a:p>
            <a:pPr>
              <a:spcBef>
                <a:spcPts val="1800"/>
              </a:spcBef>
            </a:pPr>
            <a:r>
              <a:rPr lang="pt-BR" sz="2600" dirty="0"/>
              <a:t>Onde a PED ficará armazenada?</a:t>
            </a:r>
          </a:p>
          <a:p>
            <a:pPr lvl="1"/>
            <a:r>
              <a:rPr lang="pt-BR" dirty="0"/>
              <a:t>No próprio arquivo de registros</a:t>
            </a:r>
          </a:p>
        </p:txBody>
      </p:sp>
      <p:sp>
        <p:nvSpPr>
          <p:cNvPr id="4" name="CaixaDeTexto 3">
            <a:extLst>
              <a:ext uri="{FF2B5EF4-FFF2-40B4-BE49-F238E27FC236}">
                <a16:creationId xmlns:a16="http://schemas.microsoft.com/office/drawing/2014/main" id="{016F3D77-C56E-4CCB-8094-EC71AC5BF4DB}"/>
              </a:ext>
            </a:extLst>
          </p:cNvPr>
          <p:cNvSpPr txBox="1"/>
          <p:nvPr/>
        </p:nvSpPr>
        <p:spPr>
          <a:xfrm>
            <a:off x="1259632" y="4542496"/>
            <a:ext cx="6528267" cy="276999"/>
          </a:xfrm>
          <a:prstGeom prst="rect">
            <a:avLst/>
          </a:prstGeom>
          <a:solidFill>
            <a:schemeClr val="accent5">
              <a:lumMod val="20000"/>
              <a:lumOff val="80000"/>
            </a:schemeClr>
          </a:solidFill>
          <a:ln>
            <a:solidFill>
              <a:schemeClr val="accent5">
                <a:lumMod val="50000"/>
              </a:schemeClr>
            </a:solidFill>
          </a:ln>
        </p:spPr>
        <p:txBody>
          <a:bodyPr wrap="square" rtlCol="0">
            <a:spAutoFit/>
          </a:bodyPr>
          <a:lstStyle/>
          <a:p>
            <a:pPr fontAlgn="t"/>
            <a:r>
              <a:rPr lang="pt-BR" sz="1200" b="1" dirty="0">
                <a:solidFill>
                  <a:srgbClr val="FF0000"/>
                </a:solidFill>
                <a:highlight>
                  <a:srgbClr val="FFFF00"/>
                </a:highlight>
                <a:latin typeface="+mn-lt"/>
              </a:rPr>
              <a:t>1</a:t>
            </a:r>
            <a:r>
              <a:rPr lang="pt-BR" sz="1200" b="1" dirty="0">
                <a:solidFill>
                  <a:srgbClr val="FF0000"/>
                </a:solidFill>
                <a:latin typeface="+mn-lt"/>
              </a:rPr>
              <a:t> </a:t>
            </a:r>
            <a:r>
              <a:rPr lang="pt-BR" sz="1200" dirty="0">
                <a:latin typeface="+mn-lt"/>
              </a:rPr>
              <a:t>Dados do 1º registro </a:t>
            </a:r>
            <a:r>
              <a:rPr lang="en-US" sz="1200" b="1" dirty="0">
                <a:solidFill>
                  <a:srgbClr val="FF0000"/>
                </a:solidFill>
                <a:latin typeface="+mn-lt"/>
              </a:rPr>
              <a:t>*3</a:t>
            </a:r>
            <a:r>
              <a:rPr lang="pt-BR" sz="1200" dirty="0">
                <a:latin typeface="+mn-lt"/>
              </a:rPr>
              <a:t>dos do 2º registro Dados do 3º registro </a:t>
            </a:r>
            <a:r>
              <a:rPr lang="en-US" sz="1200" b="1" dirty="0">
                <a:solidFill>
                  <a:srgbClr val="FF0000"/>
                </a:solidFill>
                <a:latin typeface="+mn-lt"/>
              </a:rPr>
              <a:t>*-1</a:t>
            </a:r>
            <a:r>
              <a:rPr lang="pt-BR" sz="1200" dirty="0">
                <a:latin typeface="+mn-lt"/>
              </a:rPr>
              <a:t>dos do 4º registro Dados do 5º ...</a:t>
            </a:r>
          </a:p>
        </p:txBody>
      </p:sp>
      <p:sp>
        <p:nvSpPr>
          <p:cNvPr id="5" name="CaixaDeTexto 4">
            <a:extLst>
              <a:ext uri="{FF2B5EF4-FFF2-40B4-BE49-F238E27FC236}">
                <a16:creationId xmlns:a16="http://schemas.microsoft.com/office/drawing/2014/main" id="{FAA3EB48-306F-4D1E-B79B-6FF3C330137C}"/>
              </a:ext>
            </a:extLst>
          </p:cNvPr>
          <p:cNvSpPr txBox="1"/>
          <p:nvPr/>
        </p:nvSpPr>
        <p:spPr>
          <a:xfrm>
            <a:off x="683568" y="4293096"/>
            <a:ext cx="7104331" cy="276999"/>
          </a:xfrm>
          <a:prstGeom prst="rect">
            <a:avLst/>
          </a:prstGeom>
          <a:noFill/>
        </p:spPr>
        <p:txBody>
          <a:bodyPr wrap="square" rtlCol="0">
            <a:spAutoFit/>
          </a:bodyPr>
          <a:lstStyle/>
          <a:p>
            <a:r>
              <a:rPr lang="pt-BR" sz="1200" i="1" dirty="0"/>
              <a:t> </a:t>
            </a:r>
            <a:r>
              <a:rPr lang="pt-BR" sz="1200" i="1" dirty="0" err="1"/>
              <a:t>RRNs</a:t>
            </a:r>
            <a:r>
              <a:rPr lang="pt-BR" sz="1200" i="1" dirty="0"/>
              <a:t>:                          0	                       1                                   2	                    3                              4</a:t>
            </a:r>
          </a:p>
        </p:txBody>
      </p:sp>
      <p:sp>
        <p:nvSpPr>
          <p:cNvPr id="6" name="Chave Esquerda 5">
            <a:extLst>
              <a:ext uri="{FF2B5EF4-FFF2-40B4-BE49-F238E27FC236}">
                <a16:creationId xmlns:a16="http://schemas.microsoft.com/office/drawing/2014/main" id="{8548B5B0-86EC-4668-A2F1-AD973102C904}"/>
              </a:ext>
            </a:extLst>
          </p:cNvPr>
          <p:cNvSpPr/>
          <p:nvPr/>
        </p:nvSpPr>
        <p:spPr>
          <a:xfrm rot="16200000">
            <a:off x="1284093" y="4858469"/>
            <a:ext cx="191563" cy="144016"/>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7" name="CaixaDeTexto 6">
            <a:extLst>
              <a:ext uri="{FF2B5EF4-FFF2-40B4-BE49-F238E27FC236}">
                <a16:creationId xmlns:a16="http://schemas.microsoft.com/office/drawing/2014/main" id="{6884D51E-4A24-4FFE-B93C-4A651722428A}"/>
              </a:ext>
            </a:extLst>
          </p:cNvPr>
          <p:cNvSpPr txBox="1"/>
          <p:nvPr/>
        </p:nvSpPr>
        <p:spPr>
          <a:xfrm>
            <a:off x="758976" y="5026259"/>
            <a:ext cx="1241796" cy="954107"/>
          </a:xfrm>
          <a:prstGeom prst="rect">
            <a:avLst/>
          </a:prstGeom>
          <a:noFill/>
        </p:spPr>
        <p:txBody>
          <a:bodyPr wrap="square" rtlCol="0">
            <a:spAutoFit/>
          </a:bodyPr>
          <a:lstStyle/>
          <a:p>
            <a:pPr algn="ctr"/>
            <a:r>
              <a:rPr lang="pt-BR" sz="1400" i="1" dirty="0">
                <a:solidFill>
                  <a:srgbClr val="C00000"/>
                </a:solidFill>
              </a:rPr>
              <a:t>Topo da PED</a:t>
            </a:r>
          </a:p>
          <a:p>
            <a:pPr algn="ctr"/>
            <a:r>
              <a:rPr lang="pt-BR" sz="1400" i="1" dirty="0">
                <a:solidFill>
                  <a:srgbClr val="C00000"/>
                </a:solidFill>
              </a:rPr>
              <a:t>(armazenado no cabeçalho do arquivo)</a:t>
            </a:r>
          </a:p>
        </p:txBody>
      </p:sp>
      <p:sp>
        <p:nvSpPr>
          <p:cNvPr id="8" name="Chave Esquerda 7">
            <a:extLst>
              <a:ext uri="{FF2B5EF4-FFF2-40B4-BE49-F238E27FC236}">
                <a16:creationId xmlns:a16="http://schemas.microsoft.com/office/drawing/2014/main" id="{C63363F0-5D5F-4C90-9E66-33C658DB3518}"/>
              </a:ext>
            </a:extLst>
          </p:cNvPr>
          <p:cNvSpPr/>
          <p:nvPr/>
        </p:nvSpPr>
        <p:spPr>
          <a:xfrm rot="16200000">
            <a:off x="3292446" y="4297478"/>
            <a:ext cx="215764" cy="1241796"/>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9" name="Chave Esquerda 8">
            <a:extLst>
              <a:ext uri="{FF2B5EF4-FFF2-40B4-BE49-F238E27FC236}">
                <a16:creationId xmlns:a16="http://schemas.microsoft.com/office/drawing/2014/main" id="{73B84CA7-91F7-4C35-A9ED-23942D96FD73}"/>
              </a:ext>
            </a:extLst>
          </p:cNvPr>
          <p:cNvSpPr/>
          <p:nvPr/>
        </p:nvSpPr>
        <p:spPr>
          <a:xfrm rot="16200000">
            <a:off x="5935223" y="4297478"/>
            <a:ext cx="167362" cy="1241796"/>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0" name="CaixaDeTexto 9">
            <a:extLst>
              <a:ext uri="{FF2B5EF4-FFF2-40B4-BE49-F238E27FC236}">
                <a16:creationId xmlns:a16="http://schemas.microsoft.com/office/drawing/2014/main" id="{06C5C1FE-B096-4A57-8E8F-3BCE0EA5E9A7}"/>
              </a:ext>
            </a:extLst>
          </p:cNvPr>
          <p:cNvSpPr txBox="1"/>
          <p:nvPr/>
        </p:nvSpPr>
        <p:spPr>
          <a:xfrm>
            <a:off x="3779912" y="5301797"/>
            <a:ext cx="1885470" cy="523220"/>
          </a:xfrm>
          <a:prstGeom prst="rect">
            <a:avLst/>
          </a:prstGeom>
          <a:noFill/>
        </p:spPr>
        <p:txBody>
          <a:bodyPr wrap="square" rtlCol="0">
            <a:spAutoFit/>
          </a:bodyPr>
          <a:lstStyle/>
          <a:p>
            <a:pPr algn="ctr"/>
            <a:r>
              <a:rPr lang="pt-BR" sz="1400" i="1" dirty="0">
                <a:solidFill>
                  <a:srgbClr val="C00000"/>
                </a:solidFill>
              </a:rPr>
              <a:t>Registros removidos e encadeados na PED</a:t>
            </a:r>
          </a:p>
        </p:txBody>
      </p:sp>
      <p:cxnSp>
        <p:nvCxnSpPr>
          <p:cNvPr id="14" name="Conector: Curvo 13">
            <a:extLst>
              <a:ext uri="{FF2B5EF4-FFF2-40B4-BE49-F238E27FC236}">
                <a16:creationId xmlns:a16="http://schemas.microsoft.com/office/drawing/2014/main" id="{DF5C6B81-C439-4598-BD42-5123BF0E739B}"/>
              </a:ext>
            </a:extLst>
          </p:cNvPr>
          <p:cNvCxnSpPr>
            <a:stCxn id="10" idx="3"/>
            <a:endCxn id="9" idx="1"/>
          </p:cNvCxnSpPr>
          <p:nvPr/>
        </p:nvCxnSpPr>
        <p:spPr>
          <a:xfrm flipV="1">
            <a:off x="5665382" y="5002057"/>
            <a:ext cx="353522" cy="561350"/>
          </a:xfrm>
          <a:prstGeom prst="curved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o 15">
            <a:extLst>
              <a:ext uri="{FF2B5EF4-FFF2-40B4-BE49-F238E27FC236}">
                <a16:creationId xmlns:a16="http://schemas.microsoft.com/office/drawing/2014/main" id="{EE6E04AA-D4F8-4A19-9DD6-4F26B9608354}"/>
              </a:ext>
            </a:extLst>
          </p:cNvPr>
          <p:cNvCxnSpPr>
            <a:stCxn id="10" idx="1"/>
            <a:endCxn id="8" idx="1"/>
          </p:cNvCxnSpPr>
          <p:nvPr/>
        </p:nvCxnSpPr>
        <p:spPr>
          <a:xfrm rot="10800000">
            <a:off x="3400328" y="5026259"/>
            <a:ext cx="379584" cy="537149"/>
          </a:xfrm>
          <a:prstGeom prst="curved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Reutilização dinâmica</a:t>
            </a:r>
          </a:p>
        </p:txBody>
      </p:sp>
      <p:sp>
        <p:nvSpPr>
          <p:cNvPr id="3" name="Espaço Reservado para Conteúdo 2"/>
          <p:cNvSpPr>
            <a:spLocks noGrp="1"/>
          </p:cNvSpPr>
          <p:nvPr>
            <p:ph idx="1"/>
          </p:nvPr>
        </p:nvSpPr>
        <p:spPr/>
        <p:txBody>
          <a:bodyPr>
            <a:normAutofit/>
          </a:bodyPr>
          <a:lstStyle/>
          <a:p>
            <a:r>
              <a:rPr lang="pt-BR" sz="2400" dirty="0"/>
              <a:t>Criação e manutenção da </a:t>
            </a:r>
            <a:r>
              <a:rPr lang="pt-BR" sz="2400" b="1" dirty="0">
                <a:solidFill>
                  <a:schemeClr val="accent6">
                    <a:lumMod val="75000"/>
                  </a:schemeClr>
                </a:solidFill>
              </a:rPr>
              <a:t>PED</a:t>
            </a:r>
            <a:endParaRPr lang="pt-BR" sz="2400" dirty="0"/>
          </a:p>
          <a:p>
            <a:pPr lvl="1"/>
            <a:r>
              <a:rPr lang="pt-BR" sz="2000" dirty="0"/>
              <a:t>Armazenamos o topo da PED no </a:t>
            </a:r>
            <a:r>
              <a:rPr lang="pt-BR" sz="2000" u="sng" dirty="0"/>
              <a:t>cabeçalho do arquivo</a:t>
            </a:r>
          </a:p>
          <a:p>
            <a:pPr lvl="1"/>
            <a:r>
              <a:rPr lang="pt-BR" sz="2000" dirty="0"/>
              <a:t>O topo da PED guarda o </a:t>
            </a:r>
            <a:r>
              <a:rPr lang="pt-BR" sz="2000" dirty="0">
                <a:solidFill>
                  <a:schemeClr val="accent6">
                    <a:lumMod val="75000"/>
                  </a:schemeClr>
                </a:solidFill>
              </a:rPr>
              <a:t>RRN do último registro removido</a:t>
            </a:r>
          </a:p>
          <a:p>
            <a:pPr lvl="1"/>
            <a:r>
              <a:rPr lang="pt-BR" sz="2000" dirty="0"/>
              <a:t>Se </a:t>
            </a:r>
            <a:r>
              <a:rPr lang="pt-BR" sz="2000" i="1" dirty="0">
                <a:solidFill>
                  <a:srgbClr val="C00000"/>
                </a:solidFill>
              </a:rPr>
              <a:t>topo(PED) = -1</a:t>
            </a:r>
            <a:r>
              <a:rPr lang="pt-BR" sz="2000" dirty="0"/>
              <a:t>, a </a:t>
            </a:r>
            <a:r>
              <a:rPr lang="pt-BR" sz="2000" u="sng" dirty="0"/>
              <a:t>pilha está vazia</a:t>
            </a:r>
            <a:r>
              <a:rPr lang="pt-BR" sz="2000" dirty="0"/>
              <a:t> (não há registros removidos)</a:t>
            </a:r>
          </a:p>
          <a:p>
            <a:pPr lvl="1"/>
            <a:r>
              <a:rPr lang="pt-BR" sz="2000" dirty="0"/>
              <a:t>Quando um registro é removido, ele é marcado e inserido na PED </a:t>
            </a:r>
          </a:p>
          <a:p>
            <a:pPr lvl="2"/>
            <a:r>
              <a:rPr lang="pt-BR" sz="1800" dirty="0"/>
              <a:t>Gravamos o caractere de remoção no início do 1º campo</a:t>
            </a:r>
          </a:p>
          <a:p>
            <a:pPr lvl="2"/>
            <a:r>
              <a:rPr lang="pt-BR" sz="1800" dirty="0"/>
              <a:t>O RRN do registro será o novo o topo da PED e um </a:t>
            </a:r>
            <a:r>
              <a:rPr lang="pt-BR" sz="1800" u="sng" dirty="0"/>
              <a:t>ponteiro</a:t>
            </a:r>
            <a:r>
              <a:rPr lang="pt-BR" sz="1800" dirty="0"/>
              <a:t> para o topo antigo (registro removido antes dele) é colocado no espaço que acabou de ser liberado, logo após o caractere de remoção</a:t>
            </a:r>
          </a:p>
          <a:p>
            <a:pPr lvl="2"/>
            <a:r>
              <a:rPr lang="pt-BR" sz="1800" dirty="0"/>
              <a:t>O espaço físico que o registro removido ocupava continua na mesma posição física de antes, mas logicamente passa a integrar a PED</a:t>
            </a:r>
          </a:p>
        </p:txBody>
      </p:sp>
      <p:sp>
        <p:nvSpPr>
          <p:cNvPr id="4" name="CaixaDeTexto 3"/>
          <p:cNvSpPr txBox="1"/>
          <p:nvPr/>
        </p:nvSpPr>
        <p:spPr>
          <a:xfrm>
            <a:off x="5076056" y="5589240"/>
            <a:ext cx="3394720" cy="646331"/>
          </a:xfrm>
          <a:prstGeom prst="rect">
            <a:avLst/>
          </a:prstGeom>
          <a:solidFill>
            <a:schemeClr val="accent6">
              <a:lumMod val="40000"/>
              <a:lumOff val="60000"/>
            </a:schemeClr>
          </a:solidFill>
        </p:spPr>
        <p:txBody>
          <a:bodyPr wrap="square" rtlCol="0">
            <a:spAutoFit/>
          </a:bodyPr>
          <a:lstStyle/>
          <a:p>
            <a:r>
              <a:rPr lang="pt-BR" b="1" dirty="0"/>
              <a:t>Atenção: os </a:t>
            </a:r>
            <a:r>
              <a:rPr lang="pt-BR" b="1" u="sng" dirty="0"/>
              <a:t>ponteiros</a:t>
            </a:r>
            <a:r>
              <a:rPr lang="pt-BR" b="1" dirty="0"/>
              <a:t> da PED são </a:t>
            </a:r>
            <a:r>
              <a:rPr lang="pt-BR" b="1" dirty="0" err="1"/>
              <a:t>RRNs</a:t>
            </a:r>
            <a:r>
              <a:rPr lang="pt-BR" dirty="0"/>
              <a:t> e não ponteiros de memória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PED</a:t>
            </a:r>
            <a:endParaRPr lang="pt-BR" dirty="0"/>
          </a:p>
        </p:txBody>
      </p:sp>
      <p:sp>
        <p:nvSpPr>
          <p:cNvPr id="3" name="Espaço Reservado para Conteúdo 2"/>
          <p:cNvSpPr>
            <a:spLocks noGrp="1"/>
          </p:cNvSpPr>
          <p:nvPr>
            <p:ph idx="1"/>
          </p:nvPr>
        </p:nvSpPr>
        <p:spPr/>
        <p:txBody>
          <a:bodyPr>
            <a:normAutofit/>
          </a:bodyPr>
          <a:lstStyle/>
          <a:p>
            <a:r>
              <a:rPr lang="pt-BR" sz="2400" dirty="0"/>
              <a:t>Após a remoção dos registros de RRN 3 e 5 </a:t>
            </a:r>
            <a:r>
              <a:rPr lang="pt-BR" sz="2400" dirty="0">
                <a:sym typeface="Wingdings" pitchFamily="2" charset="2"/>
              </a:rPr>
              <a:t> </a:t>
            </a:r>
            <a:r>
              <a:rPr lang="pt-BR" sz="2400" dirty="0">
                <a:solidFill>
                  <a:schemeClr val="accent6">
                    <a:lumMod val="75000"/>
                  </a:schemeClr>
                </a:solidFill>
              </a:rPr>
              <a:t>Topo(PED) = </a:t>
            </a:r>
            <a:r>
              <a:rPr lang="pt-BR" sz="2400" b="1" dirty="0">
                <a:solidFill>
                  <a:schemeClr val="accent6">
                    <a:lumMod val="75000"/>
                  </a:schemeClr>
                </a:solidFill>
              </a:rPr>
              <a:t>5</a:t>
            </a:r>
          </a:p>
          <a:p>
            <a:endParaRPr lang="pt-BR" sz="2400" dirty="0"/>
          </a:p>
          <a:p>
            <a:endParaRPr lang="pt-BR" sz="2400" dirty="0"/>
          </a:p>
          <a:p>
            <a:endParaRPr lang="pt-BR" sz="2400" dirty="0"/>
          </a:p>
          <a:p>
            <a:r>
              <a:rPr lang="pt-BR" sz="2400" dirty="0"/>
              <a:t>Após a remoção do registro de RRN 1 </a:t>
            </a:r>
            <a:r>
              <a:rPr lang="pt-BR" sz="2400" dirty="0">
                <a:sym typeface="Wingdings" pitchFamily="2" charset="2"/>
              </a:rPr>
              <a:t> </a:t>
            </a:r>
            <a:r>
              <a:rPr lang="pt-BR" sz="2400" dirty="0">
                <a:solidFill>
                  <a:schemeClr val="accent6">
                    <a:lumMod val="75000"/>
                  </a:schemeClr>
                </a:solidFill>
              </a:rPr>
              <a:t>Topo(PED) = </a:t>
            </a:r>
            <a:r>
              <a:rPr lang="pt-BR" sz="2400" b="1" dirty="0">
                <a:solidFill>
                  <a:schemeClr val="accent6">
                    <a:lumMod val="75000"/>
                  </a:schemeClr>
                </a:solidFill>
              </a:rPr>
              <a:t>1</a:t>
            </a:r>
          </a:p>
          <a:p>
            <a:endParaRPr lang="pt-BR" sz="2400" dirty="0"/>
          </a:p>
          <a:p>
            <a:endParaRPr lang="pt-BR" sz="2400" dirty="0"/>
          </a:p>
          <a:p>
            <a:endParaRPr lang="pt-BR" sz="2400" dirty="0"/>
          </a:p>
          <a:p>
            <a:r>
              <a:rPr lang="pt-BR" sz="2400" dirty="0"/>
              <a:t>Após a inserção de dois registros novos </a:t>
            </a:r>
            <a:r>
              <a:rPr lang="pt-BR" sz="2400" dirty="0">
                <a:sym typeface="Wingdings" pitchFamily="2" charset="2"/>
              </a:rPr>
              <a:t> </a:t>
            </a:r>
            <a:r>
              <a:rPr lang="pt-BR" sz="2400" dirty="0">
                <a:solidFill>
                  <a:schemeClr val="accent6">
                    <a:lumMod val="75000"/>
                  </a:schemeClr>
                </a:solidFill>
              </a:rPr>
              <a:t>Topo(PED) = </a:t>
            </a:r>
            <a:r>
              <a:rPr lang="pt-BR" sz="2400" b="1" dirty="0">
                <a:solidFill>
                  <a:schemeClr val="accent6">
                    <a:lumMod val="75000"/>
                  </a:schemeClr>
                </a:solidFill>
              </a:rPr>
              <a:t>3</a:t>
            </a:r>
          </a:p>
          <a:p>
            <a:endParaRPr lang="pt-BR" sz="2400" dirty="0"/>
          </a:p>
        </p:txBody>
      </p:sp>
      <p:graphicFrame>
        <p:nvGraphicFramePr>
          <p:cNvPr id="4" name="Tabela 3"/>
          <p:cNvGraphicFramePr>
            <a:graphicFrameLocks noGrp="1"/>
          </p:cNvGraphicFramePr>
          <p:nvPr>
            <p:extLst>
              <p:ext uri="{D42A27DB-BD31-4B8C-83A1-F6EECF244321}">
                <p14:modId xmlns:p14="http://schemas.microsoft.com/office/powerpoint/2010/main" val="1904673381"/>
              </p:ext>
            </p:extLst>
          </p:nvPr>
        </p:nvGraphicFramePr>
        <p:xfrm>
          <a:off x="1000098" y="2266072"/>
          <a:ext cx="5876158" cy="741680"/>
        </p:xfrm>
        <a:graphic>
          <a:graphicData uri="http://schemas.openxmlformats.org/drawingml/2006/table">
            <a:tbl>
              <a:tblPr firstRow="1" bandRow="1">
                <a:tableStyleId>{5940675A-B579-460E-94D1-54222C63F5DA}</a:tableStyleId>
              </a:tblPr>
              <a:tblGrid>
                <a:gridCol w="235268">
                  <a:extLst>
                    <a:ext uri="{9D8B030D-6E8A-4147-A177-3AD203B41FA5}">
                      <a16:colId xmlns:a16="http://schemas.microsoft.com/office/drawing/2014/main" val="271446898"/>
                    </a:ext>
                  </a:extLst>
                </a:gridCol>
                <a:gridCol w="822642">
                  <a:extLst>
                    <a:ext uri="{9D8B030D-6E8A-4147-A177-3AD203B41FA5}">
                      <a16:colId xmlns:a16="http://schemas.microsoft.com/office/drawing/2014/main" val="20000"/>
                    </a:ext>
                  </a:extLst>
                </a:gridCol>
                <a:gridCol w="808546">
                  <a:extLst>
                    <a:ext uri="{9D8B030D-6E8A-4147-A177-3AD203B41FA5}">
                      <a16:colId xmlns:a16="http://schemas.microsoft.com/office/drawing/2014/main" val="20001"/>
                    </a:ext>
                  </a:extLst>
                </a:gridCol>
                <a:gridCol w="792480">
                  <a:extLst>
                    <a:ext uri="{9D8B030D-6E8A-4147-A177-3AD203B41FA5}">
                      <a16:colId xmlns:a16="http://schemas.microsoft.com/office/drawing/2014/main" val="20002"/>
                    </a:ext>
                  </a:extLst>
                </a:gridCol>
                <a:gridCol w="641428">
                  <a:extLst>
                    <a:ext uri="{9D8B030D-6E8A-4147-A177-3AD203B41FA5}">
                      <a16:colId xmlns:a16="http://schemas.microsoft.com/office/drawing/2014/main" val="20003"/>
                    </a:ext>
                  </a:extLst>
                </a:gridCol>
                <a:gridCol w="718185">
                  <a:extLst>
                    <a:ext uri="{9D8B030D-6E8A-4147-A177-3AD203B41FA5}">
                      <a16:colId xmlns:a16="http://schemas.microsoft.com/office/drawing/2014/main" val="20004"/>
                    </a:ext>
                  </a:extLst>
                </a:gridCol>
                <a:gridCol w="817294">
                  <a:extLst>
                    <a:ext uri="{9D8B030D-6E8A-4147-A177-3AD203B41FA5}">
                      <a16:colId xmlns:a16="http://schemas.microsoft.com/office/drawing/2014/main" val="20005"/>
                    </a:ext>
                  </a:extLst>
                </a:gridCol>
                <a:gridCol w="1040315">
                  <a:extLst>
                    <a:ext uri="{9D8B030D-6E8A-4147-A177-3AD203B41FA5}">
                      <a16:colId xmlns:a16="http://schemas.microsoft.com/office/drawing/2014/main" val="20006"/>
                    </a:ext>
                  </a:extLst>
                </a:gridCol>
              </a:tblGrid>
              <a:tr h="370840">
                <a:tc>
                  <a:txBody>
                    <a:bodyPr/>
                    <a:lstStyle/>
                    <a:p>
                      <a:pPr algn="ctr"/>
                      <a:endParaRPr lang="pt-BR"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endParaRPr lang="pt-BR"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3</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4</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5</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pt-BR" b="1" dirty="0">
                          <a:solidFill>
                            <a:srgbClr val="C00000"/>
                          </a:solidFill>
                        </a:rPr>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Nina…</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Fred…</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Nick…</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*-1</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Ted…</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*3</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Julie…</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8" name="Tabela 7">
            <a:extLst>
              <a:ext uri="{FF2B5EF4-FFF2-40B4-BE49-F238E27FC236}">
                <a16:creationId xmlns:a16="http://schemas.microsoft.com/office/drawing/2014/main" id="{AD8C0F1A-82A6-179C-051B-A4FB72690220}"/>
              </a:ext>
            </a:extLst>
          </p:cNvPr>
          <p:cNvGraphicFramePr>
            <a:graphicFrameLocks noGrp="1"/>
          </p:cNvGraphicFramePr>
          <p:nvPr>
            <p:extLst>
              <p:ext uri="{D42A27DB-BD31-4B8C-83A1-F6EECF244321}">
                <p14:modId xmlns:p14="http://schemas.microsoft.com/office/powerpoint/2010/main" val="1663091700"/>
              </p:ext>
            </p:extLst>
          </p:nvPr>
        </p:nvGraphicFramePr>
        <p:xfrm>
          <a:off x="1002694" y="3976894"/>
          <a:ext cx="5876158" cy="741680"/>
        </p:xfrm>
        <a:graphic>
          <a:graphicData uri="http://schemas.openxmlformats.org/drawingml/2006/table">
            <a:tbl>
              <a:tblPr firstRow="1" bandRow="1">
                <a:tableStyleId>{5940675A-B579-460E-94D1-54222C63F5DA}</a:tableStyleId>
              </a:tblPr>
              <a:tblGrid>
                <a:gridCol w="235268">
                  <a:extLst>
                    <a:ext uri="{9D8B030D-6E8A-4147-A177-3AD203B41FA5}">
                      <a16:colId xmlns:a16="http://schemas.microsoft.com/office/drawing/2014/main" val="271446898"/>
                    </a:ext>
                  </a:extLst>
                </a:gridCol>
                <a:gridCol w="822642">
                  <a:extLst>
                    <a:ext uri="{9D8B030D-6E8A-4147-A177-3AD203B41FA5}">
                      <a16:colId xmlns:a16="http://schemas.microsoft.com/office/drawing/2014/main" val="20000"/>
                    </a:ext>
                  </a:extLst>
                </a:gridCol>
                <a:gridCol w="808546">
                  <a:extLst>
                    <a:ext uri="{9D8B030D-6E8A-4147-A177-3AD203B41FA5}">
                      <a16:colId xmlns:a16="http://schemas.microsoft.com/office/drawing/2014/main" val="20001"/>
                    </a:ext>
                  </a:extLst>
                </a:gridCol>
                <a:gridCol w="792480">
                  <a:extLst>
                    <a:ext uri="{9D8B030D-6E8A-4147-A177-3AD203B41FA5}">
                      <a16:colId xmlns:a16="http://schemas.microsoft.com/office/drawing/2014/main" val="20002"/>
                    </a:ext>
                  </a:extLst>
                </a:gridCol>
                <a:gridCol w="641428">
                  <a:extLst>
                    <a:ext uri="{9D8B030D-6E8A-4147-A177-3AD203B41FA5}">
                      <a16:colId xmlns:a16="http://schemas.microsoft.com/office/drawing/2014/main" val="20003"/>
                    </a:ext>
                  </a:extLst>
                </a:gridCol>
                <a:gridCol w="718185">
                  <a:extLst>
                    <a:ext uri="{9D8B030D-6E8A-4147-A177-3AD203B41FA5}">
                      <a16:colId xmlns:a16="http://schemas.microsoft.com/office/drawing/2014/main" val="20004"/>
                    </a:ext>
                  </a:extLst>
                </a:gridCol>
                <a:gridCol w="817294">
                  <a:extLst>
                    <a:ext uri="{9D8B030D-6E8A-4147-A177-3AD203B41FA5}">
                      <a16:colId xmlns:a16="http://schemas.microsoft.com/office/drawing/2014/main" val="20005"/>
                    </a:ext>
                  </a:extLst>
                </a:gridCol>
                <a:gridCol w="1040315">
                  <a:extLst>
                    <a:ext uri="{9D8B030D-6E8A-4147-A177-3AD203B41FA5}">
                      <a16:colId xmlns:a16="http://schemas.microsoft.com/office/drawing/2014/main" val="20006"/>
                    </a:ext>
                  </a:extLst>
                </a:gridCol>
              </a:tblGrid>
              <a:tr h="370840">
                <a:tc>
                  <a:txBody>
                    <a:bodyPr/>
                    <a:lstStyle/>
                    <a:p>
                      <a:pPr algn="ctr"/>
                      <a:endParaRPr lang="pt-BR"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endParaRPr lang="pt-BR"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3</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4</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5</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pt-BR" b="1" dirty="0">
                          <a:solidFill>
                            <a:srgbClr val="C00000"/>
                          </a:solidFill>
                        </a:rPr>
                        <a:t>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Nina…</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*5</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Nick…</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*-1</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Ted…</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*3</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Julie…</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9" name="Tabela 8">
            <a:extLst>
              <a:ext uri="{FF2B5EF4-FFF2-40B4-BE49-F238E27FC236}">
                <a16:creationId xmlns:a16="http://schemas.microsoft.com/office/drawing/2014/main" id="{24E88492-AC48-B7D2-4DBF-0787D61560A5}"/>
              </a:ext>
            </a:extLst>
          </p:cNvPr>
          <p:cNvGraphicFramePr>
            <a:graphicFrameLocks noGrp="1"/>
          </p:cNvGraphicFramePr>
          <p:nvPr>
            <p:extLst>
              <p:ext uri="{D42A27DB-BD31-4B8C-83A1-F6EECF244321}">
                <p14:modId xmlns:p14="http://schemas.microsoft.com/office/powerpoint/2010/main" val="1998509727"/>
              </p:ext>
            </p:extLst>
          </p:nvPr>
        </p:nvGraphicFramePr>
        <p:xfrm>
          <a:off x="1000098" y="5589240"/>
          <a:ext cx="5930654" cy="741680"/>
        </p:xfrm>
        <a:graphic>
          <a:graphicData uri="http://schemas.openxmlformats.org/drawingml/2006/table">
            <a:tbl>
              <a:tblPr firstRow="1" bandRow="1">
                <a:tableStyleId>{5940675A-B579-460E-94D1-54222C63F5DA}</a:tableStyleId>
              </a:tblPr>
              <a:tblGrid>
                <a:gridCol w="235268">
                  <a:extLst>
                    <a:ext uri="{9D8B030D-6E8A-4147-A177-3AD203B41FA5}">
                      <a16:colId xmlns:a16="http://schemas.microsoft.com/office/drawing/2014/main" val="271446898"/>
                    </a:ext>
                  </a:extLst>
                </a:gridCol>
                <a:gridCol w="822642">
                  <a:extLst>
                    <a:ext uri="{9D8B030D-6E8A-4147-A177-3AD203B41FA5}">
                      <a16:colId xmlns:a16="http://schemas.microsoft.com/office/drawing/2014/main" val="20000"/>
                    </a:ext>
                  </a:extLst>
                </a:gridCol>
                <a:gridCol w="840168">
                  <a:extLst>
                    <a:ext uri="{9D8B030D-6E8A-4147-A177-3AD203B41FA5}">
                      <a16:colId xmlns:a16="http://schemas.microsoft.com/office/drawing/2014/main" val="20001"/>
                    </a:ext>
                  </a:extLst>
                </a:gridCol>
                <a:gridCol w="792480">
                  <a:extLst>
                    <a:ext uri="{9D8B030D-6E8A-4147-A177-3AD203B41FA5}">
                      <a16:colId xmlns:a16="http://schemas.microsoft.com/office/drawing/2014/main" val="20002"/>
                    </a:ext>
                  </a:extLst>
                </a:gridCol>
                <a:gridCol w="641428">
                  <a:extLst>
                    <a:ext uri="{9D8B030D-6E8A-4147-A177-3AD203B41FA5}">
                      <a16:colId xmlns:a16="http://schemas.microsoft.com/office/drawing/2014/main" val="20003"/>
                    </a:ext>
                  </a:extLst>
                </a:gridCol>
                <a:gridCol w="718185">
                  <a:extLst>
                    <a:ext uri="{9D8B030D-6E8A-4147-A177-3AD203B41FA5}">
                      <a16:colId xmlns:a16="http://schemas.microsoft.com/office/drawing/2014/main" val="20004"/>
                    </a:ext>
                  </a:extLst>
                </a:gridCol>
                <a:gridCol w="840168">
                  <a:extLst>
                    <a:ext uri="{9D8B030D-6E8A-4147-A177-3AD203B41FA5}">
                      <a16:colId xmlns:a16="http://schemas.microsoft.com/office/drawing/2014/main" val="20005"/>
                    </a:ext>
                  </a:extLst>
                </a:gridCol>
                <a:gridCol w="1040315">
                  <a:extLst>
                    <a:ext uri="{9D8B030D-6E8A-4147-A177-3AD203B41FA5}">
                      <a16:colId xmlns:a16="http://schemas.microsoft.com/office/drawing/2014/main" val="20006"/>
                    </a:ext>
                  </a:extLst>
                </a:gridCol>
              </a:tblGrid>
              <a:tr h="370840">
                <a:tc>
                  <a:txBody>
                    <a:bodyPr/>
                    <a:lstStyle/>
                    <a:p>
                      <a:pPr algn="ctr"/>
                      <a:endParaRPr lang="pt-BR"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endParaRPr lang="pt-BR"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3</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4</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5</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pt-BR" dirty="0"/>
                        <a:t>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pt-BR" b="1" dirty="0">
                          <a:solidFill>
                            <a:srgbClr val="C00000"/>
                          </a:solidFill>
                        </a:rPr>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Nina…</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Novo1</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Nick…</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*-1</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Ted…</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FF0000"/>
                          </a:solidFill>
                        </a:rPr>
                        <a:t>Novo2</a:t>
                      </a:r>
                      <a:endParaRPr lang="pt-BR" dirty="0">
                        <a:solidFill>
                          <a:srgbClr val="FF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Julie…</a:t>
                      </a:r>
                      <a:endParaRPr lang="pt-BR"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94581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Reutilização dinâmica</a:t>
            </a:r>
          </a:p>
        </p:txBody>
      </p:sp>
      <p:sp>
        <p:nvSpPr>
          <p:cNvPr id="3" name="Espaço Reservado para Conteúdo 2"/>
          <p:cNvSpPr>
            <a:spLocks noGrp="1"/>
          </p:cNvSpPr>
          <p:nvPr>
            <p:ph idx="1"/>
          </p:nvPr>
        </p:nvSpPr>
        <p:spPr/>
        <p:txBody>
          <a:bodyPr>
            <a:normAutofit/>
          </a:bodyPr>
          <a:lstStyle/>
          <a:p>
            <a:r>
              <a:rPr lang="pt-BR" sz="2400" dirty="0"/>
              <a:t>Arquivos com registros de </a:t>
            </a:r>
            <a:r>
              <a:rPr lang="pt-BR" sz="2400" dirty="0">
                <a:solidFill>
                  <a:srgbClr val="008000"/>
                </a:solidFill>
              </a:rPr>
              <a:t>tamanho </a:t>
            </a:r>
            <a:r>
              <a:rPr lang="pt-BR" sz="2400" b="1" dirty="0">
                <a:solidFill>
                  <a:srgbClr val="008000"/>
                </a:solidFill>
              </a:rPr>
              <a:t>variável</a:t>
            </a:r>
          </a:p>
          <a:p>
            <a:pPr lvl="1"/>
            <a:r>
              <a:rPr lang="pt-BR" sz="2000" dirty="0"/>
              <a:t>Tratamento similar, porém utilizamos uma </a:t>
            </a:r>
            <a:r>
              <a:rPr lang="pt-BR" sz="2000" b="1" dirty="0">
                <a:solidFill>
                  <a:srgbClr val="008000"/>
                </a:solidFill>
              </a:rPr>
              <a:t>lista</a:t>
            </a:r>
            <a:r>
              <a:rPr lang="pt-BR" sz="2000" dirty="0"/>
              <a:t> </a:t>
            </a:r>
            <a:r>
              <a:rPr lang="pt-BR" sz="2000" dirty="0">
                <a:sym typeface="Wingdings" panose="05000000000000000000" pitchFamily="2" charset="2"/>
              </a:rPr>
              <a:t></a:t>
            </a:r>
            <a:r>
              <a:rPr lang="pt-BR" sz="2000" dirty="0"/>
              <a:t> </a:t>
            </a:r>
            <a:r>
              <a:rPr lang="pt-BR" sz="2000" b="1" dirty="0">
                <a:solidFill>
                  <a:schemeClr val="accent6">
                    <a:lumMod val="75000"/>
                  </a:schemeClr>
                </a:solidFill>
              </a:rPr>
              <a:t>Lista</a:t>
            </a:r>
            <a:r>
              <a:rPr lang="pt-BR" sz="2000" b="1" dirty="0"/>
              <a:t> </a:t>
            </a:r>
            <a:r>
              <a:rPr lang="pt-BR" sz="2000" b="1" dirty="0">
                <a:solidFill>
                  <a:schemeClr val="accent6">
                    <a:lumMod val="75000"/>
                  </a:schemeClr>
                </a:solidFill>
              </a:rPr>
              <a:t>de Espaços Disponíveis (LED)</a:t>
            </a:r>
          </a:p>
          <a:p>
            <a:pPr lvl="1"/>
            <a:r>
              <a:rPr lang="pt-BR" sz="2200" dirty="0">
                <a:solidFill>
                  <a:schemeClr val="accent6">
                    <a:lumMod val="75000"/>
                  </a:schemeClr>
                </a:solidFill>
              </a:rPr>
              <a:t>Os ponteiros da LED são os </a:t>
            </a:r>
            <a:r>
              <a:rPr lang="pt-BR" sz="2200" i="1" dirty="0">
                <a:solidFill>
                  <a:schemeClr val="accent6">
                    <a:lumMod val="75000"/>
                  </a:schemeClr>
                </a:solidFill>
              </a:rPr>
              <a:t>byte-offsets </a:t>
            </a:r>
            <a:r>
              <a:rPr lang="pt-BR" sz="2200" dirty="0">
                <a:solidFill>
                  <a:schemeClr val="accent6">
                    <a:lumMod val="75000"/>
                  </a:schemeClr>
                </a:solidFill>
              </a:rPr>
              <a:t>dos registros removidos</a:t>
            </a:r>
          </a:p>
          <a:p>
            <a:pPr lvl="1"/>
            <a:r>
              <a:rPr lang="pt-BR" sz="2200" dirty="0"/>
              <a:t>Não sabemos mais se o 1º espaço da LED será suficientemente grande para armazenar o registro que está sendo inserido</a:t>
            </a:r>
          </a:p>
          <a:p>
            <a:pPr lvl="2"/>
            <a:r>
              <a:rPr lang="pt-BR" sz="1800" dirty="0"/>
              <a:t>Precisaremos buscar na LED por um espaço adequado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LED</a:t>
            </a:r>
          </a:p>
        </p:txBody>
      </p:sp>
      <p:sp>
        <p:nvSpPr>
          <p:cNvPr id="3" name="Espaço Reservado para Conteúdo 2"/>
          <p:cNvSpPr>
            <a:spLocks noGrp="1"/>
          </p:cNvSpPr>
          <p:nvPr>
            <p:ph idx="1"/>
          </p:nvPr>
        </p:nvSpPr>
        <p:spPr/>
        <p:txBody>
          <a:bodyPr>
            <a:normAutofit/>
          </a:bodyPr>
          <a:lstStyle/>
          <a:p>
            <a:r>
              <a:rPr lang="pt-BR" sz="2400" b="1" dirty="0">
                <a:solidFill>
                  <a:schemeClr val="accent6">
                    <a:lumMod val="75000"/>
                  </a:schemeClr>
                </a:solidFill>
              </a:rPr>
              <a:t>LED</a:t>
            </a:r>
            <a:r>
              <a:rPr lang="pt-BR" sz="2400" dirty="0"/>
              <a:t> (</a:t>
            </a:r>
            <a:r>
              <a:rPr lang="pt-BR" sz="2400" b="1" u="sng" dirty="0"/>
              <a:t>L</a:t>
            </a:r>
            <a:r>
              <a:rPr lang="pt-BR" sz="2400" u="sng" dirty="0"/>
              <a:t>ista</a:t>
            </a:r>
            <a:r>
              <a:rPr lang="pt-BR" sz="2400" dirty="0"/>
              <a:t> de </a:t>
            </a:r>
            <a:r>
              <a:rPr lang="pt-BR" sz="2400" b="1" dirty="0"/>
              <a:t>E</a:t>
            </a:r>
            <a:r>
              <a:rPr lang="pt-BR" sz="2400" dirty="0"/>
              <a:t>spaços </a:t>
            </a:r>
            <a:r>
              <a:rPr lang="pt-BR" sz="2400" b="1" dirty="0"/>
              <a:t>D</a:t>
            </a:r>
            <a:r>
              <a:rPr lang="pt-BR" sz="2400" dirty="0"/>
              <a:t>isponíveis)</a:t>
            </a:r>
          </a:p>
          <a:p>
            <a:pPr lvl="2"/>
            <a:endParaRPr lang="pt-BR" sz="1600" dirty="0"/>
          </a:p>
          <a:p>
            <a:r>
              <a:rPr lang="pt-BR" sz="2400" dirty="0"/>
              <a:t>Arquivo original</a:t>
            </a:r>
            <a:endParaRPr lang="pt-BR" sz="1400" dirty="0"/>
          </a:p>
          <a:p>
            <a:endParaRPr lang="pt-BR" sz="2400" dirty="0"/>
          </a:p>
          <a:p>
            <a:endParaRPr lang="pt-BR" sz="2400" dirty="0"/>
          </a:p>
          <a:p>
            <a:endParaRPr lang="pt-BR" sz="2400" dirty="0"/>
          </a:p>
          <a:p>
            <a:r>
              <a:rPr lang="pt-BR" sz="2400" dirty="0"/>
              <a:t>Após a remoção do 2º registro </a:t>
            </a:r>
            <a:r>
              <a:rPr lang="pt-BR" sz="2400" dirty="0">
                <a:sym typeface="Wingdings" pitchFamily="2" charset="2"/>
              </a:rPr>
              <a:t></a:t>
            </a:r>
            <a:r>
              <a:rPr lang="pt-BR" sz="2400" dirty="0"/>
              <a:t> </a:t>
            </a:r>
            <a:r>
              <a:rPr lang="pt-BR" sz="2400" i="1" dirty="0">
                <a:solidFill>
                  <a:schemeClr val="accent6">
                    <a:lumMod val="75000"/>
                  </a:schemeClr>
                </a:solidFill>
              </a:rPr>
              <a:t>byte-offset</a:t>
            </a:r>
            <a:r>
              <a:rPr lang="pt-BR" sz="2400" dirty="0">
                <a:solidFill>
                  <a:schemeClr val="accent6">
                    <a:lumMod val="75000"/>
                  </a:schemeClr>
                </a:solidFill>
              </a:rPr>
              <a:t> </a:t>
            </a:r>
            <a:r>
              <a:rPr lang="pt-BR" sz="2400" b="1" dirty="0">
                <a:solidFill>
                  <a:schemeClr val="accent6">
                    <a:lumMod val="75000"/>
                  </a:schemeClr>
                </a:solidFill>
              </a:rPr>
              <a:t>46</a:t>
            </a:r>
          </a:p>
        </p:txBody>
      </p:sp>
      <p:sp>
        <p:nvSpPr>
          <p:cNvPr id="4" name="CaixaDeTexto 3"/>
          <p:cNvSpPr txBox="1"/>
          <p:nvPr/>
        </p:nvSpPr>
        <p:spPr>
          <a:xfrm>
            <a:off x="827584" y="2732727"/>
            <a:ext cx="7429552" cy="1200329"/>
          </a:xfrm>
          <a:prstGeom prst="rect">
            <a:avLst/>
          </a:prstGeom>
          <a:noFill/>
        </p:spPr>
        <p:txBody>
          <a:bodyPr wrap="square" rtlCol="0">
            <a:spAutoFit/>
          </a:bodyPr>
          <a:lstStyle/>
          <a:p>
            <a:r>
              <a:rPr lang="pt-BR" dirty="0">
                <a:solidFill>
                  <a:srgbClr val="FF0000"/>
                </a:solidFill>
              </a:rPr>
              <a:t>Cabeça(LED) → -1</a:t>
            </a:r>
          </a:p>
          <a:p>
            <a:r>
              <a:rPr lang="pt-BR" b="1" dirty="0">
                <a:solidFill>
                  <a:srgbClr val="0070C0"/>
                </a:solidFill>
              </a:rPr>
              <a:t>....</a:t>
            </a:r>
            <a:r>
              <a:rPr lang="pt-BR" b="1" dirty="0">
                <a:solidFill>
                  <a:srgbClr val="0000FF"/>
                </a:solidFill>
              </a:rPr>
              <a:t>40</a:t>
            </a:r>
            <a:r>
              <a:rPr lang="pt-BR" dirty="0"/>
              <a:t>Ames|John|123 Maple|Stillwater|OK|74075|</a:t>
            </a:r>
            <a:r>
              <a:rPr lang="pt-BR" b="1" dirty="0">
                <a:solidFill>
                  <a:srgbClr val="0000FF"/>
                </a:solidFill>
              </a:rPr>
              <a:t>64</a:t>
            </a:r>
            <a:r>
              <a:rPr lang="pt-BR" dirty="0"/>
              <a:t>Morrison|Sebastian| 9035 South </a:t>
            </a:r>
            <a:r>
              <a:rPr lang="pt-BR" dirty="0" err="1"/>
              <a:t>Hillcrest|Forest</a:t>
            </a:r>
            <a:r>
              <a:rPr lang="pt-BR" dirty="0"/>
              <a:t> Village|OK|74820|</a:t>
            </a:r>
            <a:r>
              <a:rPr lang="pt-BR" b="1" dirty="0">
                <a:solidFill>
                  <a:srgbClr val="0000FF"/>
                </a:solidFill>
              </a:rPr>
              <a:t>45</a:t>
            </a:r>
            <a:r>
              <a:rPr lang="pt-BR" dirty="0"/>
              <a:t>Brown|Martha|625 Kim </a:t>
            </a:r>
            <a:r>
              <a:rPr lang="pt-BR" dirty="0" err="1"/>
              <a:t>bark|Des</a:t>
            </a:r>
            <a:r>
              <a:rPr lang="pt-BR" dirty="0"/>
              <a:t> Moines|IA|50311|</a:t>
            </a:r>
          </a:p>
        </p:txBody>
      </p:sp>
      <p:sp>
        <p:nvSpPr>
          <p:cNvPr id="5" name="CaixaDeTexto 4"/>
          <p:cNvSpPr txBox="1"/>
          <p:nvPr/>
        </p:nvSpPr>
        <p:spPr>
          <a:xfrm>
            <a:off x="827584" y="4581128"/>
            <a:ext cx="7416824" cy="1200329"/>
          </a:xfrm>
          <a:prstGeom prst="rect">
            <a:avLst/>
          </a:prstGeom>
          <a:noFill/>
        </p:spPr>
        <p:txBody>
          <a:bodyPr wrap="square" rtlCol="0">
            <a:spAutoFit/>
          </a:bodyPr>
          <a:lstStyle/>
          <a:p>
            <a:r>
              <a:rPr lang="pt-BR" dirty="0">
                <a:solidFill>
                  <a:srgbClr val="FF0000"/>
                </a:solidFill>
              </a:rPr>
              <a:t>Cabeça(LED) → </a:t>
            </a:r>
            <a:r>
              <a:rPr lang="pt-BR" b="1" dirty="0">
                <a:solidFill>
                  <a:srgbClr val="FF0000"/>
                </a:solidFill>
              </a:rPr>
              <a:t>46</a:t>
            </a:r>
            <a:endParaRPr lang="pt-BR" b="1" dirty="0">
              <a:solidFill>
                <a:srgbClr val="009900"/>
              </a:solidFill>
            </a:endParaRPr>
          </a:p>
          <a:p>
            <a:r>
              <a:rPr lang="pt-BR" b="1" dirty="0">
                <a:solidFill>
                  <a:srgbClr val="0000FF"/>
                </a:solidFill>
              </a:rPr>
              <a:t>....40</a:t>
            </a:r>
            <a:r>
              <a:rPr lang="pt-BR" dirty="0"/>
              <a:t>Ames|John|123 Maple|Stillwater|OK|74075|</a:t>
            </a:r>
            <a:r>
              <a:rPr lang="pt-BR" b="1" dirty="0">
                <a:solidFill>
                  <a:srgbClr val="FF0000"/>
                </a:solidFill>
              </a:rPr>
              <a:t>64*   -1</a:t>
            </a:r>
            <a:r>
              <a:rPr lang="pt-BR" dirty="0"/>
              <a:t>son|Sebastian| 9035 South </a:t>
            </a:r>
            <a:r>
              <a:rPr lang="pt-BR" dirty="0" err="1"/>
              <a:t>Hillcrest|Forest</a:t>
            </a:r>
            <a:r>
              <a:rPr lang="pt-BR" dirty="0"/>
              <a:t> Village|OK|74820|</a:t>
            </a:r>
            <a:r>
              <a:rPr lang="pt-BR" b="1" dirty="0">
                <a:solidFill>
                  <a:srgbClr val="0000FF"/>
                </a:solidFill>
              </a:rPr>
              <a:t>45</a:t>
            </a:r>
            <a:r>
              <a:rPr lang="pt-BR" dirty="0"/>
              <a:t>Brown|Martha|625 Kim </a:t>
            </a:r>
            <a:r>
              <a:rPr lang="pt-BR" dirty="0" err="1"/>
              <a:t>bark|Des</a:t>
            </a:r>
            <a:r>
              <a:rPr lang="pt-BR" dirty="0"/>
              <a:t> Moines|IA|50311|</a:t>
            </a:r>
          </a:p>
        </p:txBody>
      </p:sp>
      <p:sp>
        <p:nvSpPr>
          <p:cNvPr id="6" name="CaixaDeTexto 5"/>
          <p:cNvSpPr txBox="1"/>
          <p:nvPr/>
        </p:nvSpPr>
        <p:spPr>
          <a:xfrm>
            <a:off x="5224653" y="1660028"/>
            <a:ext cx="3832531" cy="1077218"/>
          </a:xfrm>
          <a:prstGeom prst="rect">
            <a:avLst/>
          </a:prstGeom>
          <a:solidFill>
            <a:schemeClr val="accent6">
              <a:lumMod val="40000"/>
              <a:lumOff val="60000"/>
            </a:schemeClr>
          </a:solidFill>
        </p:spPr>
        <p:txBody>
          <a:bodyPr wrap="square" rtlCol="0">
            <a:spAutoFit/>
          </a:bodyPr>
          <a:lstStyle/>
          <a:p>
            <a:r>
              <a:rPr lang="pt-BR" sz="1600" dirty="0"/>
              <a:t>Suponha que cada registro seja precedido por 2 bytes que armazenam o seu tamanho e que </a:t>
            </a:r>
            <a:r>
              <a:rPr lang="pt-BR" sz="1600" b="1" dirty="0"/>
              <a:t>o cabeçalho ocupa os 4 primeiros bytes do arquivo</a:t>
            </a:r>
            <a:r>
              <a:rPr lang="pt-BR" sz="16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Reutilização dinâmica</a:t>
            </a:r>
          </a:p>
        </p:txBody>
      </p:sp>
      <p:sp>
        <p:nvSpPr>
          <p:cNvPr id="3" name="Espaço Reservado para Conteúdo 2"/>
          <p:cNvSpPr>
            <a:spLocks noGrp="1"/>
          </p:cNvSpPr>
          <p:nvPr>
            <p:ph idx="1"/>
          </p:nvPr>
        </p:nvSpPr>
        <p:spPr/>
        <p:txBody>
          <a:bodyPr>
            <a:normAutofit/>
          </a:bodyPr>
          <a:lstStyle/>
          <a:p>
            <a:r>
              <a:rPr lang="pt-BR" sz="2400" dirty="0"/>
              <a:t>Criação e manutenção da </a:t>
            </a:r>
            <a:r>
              <a:rPr lang="pt-BR" sz="2400" dirty="0">
                <a:solidFill>
                  <a:schemeClr val="accent6">
                    <a:lumMod val="75000"/>
                  </a:schemeClr>
                </a:solidFill>
              </a:rPr>
              <a:t>LED</a:t>
            </a:r>
          </a:p>
          <a:p>
            <a:pPr lvl="1"/>
            <a:r>
              <a:rPr lang="pt-BR" sz="2000" dirty="0"/>
              <a:t>Armazenamos a cabeça da LED no </a:t>
            </a:r>
            <a:r>
              <a:rPr lang="pt-BR" sz="2000" u="sng" dirty="0"/>
              <a:t>cabeçalho do arquivo</a:t>
            </a:r>
          </a:p>
          <a:p>
            <a:pPr lvl="1"/>
            <a:r>
              <a:rPr lang="pt-BR" sz="2000" dirty="0"/>
              <a:t>A cabeça da LED guarda o </a:t>
            </a:r>
            <a:r>
              <a:rPr lang="pt-BR" sz="2000" i="1" dirty="0">
                <a:solidFill>
                  <a:schemeClr val="accent6">
                    <a:lumMod val="75000"/>
                  </a:schemeClr>
                </a:solidFill>
              </a:rPr>
              <a:t>byte-offset</a:t>
            </a:r>
            <a:r>
              <a:rPr lang="pt-BR" sz="2000" dirty="0">
                <a:solidFill>
                  <a:schemeClr val="accent6">
                    <a:lumMod val="75000"/>
                  </a:schemeClr>
                </a:solidFill>
              </a:rPr>
              <a:t> do último registro removido</a:t>
            </a:r>
            <a:endParaRPr lang="pt-BR" sz="2000" dirty="0"/>
          </a:p>
          <a:p>
            <a:pPr lvl="1"/>
            <a:r>
              <a:rPr lang="pt-BR" sz="2000" dirty="0"/>
              <a:t>Quando um registro é removido, ele é marcado e inserido na cabeça da LED </a:t>
            </a:r>
          </a:p>
          <a:p>
            <a:pPr lvl="1"/>
            <a:r>
              <a:rPr lang="pt-BR" sz="2000" dirty="0"/>
              <a:t>Para reutilizar um espaço disponível na inserção de um novo registro:</a:t>
            </a:r>
          </a:p>
          <a:p>
            <a:pPr lvl="2"/>
            <a:r>
              <a:rPr lang="pt-BR" sz="1800" dirty="0"/>
              <a:t>Encontre o 1º espaço na LED tal que |registro| ≤ |espaço|</a:t>
            </a:r>
          </a:p>
          <a:p>
            <a:pPr lvl="3"/>
            <a:r>
              <a:rPr lang="pt-BR" sz="1600" dirty="0"/>
              <a:t>Pode acontecer de se pesquisar a LED inteira e não se achar um </a:t>
            </a:r>
            <a:r>
              <a:rPr lang="pt-BR" sz="1600" dirty="0">
                <a:solidFill>
                  <a:schemeClr val="accent6">
                    <a:lumMod val="75000"/>
                  </a:schemeClr>
                </a:solidFill>
              </a:rPr>
              <a:t>espaço adequado </a:t>
            </a:r>
            <a:r>
              <a:rPr lang="pt-BR" sz="1600" dirty="0"/>
              <a:t>(espaço adequado = grande o suficiente)</a:t>
            </a:r>
          </a:p>
          <a:p>
            <a:pPr lvl="2"/>
            <a:r>
              <a:rPr lang="pt-BR" sz="1800" dirty="0"/>
              <a:t>Se um espaço adequado for encontrado, então ele é removido da LED e reutilizado na inserção do novo registro</a:t>
            </a:r>
          </a:p>
          <a:p>
            <a:pPr lvl="2"/>
            <a:r>
              <a:rPr lang="pt-BR" sz="1800" dirty="0"/>
              <a:t>Senão não houver um espaço adequado, o novo registro é inserido no final do arquivo e a LED não é modificada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a:t>Exemplo</a:t>
            </a:r>
            <a:endParaRPr lang="pt-BR" sz="3600" dirty="0"/>
          </a:p>
        </p:txBody>
      </p:sp>
      <p:sp>
        <p:nvSpPr>
          <p:cNvPr id="6" name="Espaço Reservado para Conteúdo 5"/>
          <p:cNvSpPr>
            <a:spLocks noGrp="1"/>
          </p:cNvSpPr>
          <p:nvPr>
            <p:ph idx="1"/>
          </p:nvPr>
        </p:nvSpPr>
        <p:spPr/>
        <p:txBody>
          <a:bodyPr>
            <a:normAutofit/>
          </a:bodyPr>
          <a:lstStyle/>
          <a:p>
            <a:endParaRPr lang="pt-BR" sz="2400" dirty="0">
              <a:solidFill>
                <a:srgbClr val="FF0000"/>
              </a:solidFill>
            </a:endParaRPr>
          </a:p>
          <a:p>
            <a:endParaRPr lang="pt-BR" sz="2400" dirty="0"/>
          </a:p>
          <a:p>
            <a:endParaRPr lang="pt-BR" sz="2400" dirty="0"/>
          </a:p>
          <a:p>
            <a:endParaRPr lang="pt-BR" sz="2400" dirty="0"/>
          </a:p>
          <a:p>
            <a:endParaRPr lang="pt-BR" sz="2400" b="1" u="sng" dirty="0"/>
          </a:p>
          <a:p>
            <a:endParaRPr lang="pt-BR" sz="2400" dirty="0"/>
          </a:p>
          <a:p>
            <a:endParaRPr lang="pt-BR" sz="2400" dirty="0"/>
          </a:p>
          <a:p>
            <a:endParaRPr lang="pt-BR" sz="2400" dirty="0"/>
          </a:p>
          <a:p>
            <a:endParaRPr lang="pt-BR" sz="2400" dirty="0"/>
          </a:p>
          <a:p>
            <a:r>
              <a:rPr lang="pt-BR" sz="2400" dirty="0"/>
              <a:t>Podemos reduzir a </a:t>
            </a:r>
            <a:r>
              <a:rPr lang="pt-BR" sz="2400" u="sng" dirty="0">
                <a:solidFill>
                  <a:schemeClr val="accent6">
                    <a:lumMod val="75000"/>
                  </a:schemeClr>
                </a:solidFill>
              </a:rPr>
              <a:t>fragmentação interna</a:t>
            </a:r>
            <a:r>
              <a:rPr lang="pt-BR" sz="2400" dirty="0"/>
              <a:t> fazendo com que o espaço que sobra de uma inserção retorne para a LED</a:t>
            </a:r>
          </a:p>
        </p:txBody>
      </p:sp>
      <p:sp>
        <p:nvSpPr>
          <p:cNvPr id="8" name="CaixaDeTexto 7"/>
          <p:cNvSpPr txBox="1"/>
          <p:nvPr/>
        </p:nvSpPr>
        <p:spPr>
          <a:xfrm>
            <a:off x="827584" y="1628800"/>
            <a:ext cx="7272808" cy="3293209"/>
          </a:xfrm>
          <a:prstGeom prst="rect">
            <a:avLst/>
          </a:prstGeom>
          <a:noFill/>
        </p:spPr>
        <p:txBody>
          <a:bodyPr wrap="square" rtlCol="0">
            <a:spAutoFit/>
          </a:bodyPr>
          <a:lstStyle/>
          <a:p>
            <a:pPr marL="182563" indent="-182563">
              <a:buFont typeface="Arial" pitchFamily="34" charset="0"/>
              <a:buChar char="•"/>
            </a:pPr>
            <a:r>
              <a:rPr lang="pt-BR" b="1" dirty="0"/>
              <a:t>Antes da inserção</a:t>
            </a:r>
            <a:endParaRPr lang="pt-BR" b="1" dirty="0">
              <a:solidFill>
                <a:srgbClr val="FF0000"/>
              </a:solidFill>
            </a:endParaRPr>
          </a:p>
          <a:p>
            <a:pPr>
              <a:spcBef>
                <a:spcPts val="600"/>
              </a:spcBef>
            </a:pPr>
            <a:r>
              <a:rPr lang="pt-BR" dirty="0">
                <a:solidFill>
                  <a:srgbClr val="FF0000"/>
                </a:solidFill>
              </a:rPr>
              <a:t>Cabeça(LED) → 46</a:t>
            </a:r>
          </a:p>
          <a:p>
            <a:r>
              <a:rPr lang="pt-BR" b="1" dirty="0">
                <a:solidFill>
                  <a:srgbClr val="0000FF"/>
                </a:solidFill>
              </a:rPr>
              <a:t>....40</a:t>
            </a:r>
            <a:r>
              <a:rPr lang="pt-BR" dirty="0"/>
              <a:t>Ames|John|123 Maple|Stillwater|OK|74075|</a:t>
            </a:r>
            <a:r>
              <a:rPr lang="pt-BR" b="1" dirty="0">
                <a:solidFill>
                  <a:schemeClr val="accent6"/>
                </a:solidFill>
              </a:rPr>
              <a:t>64*    -1</a:t>
            </a:r>
            <a:r>
              <a:rPr lang="pt-BR" dirty="0">
                <a:solidFill>
                  <a:schemeClr val="accent6"/>
                </a:solidFill>
              </a:rPr>
              <a:t>son|Sebastian| 9035 South </a:t>
            </a:r>
            <a:r>
              <a:rPr lang="pt-BR" dirty="0" err="1">
                <a:solidFill>
                  <a:schemeClr val="accent6"/>
                </a:solidFill>
              </a:rPr>
              <a:t>Hillcrest|Forest</a:t>
            </a:r>
            <a:r>
              <a:rPr lang="pt-BR" dirty="0">
                <a:solidFill>
                  <a:schemeClr val="accent6"/>
                </a:solidFill>
              </a:rPr>
              <a:t> Village|OK|74820|</a:t>
            </a:r>
            <a:r>
              <a:rPr lang="pt-BR" b="1" dirty="0">
                <a:solidFill>
                  <a:srgbClr val="0000FF"/>
                </a:solidFill>
              </a:rPr>
              <a:t>45</a:t>
            </a:r>
            <a:r>
              <a:rPr lang="pt-BR" dirty="0"/>
              <a:t>Brown|Martha|625 Kim </a:t>
            </a:r>
            <a:r>
              <a:rPr lang="pt-BR" dirty="0" err="1"/>
              <a:t>bark|Des</a:t>
            </a:r>
            <a:r>
              <a:rPr lang="pt-BR" dirty="0"/>
              <a:t> Moines|IA|50311|</a:t>
            </a:r>
          </a:p>
          <a:p>
            <a:endParaRPr lang="pt-BR" dirty="0"/>
          </a:p>
          <a:p>
            <a:pPr marL="182563" indent="-182563">
              <a:buFont typeface="Arial" pitchFamily="34" charset="0"/>
              <a:buChar char="•"/>
            </a:pPr>
            <a:r>
              <a:rPr lang="pt-BR" b="1" dirty="0"/>
              <a:t>Após inserção de um registro de </a:t>
            </a:r>
            <a:r>
              <a:rPr lang="pt-BR" b="1" u="sng" dirty="0"/>
              <a:t>27 bytes</a:t>
            </a:r>
          </a:p>
          <a:p>
            <a:pPr>
              <a:spcBef>
                <a:spcPts val="600"/>
              </a:spcBef>
            </a:pPr>
            <a:r>
              <a:rPr lang="pt-BR" dirty="0">
                <a:solidFill>
                  <a:srgbClr val="FF0000"/>
                </a:solidFill>
              </a:rPr>
              <a:t>Cabeça (LED) → </a:t>
            </a:r>
            <a:r>
              <a:rPr lang="pt-BR" b="1" dirty="0">
                <a:solidFill>
                  <a:srgbClr val="FF0000"/>
                </a:solidFill>
              </a:rPr>
              <a:t>-1</a:t>
            </a:r>
          </a:p>
          <a:p>
            <a:r>
              <a:rPr lang="pt-BR" b="1" dirty="0">
                <a:solidFill>
                  <a:srgbClr val="0000FF"/>
                </a:solidFill>
              </a:rPr>
              <a:t>....40</a:t>
            </a:r>
            <a:r>
              <a:rPr lang="pt-BR" dirty="0"/>
              <a:t>Ames|John|123 Maple|Stillwater|OK|74075|</a:t>
            </a:r>
            <a:r>
              <a:rPr lang="pt-BR" b="1" dirty="0">
                <a:solidFill>
                  <a:srgbClr val="009900"/>
                </a:solidFill>
              </a:rPr>
              <a:t>64Ham|Al|28 </a:t>
            </a:r>
            <a:r>
              <a:rPr lang="pt-BR" b="1" dirty="0" err="1">
                <a:solidFill>
                  <a:srgbClr val="009900"/>
                </a:solidFill>
              </a:rPr>
              <a:t>Elm|Ada</a:t>
            </a:r>
            <a:r>
              <a:rPr lang="pt-BR" b="1" dirty="0">
                <a:solidFill>
                  <a:srgbClr val="009900"/>
                </a:solidFill>
              </a:rPr>
              <a:t> |OK|70332|........................................................</a:t>
            </a:r>
            <a:r>
              <a:rPr lang="pt-BR" b="1" dirty="0">
                <a:solidFill>
                  <a:srgbClr val="0000FF"/>
                </a:solidFill>
              </a:rPr>
              <a:t>45</a:t>
            </a:r>
            <a:r>
              <a:rPr lang="pt-BR" dirty="0"/>
              <a:t>Brown|Martha|625 Kim </a:t>
            </a:r>
            <a:r>
              <a:rPr lang="pt-BR" dirty="0" err="1"/>
              <a:t>bark|Des</a:t>
            </a:r>
            <a:r>
              <a:rPr lang="pt-BR" dirty="0"/>
              <a:t> Moines|IA|50311|</a:t>
            </a:r>
          </a:p>
        </p:txBody>
      </p:sp>
      <p:sp>
        <p:nvSpPr>
          <p:cNvPr id="9" name="Texto explicativo retangular com cantos arredondados 8"/>
          <p:cNvSpPr/>
          <p:nvPr/>
        </p:nvSpPr>
        <p:spPr>
          <a:xfrm>
            <a:off x="4283968" y="4874031"/>
            <a:ext cx="3528392" cy="461079"/>
          </a:xfrm>
          <a:prstGeom prst="wedgeRoundRectCallout">
            <a:avLst>
              <a:gd name="adj1" fmla="val -60973"/>
              <a:gd name="adj2" fmla="val -133668"/>
              <a:gd name="adj3" fmla="val 16667"/>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t>37 bytes de fragmentação interna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a:t>Fragmentação interna</a:t>
            </a:r>
            <a:endParaRPr lang="pt-BR" sz="3600" dirty="0"/>
          </a:p>
        </p:txBody>
      </p:sp>
      <p:sp>
        <p:nvSpPr>
          <p:cNvPr id="6" name="Espaço Reservado para Conteúdo 5"/>
          <p:cNvSpPr>
            <a:spLocks noGrp="1"/>
          </p:cNvSpPr>
          <p:nvPr>
            <p:ph idx="1"/>
          </p:nvPr>
        </p:nvSpPr>
        <p:spPr>
          <a:xfrm>
            <a:off x="457200" y="1600200"/>
            <a:ext cx="8229600" cy="5257800"/>
          </a:xfrm>
        </p:spPr>
        <p:txBody>
          <a:bodyPr>
            <a:normAutofit/>
          </a:bodyPr>
          <a:lstStyle/>
          <a:p>
            <a:endParaRPr lang="pt-BR" sz="2400" dirty="0"/>
          </a:p>
          <a:p>
            <a:endParaRPr lang="pt-BR" sz="2400" dirty="0"/>
          </a:p>
          <a:p>
            <a:endParaRPr lang="pt-BR" sz="2400" dirty="0"/>
          </a:p>
          <a:p>
            <a:endParaRPr lang="pt-BR" sz="2400" dirty="0"/>
          </a:p>
          <a:p>
            <a:endParaRPr lang="pt-BR" sz="2400" dirty="0"/>
          </a:p>
          <a:p>
            <a:endParaRPr lang="pt-BR" dirty="0"/>
          </a:p>
          <a:p>
            <a:endParaRPr lang="pt-BR" sz="3200" dirty="0"/>
          </a:p>
        </p:txBody>
      </p:sp>
      <p:sp>
        <p:nvSpPr>
          <p:cNvPr id="5" name="CaixaDeTexto 4"/>
          <p:cNvSpPr txBox="1"/>
          <p:nvPr/>
        </p:nvSpPr>
        <p:spPr>
          <a:xfrm>
            <a:off x="899592" y="1700808"/>
            <a:ext cx="7286676" cy="3231654"/>
          </a:xfrm>
          <a:prstGeom prst="rect">
            <a:avLst/>
          </a:prstGeom>
          <a:noFill/>
        </p:spPr>
        <p:txBody>
          <a:bodyPr wrap="square" rtlCol="0">
            <a:spAutoFit/>
          </a:bodyPr>
          <a:lstStyle/>
          <a:p>
            <a:pPr marL="182563" indent="-182563">
              <a:buFont typeface="Arial" pitchFamily="34" charset="0"/>
              <a:buChar char="•"/>
            </a:pPr>
            <a:r>
              <a:rPr lang="pt-BR" b="1" dirty="0"/>
              <a:t>Antes da inserção</a:t>
            </a:r>
            <a:endParaRPr lang="pt-BR" dirty="0">
              <a:solidFill>
                <a:srgbClr val="FF0000"/>
              </a:solidFill>
            </a:endParaRPr>
          </a:p>
          <a:p>
            <a:pPr>
              <a:spcBef>
                <a:spcPts val="600"/>
              </a:spcBef>
            </a:pPr>
            <a:r>
              <a:rPr lang="pt-BR" dirty="0">
                <a:solidFill>
                  <a:srgbClr val="FF0000"/>
                </a:solidFill>
              </a:rPr>
              <a:t>Cabeça(LED) → </a:t>
            </a:r>
            <a:r>
              <a:rPr lang="pt-BR" b="1" dirty="0">
                <a:solidFill>
                  <a:srgbClr val="FF0000"/>
                </a:solidFill>
              </a:rPr>
              <a:t>46</a:t>
            </a:r>
          </a:p>
          <a:p>
            <a:r>
              <a:rPr lang="pt-BR" b="1" dirty="0">
                <a:solidFill>
                  <a:srgbClr val="0000FF"/>
                </a:solidFill>
              </a:rPr>
              <a:t>....40</a:t>
            </a:r>
            <a:r>
              <a:rPr lang="pt-BR" dirty="0"/>
              <a:t>Ames|John|123 Maple|Stillwater|OK|74075|</a:t>
            </a:r>
            <a:r>
              <a:rPr lang="pt-BR" b="1" dirty="0">
                <a:solidFill>
                  <a:schemeClr val="accent6"/>
                </a:solidFill>
              </a:rPr>
              <a:t>64*    -1</a:t>
            </a:r>
            <a:r>
              <a:rPr lang="pt-BR" dirty="0">
                <a:solidFill>
                  <a:schemeClr val="accent6"/>
                </a:solidFill>
              </a:rPr>
              <a:t>son|Sebastian| 9035 South </a:t>
            </a:r>
            <a:r>
              <a:rPr lang="pt-BR" dirty="0" err="1">
                <a:solidFill>
                  <a:schemeClr val="accent6"/>
                </a:solidFill>
              </a:rPr>
              <a:t>Hillcrest|Forest</a:t>
            </a:r>
            <a:r>
              <a:rPr lang="pt-BR" dirty="0">
                <a:solidFill>
                  <a:schemeClr val="accent6"/>
                </a:solidFill>
              </a:rPr>
              <a:t> Village|OK|74820|</a:t>
            </a:r>
            <a:r>
              <a:rPr lang="pt-BR" b="1" dirty="0">
                <a:solidFill>
                  <a:srgbClr val="0000FF"/>
                </a:solidFill>
              </a:rPr>
              <a:t>45</a:t>
            </a:r>
            <a:r>
              <a:rPr lang="pt-BR" dirty="0"/>
              <a:t>Brown|Martha|625 Kim </a:t>
            </a:r>
            <a:r>
              <a:rPr lang="pt-BR" dirty="0" err="1"/>
              <a:t>bark|Des</a:t>
            </a:r>
            <a:r>
              <a:rPr lang="pt-BR" dirty="0"/>
              <a:t> Moines|IA|50311|</a:t>
            </a:r>
          </a:p>
          <a:p>
            <a:endParaRPr lang="pt-BR" sz="1400" dirty="0"/>
          </a:p>
          <a:p>
            <a:pPr marL="182563" indent="-182563">
              <a:buFont typeface="Arial" pitchFamily="34" charset="0"/>
              <a:buChar char="•"/>
            </a:pPr>
            <a:r>
              <a:rPr lang="pt-BR" b="1" dirty="0"/>
              <a:t>Após inserção de um registro de </a:t>
            </a:r>
            <a:r>
              <a:rPr lang="pt-BR" b="1" u="sng" dirty="0"/>
              <a:t>27 bytes + 2 bytes (tamanho) = 29 bytes</a:t>
            </a:r>
            <a:endParaRPr lang="pt-BR" dirty="0"/>
          </a:p>
          <a:p>
            <a:pPr>
              <a:spcBef>
                <a:spcPts val="600"/>
              </a:spcBef>
            </a:pPr>
            <a:r>
              <a:rPr lang="pt-BR" dirty="0">
                <a:solidFill>
                  <a:srgbClr val="FF0000"/>
                </a:solidFill>
              </a:rPr>
              <a:t>Cabeça(LED) → </a:t>
            </a:r>
            <a:r>
              <a:rPr lang="pt-BR" b="1" dirty="0">
                <a:solidFill>
                  <a:srgbClr val="FF0000"/>
                </a:solidFill>
              </a:rPr>
              <a:t>75</a:t>
            </a:r>
          </a:p>
          <a:p>
            <a:r>
              <a:rPr lang="pt-BR" b="1" dirty="0">
                <a:solidFill>
                  <a:srgbClr val="0000FF"/>
                </a:solidFill>
              </a:rPr>
              <a:t>....40</a:t>
            </a:r>
            <a:r>
              <a:rPr lang="pt-BR" dirty="0"/>
              <a:t>Ames|John|123 Maple|Stillwater|OK|74075|</a:t>
            </a:r>
            <a:r>
              <a:rPr lang="pt-BR" b="1" dirty="0">
                <a:solidFill>
                  <a:srgbClr val="009900"/>
                </a:solidFill>
              </a:rPr>
              <a:t>27Ham|Al|28 </a:t>
            </a:r>
            <a:r>
              <a:rPr lang="pt-BR" b="1" dirty="0" err="1">
                <a:solidFill>
                  <a:srgbClr val="009900"/>
                </a:solidFill>
              </a:rPr>
              <a:t>Elm|Ada</a:t>
            </a:r>
            <a:r>
              <a:rPr lang="pt-BR" b="1" dirty="0">
                <a:solidFill>
                  <a:srgbClr val="009900"/>
                </a:solidFill>
              </a:rPr>
              <a:t> |OK|70332|</a:t>
            </a:r>
            <a:r>
              <a:rPr lang="pt-BR" b="1" dirty="0">
                <a:solidFill>
                  <a:schemeClr val="accent6"/>
                </a:solidFill>
              </a:rPr>
              <a:t>35∗    −1</a:t>
            </a:r>
            <a:r>
              <a:rPr lang="pt-BR" dirty="0">
                <a:solidFill>
                  <a:schemeClr val="accent6"/>
                </a:solidFill>
              </a:rPr>
              <a:t>........................................ </a:t>
            </a:r>
            <a:r>
              <a:rPr lang="pt-BR" b="1" dirty="0">
                <a:solidFill>
                  <a:srgbClr val="0000FF"/>
                </a:solidFill>
              </a:rPr>
              <a:t>45</a:t>
            </a:r>
            <a:r>
              <a:rPr lang="pt-BR" dirty="0"/>
              <a:t>Brown|Martha|625 Kim </a:t>
            </a:r>
            <a:r>
              <a:rPr lang="pt-BR" dirty="0" err="1"/>
              <a:t>bark|Des</a:t>
            </a:r>
            <a:r>
              <a:rPr lang="pt-BR" dirty="0"/>
              <a:t> Moines|IA|50311|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a:t>Fragmentação interna</a:t>
            </a:r>
            <a:endParaRPr lang="pt-BR" sz="3600" dirty="0"/>
          </a:p>
        </p:txBody>
      </p:sp>
      <p:sp>
        <p:nvSpPr>
          <p:cNvPr id="6" name="Espaço Reservado para Conteúdo 5"/>
          <p:cNvSpPr>
            <a:spLocks noGrp="1"/>
          </p:cNvSpPr>
          <p:nvPr>
            <p:ph idx="1"/>
          </p:nvPr>
        </p:nvSpPr>
        <p:spPr>
          <a:xfrm>
            <a:off x="457200" y="1600200"/>
            <a:ext cx="8229600" cy="5257800"/>
          </a:xfrm>
        </p:spPr>
        <p:txBody>
          <a:bodyPr>
            <a:normAutofit/>
          </a:bodyPr>
          <a:lstStyle/>
          <a:p>
            <a:endParaRPr lang="pt-BR" sz="2400" dirty="0"/>
          </a:p>
          <a:p>
            <a:endParaRPr lang="pt-BR" sz="2400" dirty="0"/>
          </a:p>
          <a:p>
            <a:endParaRPr lang="pt-BR" sz="2400" dirty="0"/>
          </a:p>
          <a:p>
            <a:endParaRPr lang="pt-BR" sz="2400" dirty="0"/>
          </a:p>
          <a:p>
            <a:endParaRPr lang="pt-BR" sz="2400" dirty="0"/>
          </a:p>
          <a:p>
            <a:endParaRPr lang="pt-BR" dirty="0"/>
          </a:p>
          <a:p>
            <a:endParaRPr lang="pt-BR" sz="3200" dirty="0"/>
          </a:p>
          <a:p>
            <a:endParaRPr lang="pt-BR" sz="2000" dirty="0"/>
          </a:p>
        </p:txBody>
      </p:sp>
      <p:sp>
        <p:nvSpPr>
          <p:cNvPr id="5" name="CaixaDeTexto 4"/>
          <p:cNvSpPr txBox="1"/>
          <p:nvPr/>
        </p:nvSpPr>
        <p:spPr>
          <a:xfrm>
            <a:off x="899592" y="1700808"/>
            <a:ext cx="7488832" cy="3570208"/>
          </a:xfrm>
          <a:prstGeom prst="rect">
            <a:avLst/>
          </a:prstGeom>
          <a:noFill/>
        </p:spPr>
        <p:txBody>
          <a:bodyPr wrap="square" rtlCol="0">
            <a:spAutoFit/>
          </a:bodyPr>
          <a:lstStyle/>
          <a:p>
            <a:pPr marL="182563" indent="-182563">
              <a:buFont typeface="Arial" pitchFamily="34" charset="0"/>
              <a:buChar char="•"/>
            </a:pPr>
            <a:r>
              <a:rPr lang="pt-BR" b="1" dirty="0"/>
              <a:t>Antes da inserção</a:t>
            </a:r>
            <a:endParaRPr lang="pt-BR" dirty="0">
              <a:solidFill>
                <a:srgbClr val="FF0000"/>
              </a:solidFill>
            </a:endParaRPr>
          </a:p>
          <a:p>
            <a:r>
              <a:rPr lang="pt-BR" dirty="0">
                <a:solidFill>
                  <a:srgbClr val="FF0000"/>
                </a:solidFill>
              </a:rPr>
              <a:t>Cabeça(LED) → </a:t>
            </a:r>
            <a:r>
              <a:rPr lang="pt-BR" b="1" dirty="0">
                <a:solidFill>
                  <a:srgbClr val="FF0000"/>
                </a:solidFill>
              </a:rPr>
              <a:t>46</a:t>
            </a:r>
          </a:p>
          <a:p>
            <a:r>
              <a:rPr lang="pt-BR" b="1" dirty="0">
                <a:solidFill>
                  <a:srgbClr val="0000FF"/>
                </a:solidFill>
              </a:rPr>
              <a:t>....40</a:t>
            </a:r>
            <a:r>
              <a:rPr lang="pt-BR" dirty="0"/>
              <a:t>Ames|John|123 Maple|Stillwater|OK|74075|</a:t>
            </a:r>
            <a:r>
              <a:rPr lang="pt-BR" b="1" dirty="0">
                <a:solidFill>
                  <a:schemeClr val="accent6"/>
                </a:solidFill>
              </a:rPr>
              <a:t>64*    -1</a:t>
            </a:r>
            <a:r>
              <a:rPr lang="pt-BR" dirty="0">
                <a:solidFill>
                  <a:schemeClr val="accent6"/>
                </a:solidFill>
              </a:rPr>
              <a:t>son|Sebastian| 9035 South </a:t>
            </a:r>
            <a:r>
              <a:rPr lang="pt-BR" dirty="0" err="1">
                <a:solidFill>
                  <a:schemeClr val="accent6"/>
                </a:solidFill>
              </a:rPr>
              <a:t>Hillcrest|Forest</a:t>
            </a:r>
            <a:r>
              <a:rPr lang="pt-BR" dirty="0">
                <a:solidFill>
                  <a:schemeClr val="accent6"/>
                </a:solidFill>
              </a:rPr>
              <a:t> Village|OK|74820|</a:t>
            </a:r>
            <a:r>
              <a:rPr lang="pt-BR" b="1" dirty="0">
                <a:solidFill>
                  <a:srgbClr val="0000FF"/>
                </a:solidFill>
              </a:rPr>
              <a:t>45</a:t>
            </a:r>
            <a:r>
              <a:rPr lang="pt-BR" dirty="0"/>
              <a:t>Brown|Martha|625 Kim </a:t>
            </a:r>
            <a:r>
              <a:rPr lang="pt-BR" dirty="0" err="1"/>
              <a:t>bark|Des</a:t>
            </a:r>
            <a:r>
              <a:rPr lang="pt-BR" dirty="0"/>
              <a:t> Moines|IA|50311|</a:t>
            </a:r>
          </a:p>
          <a:p>
            <a:endParaRPr lang="pt-BR" sz="1400" dirty="0"/>
          </a:p>
          <a:p>
            <a:r>
              <a:rPr lang="pt-BR" sz="2000" b="1" dirty="0"/>
              <a:t>De forma  alternativa, podemos deixar a sobra no começo do espaço. Assim o offset da sobra será o mesmo do espaço original.</a:t>
            </a:r>
          </a:p>
          <a:p>
            <a:pPr>
              <a:spcBef>
                <a:spcPts val="600"/>
              </a:spcBef>
            </a:pPr>
            <a:r>
              <a:rPr lang="pt-BR" dirty="0">
                <a:solidFill>
                  <a:srgbClr val="FF0000"/>
                </a:solidFill>
              </a:rPr>
              <a:t>Cabeça(LED) → 46</a:t>
            </a:r>
          </a:p>
          <a:p>
            <a:r>
              <a:rPr lang="pt-BR" b="1" dirty="0">
                <a:solidFill>
                  <a:srgbClr val="0000FF"/>
                </a:solidFill>
              </a:rPr>
              <a:t>....40</a:t>
            </a:r>
            <a:r>
              <a:rPr lang="pt-BR" dirty="0"/>
              <a:t>Ames|John|123 Maple|Stillwater|OK|74075|</a:t>
            </a:r>
            <a:r>
              <a:rPr lang="pt-BR" b="1" dirty="0">
                <a:solidFill>
                  <a:schemeClr val="accent6"/>
                </a:solidFill>
              </a:rPr>
              <a:t>35∗    −1</a:t>
            </a:r>
            <a:r>
              <a:rPr lang="pt-BR" dirty="0">
                <a:solidFill>
                  <a:schemeClr val="accent6"/>
                </a:solidFill>
              </a:rPr>
              <a:t>........................</a:t>
            </a:r>
          </a:p>
          <a:p>
            <a:r>
              <a:rPr lang="pt-BR" dirty="0">
                <a:solidFill>
                  <a:schemeClr val="accent6"/>
                </a:solidFill>
              </a:rPr>
              <a:t>................. </a:t>
            </a:r>
            <a:r>
              <a:rPr lang="pt-BR" b="1" dirty="0">
                <a:solidFill>
                  <a:srgbClr val="009900"/>
                </a:solidFill>
              </a:rPr>
              <a:t>27Ham|Al|28 Elm|Ada|OK|70332|</a:t>
            </a:r>
            <a:r>
              <a:rPr lang="pt-BR" b="1" dirty="0">
                <a:solidFill>
                  <a:srgbClr val="0000FF"/>
                </a:solidFill>
              </a:rPr>
              <a:t>45</a:t>
            </a:r>
            <a:r>
              <a:rPr lang="pt-BR" dirty="0"/>
              <a:t>Brown|Martha|625 Kim </a:t>
            </a:r>
            <a:r>
              <a:rPr lang="pt-BR" dirty="0" err="1"/>
              <a:t>bark|Des</a:t>
            </a:r>
            <a:r>
              <a:rPr lang="pt-BR" dirty="0"/>
              <a:t> Moines|IA|50311|</a:t>
            </a:r>
          </a:p>
        </p:txBody>
      </p:sp>
    </p:spTree>
    <p:extLst>
      <p:ext uri="{BB962C8B-B14F-4D97-AF65-F5344CB8AC3E}">
        <p14:creationId xmlns:p14="http://schemas.microsoft.com/office/powerpoint/2010/main" val="4013356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a:t>Fragmentação interna</a:t>
            </a:r>
            <a:endParaRPr lang="pt-BR" sz="3600" dirty="0"/>
          </a:p>
        </p:txBody>
      </p:sp>
      <p:sp>
        <p:nvSpPr>
          <p:cNvPr id="5" name="CaixaDeTexto 4"/>
          <p:cNvSpPr txBox="1"/>
          <p:nvPr/>
        </p:nvSpPr>
        <p:spPr>
          <a:xfrm>
            <a:off x="899592" y="1700808"/>
            <a:ext cx="7488832" cy="3570208"/>
          </a:xfrm>
          <a:prstGeom prst="rect">
            <a:avLst/>
          </a:prstGeom>
          <a:noFill/>
        </p:spPr>
        <p:txBody>
          <a:bodyPr wrap="square" rtlCol="0">
            <a:spAutoFit/>
          </a:bodyPr>
          <a:lstStyle/>
          <a:p>
            <a:pPr marL="182563" indent="-182563">
              <a:buFont typeface="Arial" pitchFamily="34" charset="0"/>
              <a:buChar char="•"/>
            </a:pPr>
            <a:r>
              <a:rPr lang="pt-BR" b="1" dirty="0"/>
              <a:t>Antes da inserção</a:t>
            </a:r>
            <a:endParaRPr lang="pt-BR" dirty="0">
              <a:solidFill>
                <a:srgbClr val="FF0000"/>
              </a:solidFill>
            </a:endParaRPr>
          </a:p>
          <a:p>
            <a:r>
              <a:rPr lang="pt-BR" dirty="0">
                <a:solidFill>
                  <a:srgbClr val="FF0000"/>
                </a:solidFill>
              </a:rPr>
              <a:t>Cabeça(LED) → </a:t>
            </a:r>
            <a:r>
              <a:rPr lang="pt-BR" b="1" dirty="0">
                <a:solidFill>
                  <a:srgbClr val="FF0000"/>
                </a:solidFill>
              </a:rPr>
              <a:t>46</a:t>
            </a:r>
          </a:p>
          <a:p>
            <a:r>
              <a:rPr lang="pt-BR" b="1" dirty="0">
                <a:solidFill>
                  <a:srgbClr val="0000FF"/>
                </a:solidFill>
              </a:rPr>
              <a:t>....40</a:t>
            </a:r>
            <a:r>
              <a:rPr lang="pt-BR" dirty="0"/>
              <a:t>Ames|John|123 Maple|Stillwater|OK|74075|</a:t>
            </a:r>
            <a:r>
              <a:rPr lang="pt-BR" b="1" dirty="0">
                <a:solidFill>
                  <a:schemeClr val="accent6"/>
                </a:solidFill>
              </a:rPr>
              <a:t>64*    -1</a:t>
            </a:r>
            <a:r>
              <a:rPr lang="pt-BR" dirty="0">
                <a:solidFill>
                  <a:schemeClr val="accent6"/>
                </a:solidFill>
              </a:rPr>
              <a:t>son|Sebastian| 9035 South </a:t>
            </a:r>
            <a:r>
              <a:rPr lang="pt-BR" dirty="0" err="1">
                <a:solidFill>
                  <a:schemeClr val="accent6"/>
                </a:solidFill>
              </a:rPr>
              <a:t>Hillcrest|Forest</a:t>
            </a:r>
            <a:r>
              <a:rPr lang="pt-BR" dirty="0">
                <a:solidFill>
                  <a:schemeClr val="accent6"/>
                </a:solidFill>
              </a:rPr>
              <a:t> Village|OK|74820|</a:t>
            </a:r>
            <a:r>
              <a:rPr lang="pt-BR" b="1" dirty="0">
                <a:solidFill>
                  <a:srgbClr val="0000FF"/>
                </a:solidFill>
              </a:rPr>
              <a:t>45</a:t>
            </a:r>
            <a:r>
              <a:rPr lang="pt-BR" dirty="0"/>
              <a:t>Brown|Martha|625 Kim </a:t>
            </a:r>
            <a:r>
              <a:rPr lang="pt-BR" dirty="0" err="1"/>
              <a:t>bark|Des</a:t>
            </a:r>
            <a:r>
              <a:rPr lang="pt-BR" dirty="0"/>
              <a:t> Moines|IA|50311|</a:t>
            </a:r>
          </a:p>
          <a:p>
            <a:endParaRPr lang="pt-BR" sz="1400" dirty="0"/>
          </a:p>
          <a:p>
            <a:r>
              <a:rPr lang="pt-BR" sz="2000" b="1" dirty="0"/>
              <a:t>De forma  alternativa, podemos deixar a sobra no começo do espaço. Assim o offset da sobra será o mesmo do espaço original.</a:t>
            </a:r>
          </a:p>
          <a:p>
            <a:pPr>
              <a:spcBef>
                <a:spcPts val="600"/>
              </a:spcBef>
            </a:pPr>
            <a:r>
              <a:rPr lang="pt-BR" dirty="0">
                <a:solidFill>
                  <a:srgbClr val="FF0000"/>
                </a:solidFill>
              </a:rPr>
              <a:t>Cabeça(LED) → 46</a:t>
            </a:r>
          </a:p>
          <a:p>
            <a:r>
              <a:rPr lang="pt-BR" b="1" dirty="0">
                <a:solidFill>
                  <a:srgbClr val="0000FF"/>
                </a:solidFill>
              </a:rPr>
              <a:t>....40</a:t>
            </a:r>
            <a:r>
              <a:rPr lang="pt-BR" dirty="0"/>
              <a:t>Ames|John|123 Maple|Stillwater|OK|74075|</a:t>
            </a:r>
            <a:r>
              <a:rPr lang="pt-BR" b="1" dirty="0">
                <a:solidFill>
                  <a:schemeClr val="accent6"/>
                </a:solidFill>
              </a:rPr>
              <a:t>35∗    −1</a:t>
            </a:r>
            <a:r>
              <a:rPr lang="pt-BR" dirty="0">
                <a:solidFill>
                  <a:schemeClr val="accent6"/>
                </a:solidFill>
              </a:rPr>
              <a:t>........................</a:t>
            </a:r>
          </a:p>
          <a:p>
            <a:r>
              <a:rPr lang="pt-BR" dirty="0">
                <a:solidFill>
                  <a:schemeClr val="accent6"/>
                </a:solidFill>
              </a:rPr>
              <a:t>................. </a:t>
            </a:r>
            <a:r>
              <a:rPr lang="pt-BR" b="1" dirty="0">
                <a:solidFill>
                  <a:srgbClr val="009900"/>
                </a:solidFill>
              </a:rPr>
              <a:t>27Ham|Al|28 Elm|Ada|OK|70332|</a:t>
            </a:r>
            <a:r>
              <a:rPr lang="pt-BR" b="1" dirty="0">
                <a:solidFill>
                  <a:srgbClr val="0000FF"/>
                </a:solidFill>
              </a:rPr>
              <a:t>45</a:t>
            </a:r>
            <a:r>
              <a:rPr lang="pt-BR" dirty="0"/>
              <a:t>Brown|Martha|625 Kim </a:t>
            </a:r>
            <a:r>
              <a:rPr lang="pt-BR" dirty="0" err="1"/>
              <a:t>bark|Des</a:t>
            </a:r>
            <a:r>
              <a:rPr lang="pt-BR" dirty="0"/>
              <a:t> Moines|IA|50311|</a:t>
            </a:r>
          </a:p>
        </p:txBody>
      </p:sp>
      <p:sp>
        <p:nvSpPr>
          <p:cNvPr id="8" name="Retângulo: Cantos Arredondados 7">
            <a:extLst>
              <a:ext uri="{FF2B5EF4-FFF2-40B4-BE49-F238E27FC236}">
                <a16:creationId xmlns:a16="http://schemas.microsoft.com/office/drawing/2014/main" id="{E76BF25B-59D5-7FEB-02E0-6E4185D344D8}"/>
              </a:ext>
            </a:extLst>
          </p:cNvPr>
          <p:cNvSpPr/>
          <p:nvPr/>
        </p:nvSpPr>
        <p:spPr>
          <a:xfrm>
            <a:off x="694490" y="5373216"/>
            <a:ext cx="7899036" cy="115212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spcBef>
                <a:spcPts val="1200"/>
              </a:spcBef>
            </a:pPr>
            <a:r>
              <a:rPr lang="pt-BR" sz="2000" dirty="0"/>
              <a:t>Se o espaço que sobrou for tão pequeno a ponto de não vir a ser utilizado por outro registro, teremos </a:t>
            </a:r>
            <a:r>
              <a:rPr lang="pt-BR" sz="2000" b="1" dirty="0">
                <a:solidFill>
                  <a:schemeClr val="accent5">
                    <a:lumMod val="50000"/>
                  </a:schemeClr>
                </a:solidFill>
              </a:rPr>
              <a:t>fragmentação externa</a:t>
            </a:r>
          </a:p>
          <a:p>
            <a:pPr marL="285750" indent="-285750">
              <a:buFont typeface="Arial" panose="020B0604020202020204" pitchFamily="34" charset="0"/>
              <a:buChar char="•"/>
            </a:pPr>
            <a:r>
              <a:rPr lang="pt-BR" sz="1800" dirty="0"/>
              <a:t>O espaço está na LED, mas é muito pequeno para ser reutilizado</a:t>
            </a:r>
          </a:p>
        </p:txBody>
      </p:sp>
    </p:spTree>
    <p:extLst>
      <p:ext uri="{BB962C8B-B14F-4D97-AF65-F5344CB8AC3E}">
        <p14:creationId xmlns:p14="http://schemas.microsoft.com/office/powerpoint/2010/main" val="4018565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Fragmentação externa</a:t>
            </a:r>
          </a:p>
        </p:txBody>
      </p:sp>
      <p:sp>
        <p:nvSpPr>
          <p:cNvPr id="3" name="Espaço Reservado para Conteúdo 2"/>
          <p:cNvSpPr>
            <a:spLocks noGrp="1"/>
          </p:cNvSpPr>
          <p:nvPr>
            <p:ph idx="1"/>
          </p:nvPr>
        </p:nvSpPr>
        <p:spPr/>
        <p:txBody>
          <a:bodyPr>
            <a:normAutofit/>
          </a:bodyPr>
          <a:lstStyle/>
          <a:p>
            <a:r>
              <a:rPr lang="pt-BR" sz="2400" dirty="0"/>
              <a:t>Estratégias para combater a </a:t>
            </a:r>
            <a:r>
              <a:rPr lang="pt-BR" sz="2400" dirty="0">
                <a:solidFill>
                  <a:schemeClr val="accent6">
                    <a:lumMod val="75000"/>
                  </a:schemeClr>
                </a:solidFill>
              </a:rPr>
              <a:t>fragmentação externa</a:t>
            </a:r>
            <a:endParaRPr lang="pt-BR" sz="2400" dirty="0"/>
          </a:p>
          <a:p>
            <a:pPr lvl="1"/>
            <a:r>
              <a:rPr lang="pt-BR" sz="2000" dirty="0"/>
              <a:t>Gerar um novo arquivo quando a fragmentação ficar intolerável (compactação)</a:t>
            </a:r>
          </a:p>
          <a:p>
            <a:pPr lvl="1"/>
            <a:r>
              <a:rPr lang="pt-BR" sz="2000" dirty="0"/>
              <a:t>Concatenar espaços adjacentes na LED não é viável</a:t>
            </a:r>
          </a:p>
          <a:p>
            <a:pPr lvl="2"/>
            <a:r>
              <a:rPr lang="pt-BR" sz="1800" dirty="0">
                <a:solidFill>
                  <a:schemeClr val="accent6">
                    <a:lumMod val="75000"/>
                  </a:schemeClr>
                </a:solidFill>
              </a:rPr>
              <a:t>PROBLEMA</a:t>
            </a:r>
            <a:r>
              <a:rPr lang="pt-BR" sz="1800" dirty="0"/>
              <a:t>: como encontrar os espaços adjacentes?</a:t>
            </a:r>
          </a:p>
          <a:p>
            <a:pPr lvl="2"/>
            <a:endParaRPr lang="pt-BR" sz="1800" dirty="0"/>
          </a:p>
          <a:p>
            <a:pPr lvl="1"/>
            <a:r>
              <a:rPr lang="pt-BR" sz="2000" b="1" dirty="0"/>
              <a:t>A melhor opção é minimizar a fragmentação antes que ela ocorra</a:t>
            </a:r>
            <a:r>
              <a:rPr lang="pt-BR" sz="2000" dirty="0"/>
              <a:t>, adotando uma </a:t>
            </a:r>
            <a:r>
              <a:rPr lang="pt-BR" sz="2000" b="1" dirty="0">
                <a:solidFill>
                  <a:schemeClr val="accent6">
                    <a:lumMod val="75000"/>
                  </a:schemeClr>
                </a:solidFill>
              </a:rPr>
              <a:t>estratégia de gerenciamento</a:t>
            </a:r>
            <a:r>
              <a:rPr lang="pt-BR" sz="2000" dirty="0"/>
              <a:t> da LED</a:t>
            </a:r>
          </a:p>
          <a:p>
            <a:pPr lvl="2"/>
            <a:r>
              <a:rPr lang="pt-BR" sz="1800" dirty="0"/>
              <a:t>Primeiro ajuste</a:t>
            </a:r>
          </a:p>
          <a:p>
            <a:pPr lvl="2"/>
            <a:r>
              <a:rPr lang="pt-BR" sz="1800" dirty="0"/>
              <a:t>Melhor ajuste</a:t>
            </a:r>
          </a:p>
          <a:p>
            <a:pPr lvl="2"/>
            <a:r>
              <a:rPr lang="pt-BR" sz="1800" dirty="0"/>
              <a:t>Pior ajuste</a:t>
            </a:r>
          </a:p>
        </p:txBody>
      </p:sp>
      <p:sp>
        <p:nvSpPr>
          <p:cNvPr id="4" name="Chave direita 3"/>
          <p:cNvSpPr/>
          <p:nvPr/>
        </p:nvSpPr>
        <p:spPr>
          <a:xfrm>
            <a:off x="3134120" y="4438822"/>
            <a:ext cx="214314" cy="1000132"/>
          </a:xfrm>
          <a:prstGeom prst="rightBrace">
            <a:avLst/>
          </a:prstGeom>
          <a:ln w="19050">
            <a:solidFill>
              <a:srgbClr val="0099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5" name="CaixaDeTexto 4"/>
          <p:cNvSpPr txBox="1"/>
          <p:nvPr/>
        </p:nvSpPr>
        <p:spPr>
          <a:xfrm>
            <a:off x="3419872" y="4653136"/>
            <a:ext cx="2376264" cy="646331"/>
          </a:xfrm>
          <a:prstGeom prst="rect">
            <a:avLst/>
          </a:prstGeom>
          <a:solidFill>
            <a:srgbClr val="009900"/>
          </a:solidFill>
        </p:spPr>
        <p:txBody>
          <a:bodyPr wrap="square" rtlCol="0">
            <a:spAutoFit/>
          </a:bodyPr>
          <a:lstStyle/>
          <a:p>
            <a:r>
              <a:rPr lang="pt-BR" dirty="0">
                <a:solidFill>
                  <a:schemeClr val="bg1"/>
                </a:solidFill>
              </a:rPr>
              <a:t>Estratégias de gerenciamento da LED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Estratégias de gerenciamento da LED</a:t>
            </a:r>
          </a:p>
        </p:txBody>
      </p:sp>
      <p:sp>
        <p:nvSpPr>
          <p:cNvPr id="3" name="Espaço Reservado para Conteúdo 2"/>
          <p:cNvSpPr>
            <a:spLocks noGrp="1"/>
          </p:cNvSpPr>
          <p:nvPr>
            <p:ph idx="1"/>
          </p:nvPr>
        </p:nvSpPr>
        <p:spPr/>
        <p:txBody>
          <a:bodyPr>
            <a:normAutofit/>
          </a:bodyPr>
          <a:lstStyle/>
          <a:p>
            <a:r>
              <a:rPr lang="pt-BR" dirty="0">
                <a:solidFill>
                  <a:schemeClr val="accent6">
                    <a:lumMod val="75000"/>
                  </a:schemeClr>
                </a:solidFill>
              </a:rPr>
              <a:t>Primeiro </a:t>
            </a:r>
            <a:r>
              <a:rPr lang="pt-BR" dirty="0"/>
              <a:t>ajuste</a:t>
            </a:r>
            <a:r>
              <a:rPr lang="pt-BR" dirty="0">
                <a:solidFill>
                  <a:schemeClr val="accent6">
                    <a:lumMod val="75000"/>
                  </a:schemeClr>
                </a:solidFill>
              </a:rPr>
              <a:t> </a:t>
            </a:r>
            <a:r>
              <a:rPr lang="pt-BR" dirty="0"/>
              <a:t>– </a:t>
            </a:r>
            <a:r>
              <a:rPr lang="pt-BR" dirty="0">
                <a:solidFill>
                  <a:schemeClr val="accent6">
                    <a:lumMod val="75000"/>
                  </a:schemeClr>
                </a:solidFill>
              </a:rPr>
              <a:t>“</a:t>
            </a:r>
            <a:r>
              <a:rPr lang="pt-BR" i="1" dirty="0" err="1">
                <a:solidFill>
                  <a:schemeClr val="accent6">
                    <a:lumMod val="75000"/>
                  </a:schemeClr>
                </a:solidFill>
              </a:rPr>
              <a:t>first</a:t>
            </a:r>
            <a:r>
              <a:rPr lang="pt-BR" i="1" dirty="0">
                <a:solidFill>
                  <a:schemeClr val="accent6">
                    <a:lumMod val="75000"/>
                  </a:schemeClr>
                </a:solidFill>
              </a:rPr>
              <a:t> </a:t>
            </a:r>
            <a:r>
              <a:rPr lang="pt-BR" i="1" dirty="0" err="1">
                <a:solidFill>
                  <a:schemeClr val="accent6">
                    <a:lumMod val="75000"/>
                  </a:schemeClr>
                </a:solidFill>
              </a:rPr>
              <a:t>fit</a:t>
            </a:r>
            <a:r>
              <a:rPr lang="pt-BR" i="1" dirty="0">
                <a:solidFill>
                  <a:schemeClr val="accent6">
                    <a:lumMod val="75000"/>
                  </a:schemeClr>
                </a:solidFill>
              </a:rPr>
              <a:t>”</a:t>
            </a:r>
            <a:endParaRPr lang="pt-BR" dirty="0">
              <a:solidFill>
                <a:schemeClr val="accent6">
                  <a:lumMod val="75000"/>
                </a:schemeClr>
              </a:solidFill>
            </a:endParaRPr>
          </a:p>
          <a:p>
            <a:pPr lvl="1"/>
            <a:r>
              <a:rPr lang="pt-BR" sz="2000" dirty="0"/>
              <a:t>É o que vimos nos exemplos até aqui</a:t>
            </a:r>
          </a:p>
          <a:p>
            <a:pPr lvl="1"/>
            <a:r>
              <a:rPr lang="pt-BR" sz="2000" b="1" dirty="0"/>
              <a:t>A LED não é ordenada </a:t>
            </a:r>
            <a:r>
              <a:rPr lang="pt-BR" sz="2000" b="1" dirty="0">
                <a:sym typeface="Wingdings" panose="05000000000000000000" pitchFamily="2" charset="2"/>
              </a:rPr>
              <a:t> </a:t>
            </a:r>
            <a:r>
              <a:rPr lang="pt-BR" sz="2000" dirty="0"/>
              <a:t>os espaços disponíveis sempre são inseridos na cabeça da LED</a:t>
            </a:r>
          </a:p>
          <a:p>
            <a:pPr lvl="1"/>
            <a:endParaRPr lang="pt-BR" sz="2000" dirty="0"/>
          </a:p>
          <a:p>
            <a:pPr lvl="1"/>
            <a:r>
              <a:rPr lang="pt-BR" sz="2000" dirty="0"/>
              <a:t>Na inserção de um novo registro:</a:t>
            </a:r>
          </a:p>
          <a:p>
            <a:pPr lvl="2"/>
            <a:r>
              <a:rPr lang="pt-BR" sz="1800" dirty="0"/>
              <a:t>A LED é percorrida até que |espaço| ≥ |registro| ou até que o final da LED seja atingido</a:t>
            </a:r>
          </a:p>
          <a:p>
            <a:pPr lvl="2"/>
            <a:r>
              <a:rPr lang="pt-BR" sz="1800" dirty="0"/>
              <a:t>Se um espaço adequado for encontrado, o novo registro é escrito </a:t>
            </a:r>
          </a:p>
          <a:p>
            <a:pPr lvl="3"/>
            <a:r>
              <a:rPr lang="pt-BR" sz="1600" b="1" dirty="0">
                <a:solidFill>
                  <a:schemeClr val="accent6">
                    <a:lumMod val="75000"/>
                  </a:schemeClr>
                </a:solidFill>
              </a:rPr>
              <a:t>O primeiro espaço grande o suficiente será adequado</a:t>
            </a:r>
          </a:p>
          <a:p>
            <a:pPr lvl="3"/>
            <a:r>
              <a:rPr lang="pt-BR" sz="1600" dirty="0"/>
              <a:t>O espaço que sobra (grande ou pequeno) pode voltar para a LED</a:t>
            </a:r>
            <a:endParaRPr lang="pt-BR" sz="1600" b="1" dirty="0">
              <a:solidFill>
                <a:schemeClr val="accent6">
                  <a:lumMod val="75000"/>
                </a:schemeClr>
              </a:solidFill>
            </a:endParaRPr>
          </a:p>
          <a:p>
            <a:pPr lvl="2"/>
            <a:r>
              <a:rPr lang="pt-BR" sz="1800" dirty="0"/>
              <a:t>Se o final da LED foi atingido, o novo registro é escrito no fim do arquivo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Estratégias de gerenciamento da LED</a:t>
            </a:r>
          </a:p>
        </p:txBody>
      </p:sp>
      <p:sp>
        <p:nvSpPr>
          <p:cNvPr id="3" name="Espaço Reservado para Conteúdo 2"/>
          <p:cNvSpPr>
            <a:spLocks noGrp="1"/>
          </p:cNvSpPr>
          <p:nvPr>
            <p:ph idx="1"/>
          </p:nvPr>
        </p:nvSpPr>
        <p:spPr/>
        <p:txBody>
          <a:bodyPr>
            <a:normAutofit/>
          </a:bodyPr>
          <a:lstStyle/>
          <a:p>
            <a:r>
              <a:rPr lang="pt-BR" dirty="0">
                <a:solidFill>
                  <a:schemeClr val="accent6">
                    <a:lumMod val="75000"/>
                  </a:schemeClr>
                </a:solidFill>
              </a:rPr>
              <a:t>Primeiro </a:t>
            </a:r>
            <a:r>
              <a:rPr lang="pt-BR" dirty="0"/>
              <a:t>ajuste</a:t>
            </a:r>
            <a:r>
              <a:rPr lang="pt-BR" dirty="0">
                <a:solidFill>
                  <a:schemeClr val="accent6">
                    <a:lumMod val="75000"/>
                  </a:schemeClr>
                </a:solidFill>
              </a:rPr>
              <a:t> </a:t>
            </a:r>
            <a:r>
              <a:rPr lang="pt-BR" dirty="0"/>
              <a:t>– </a:t>
            </a:r>
            <a:r>
              <a:rPr lang="pt-BR" dirty="0">
                <a:solidFill>
                  <a:schemeClr val="accent6">
                    <a:lumMod val="75000"/>
                  </a:schemeClr>
                </a:solidFill>
              </a:rPr>
              <a:t>“</a:t>
            </a:r>
            <a:r>
              <a:rPr lang="pt-BR" i="1" dirty="0" err="1">
                <a:solidFill>
                  <a:schemeClr val="accent6">
                    <a:lumMod val="75000"/>
                  </a:schemeClr>
                </a:solidFill>
              </a:rPr>
              <a:t>first</a:t>
            </a:r>
            <a:r>
              <a:rPr lang="pt-BR" i="1" dirty="0">
                <a:solidFill>
                  <a:schemeClr val="accent6">
                    <a:lumMod val="75000"/>
                  </a:schemeClr>
                </a:solidFill>
              </a:rPr>
              <a:t> </a:t>
            </a:r>
            <a:r>
              <a:rPr lang="pt-BR" i="1" dirty="0" err="1">
                <a:solidFill>
                  <a:schemeClr val="accent6">
                    <a:lumMod val="75000"/>
                  </a:schemeClr>
                </a:solidFill>
              </a:rPr>
              <a:t>fit</a:t>
            </a:r>
            <a:r>
              <a:rPr lang="pt-BR" i="1" dirty="0">
                <a:solidFill>
                  <a:schemeClr val="accent6">
                    <a:lumMod val="75000"/>
                  </a:schemeClr>
                </a:solidFill>
              </a:rPr>
              <a:t>”</a:t>
            </a:r>
            <a:endParaRPr lang="pt-BR" dirty="0">
              <a:solidFill>
                <a:schemeClr val="accent6">
                  <a:lumMod val="75000"/>
                </a:schemeClr>
              </a:solidFill>
            </a:endParaRPr>
          </a:p>
          <a:p>
            <a:pPr lvl="1"/>
            <a:r>
              <a:rPr lang="pt-BR" dirty="0"/>
              <a:t>Vantagem</a:t>
            </a:r>
          </a:p>
          <a:p>
            <a:pPr lvl="2"/>
            <a:r>
              <a:rPr lang="pt-BR" dirty="0"/>
              <a:t>A inclusão de espaços na LED é rápida</a:t>
            </a:r>
          </a:p>
          <a:p>
            <a:pPr lvl="1"/>
            <a:r>
              <a:rPr lang="pt-BR" dirty="0"/>
              <a:t>Desvantagens</a:t>
            </a:r>
          </a:p>
          <a:p>
            <a:pPr lvl="2"/>
            <a:r>
              <a:rPr lang="pt-BR" dirty="0"/>
              <a:t>Na inserção de um novo registro, a LED sempre precisa ser percorrida (muitas vezes sem sucesso)</a:t>
            </a:r>
          </a:p>
          <a:p>
            <a:pPr lvl="2"/>
            <a:r>
              <a:rPr lang="pt-BR" dirty="0"/>
              <a:t>Sobras pequenas demais</a:t>
            </a:r>
          </a:p>
          <a:p>
            <a:pPr lvl="3"/>
            <a:r>
              <a:rPr lang="pt-BR" dirty="0"/>
              <a:t>Sobras muito pequenas tendem a não ser reutilizadas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Estratégias de gerenciamento da LED</a:t>
            </a:r>
          </a:p>
        </p:txBody>
      </p:sp>
      <p:sp>
        <p:nvSpPr>
          <p:cNvPr id="3" name="Espaço Reservado para Conteúdo 2"/>
          <p:cNvSpPr>
            <a:spLocks noGrp="1"/>
          </p:cNvSpPr>
          <p:nvPr>
            <p:ph idx="1"/>
          </p:nvPr>
        </p:nvSpPr>
        <p:spPr>
          <a:xfrm>
            <a:off x="457200" y="1600200"/>
            <a:ext cx="8229600" cy="4781128"/>
          </a:xfrm>
        </p:spPr>
        <p:txBody>
          <a:bodyPr>
            <a:noAutofit/>
          </a:bodyPr>
          <a:lstStyle/>
          <a:p>
            <a:r>
              <a:rPr lang="pt-BR" sz="2400" dirty="0">
                <a:solidFill>
                  <a:schemeClr val="accent6">
                    <a:lumMod val="75000"/>
                  </a:schemeClr>
                </a:solidFill>
              </a:rPr>
              <a:t>Melhor </a:t>
            </a:r>
            <a:r>
              <a:rPr lang="pt-BR" sz="2400" dirty="0"/>
              <a:t>ajuste</a:t>
            </a:r>
            <a:r>
              <a:rPr lang="pt-BR" sz="2400" dirty="0">
                <a:solidFill>
                  <a:schemeClr val="accent6">
                    <a:lumMod val="75000"/>
                  </a:schemeClr>
                </a:solidFill>
              </a:rPr>
              <a:t> </a:t>
            </a:r>
            <a:r>
              <a:rPr lang="pt-BR" sz="2400" dirty="0"/>
              <a:t>– </a:t>
            </a:r>
            <a:r>
              <a:rPr lang="pt-BR" sz="2400" dirty="0">
                <a:solidFill>
                  <a:schemeClr val="accent6">
                    <a:lumMod val="75000"/>
                  </a:schemeClr>
                </a:solidFill>
              </a:rPr>
              <a:t>“</a:t>
            </a:r>
            <a:r>
              <a:rPr lang="pt-BR" sz="2400" i="1" dirty="0" err="1">
                <a:solidFill>
                  <a:schemeClr val="accent6">
                    <a:lumMod val="75000"/>
                  </a:schemeClr>
                </a:solidFill>
              </a:rPr>
              <a:t>best</a:t>
            </a:r>
            <a:r>
              <a:rPr lang="pt-BR" sz="2400" i="1" dirty="0">
                <a:solidFill>
                  <a:schemeClr val="accent6">
                    <a:lumMod val="75000"/>
                  </a:schemeClr>
                </a:solidFill>
              </a:rPr>
              <a:t> </a:t>
            </a:r>
            <a:r>
              <a:rPr lang="pt-BR" sz="2400" i="1" dirty="0" err="1">
                <a:solidFill>
                  <a:schemeClr val="accent6">
                    <a:lumMod val="75000"/>
                  </a:schemeClr>
                </a:solidFill>
              </a:rPr>
              <a:t>fit</a:t>
            </a:r>
            <a:r>
              <a:rPr lang="pt-BR" sz="2400" i="1" dirty="0">
                <a:solidFill>
                  <a:schemeClr val="accent6">
                    <a:lumMod val="75000"/>
                  </a:schemeClr>
                </a:solidFill>
              </a:rPr>
              <a:t>”</a:t>
            </a:r>
            <a:endParaRPr lang="pt-BR" sz="2400" dirty="0">
              <a:solidFill>
                <a:schemeClr val="accent6">
                  <a:lumMod val="75000"/>
                </a:schemeClr>
              </a:solidFill>
            </a:endParaRPr>
          </a:p>
          <a:p>
            <a:pPr lvl="1"/>
            <a:r>
              <a:rPr lang="pt-BR" sz="2000" dirty="0"/>
              <a:t>A LED é mantida ordenada em </a:t>
            </a:r>
            <a:r>
              <a:rPr lang="pt-BR" sz="2000" b="1" u="sng" dirty="0"/>
              <a:t>ordem crescente do tamanho dos espaços disponíveis</a:t>
            </a:r>
          </a:p>
          <a:p>
            <a:pPr lvl="1"/>
            <a:r>
              <a:rPr lang="pt-BR" sz="2000" dirty="0"/>
              <a:t>Novos espaços devem ser incluídos de forma ordenada na LED</a:t>
            </a:r>
          </a:p>
          <a:p>
            <a:pPr lvl="2"/>
            <a:r>
              <a:rPr lang="pt-BR" sz="1800" dirty="0"/>
              <a:t>Esse esforço pode ser significativo!</a:t>
            </a:r>
          </a:p>
          <a:p>
            <a:pPr lvl="1"/>
            <a:r>
              <a:rPr lang="pt-BR" sz="2000" dirty="0"/>
              <a:t>Na inserção de um novo registro:</a:t>
            </a:r>
          </a:p>
          <a:p>
            <a:pPr lvl="2"/>
            <a:r>
              <a:rPr lang="pt-BR" sz="1800" dirty="0"/>
              <a:t>A LED é percorrida até que |espaço| ≥ |registro| ou até que o final da LED seja atingido</a:t>
            </a:r>
            <a:endParaRPr lang="pt-BR" sz="1800" i="1" dirty="0"/>
          </a:p>
          <a:p>
            <a:pPr lvl="2"/>
            <a:r>
              <a:rPr lang="pt-BR" sz="1800" dirty="0"/>
              <a:t>Se um espaço adequado for encontrado, o novo registro é escrito </a:t>
            </a:r>
          </a:p>
          <a:p>
            <a:pPr lvl="3"/>
            <a:r>
              <a:rPr lang="pt-BR" sz="1600" b="1" dirty="0">
                <a:solidFill>
                  <a:schemeClr val="accent6">
                    <a:lumMod val="75000"/>
                  </a:schemeClr>
                </a:solidFill>
              </a:rPr>
              <a:t>O espaço encontrado na LED será o menor espaço disponível que é adequado para o novo registro</a:t>
            </a:r>
          </a:p>
          <a:p>
            <a:pPr lvl="3"/>
            <a:r>
              <a:rPr lang="pt-BR" sz="1600" b="1" dirty="0">
                <a:solidFill>
                  <a:schemeClr val="accent6">
                    <a:lumMod val="75000"/>
                  </a:schemeClr>
                </a:solidFill>
              </a:rPr>
              <a:t>A sobra será a menor possível</a:t>
            </a:r>
          </a:p>
          <a:p>
            <a:pPr lvl="3"/>
            <a:r>
              <a:rPr lang="pt-BR" sz="1600" dirty="0"/>
              <a:t>O espaço que sobra não retorna para a LED</a:t>
            </a:r>
          </a:p>
          <a:p>
            <a:pPr lvl="2"/>
            <a:r>
              <a:rPr lang="pt-BR" sz="1800" dirty="0"/>
              <a:t>Se o final da LED é atingido, o novo registro é escrito no final do arquivo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Estratégias de gerenciamento da LED</a:t>
            </a:r>
          </a:p>
        </p:txBody>
      </p:sp>
      <p:sp>
        <p:nvSpPr>
          <p:cNvPr id="3" name="Espaço Reservado para Conteúdo 2"/>
          <p:cNvSpPr>
            <a:spLocks noGrp="1"/>
          </p:cNvSpPr>
          <p:nvPr>
            <p:ph idx="1"/>
          </p:nvPr>
        </p:nvSpPr>
        <p:spPr/>
        <p:txBody>
          <a:bodyPr>
            <a:normAutofit/>
          </a:bodyPr>
          <a:lstStyle/>
          <a:p>
            <a:r>
              <a:rPr lang="pt-BR" sz="2800" dirty="0">
                <a:solidFill>
                  <a:schemeClr val="accent6">
                    <a:lumMod val="75000"/>
                  </a:schemeClr>
                </a:solidFill>
              </a:rPr>
              <a:t>Melhor </a:t>
            </a:r>
            <a:r>
              <a:rPr lang="pt-BR" sz="2800" dirty="0"/>
              <a:t>ajuste</a:t>
            </a:r>
            <a:r>
              <a:rPr lang="pt-BR" sz="2800" dirty="0">
                <a:solidFill>
                  <a:schemeClr val="accent6">
                    <a:lumMod val="75000"/>
                  </a:schemeClr>
                </a:solidFill>
              </a:rPr>
              <a:t> </a:t>
            </a:r>
            <a:r>
              <a:rPr lang="pt-BR" sz="2800" dirty="0"/>
              <a:t>– </a:t>
            </a:r>
            <a:r>
              <a:rPr lang="pt-BR" sz="2800" dirty="0">
                <a:solidFill>
                  <a:schemeClr val="accent6">
                    <a:lumMod val="75000"/>
                  </a:schemeClr>
                </a:solidFill>
              </a:rPr>
              <a:t>“</a:t>
            </a:r>
            <a:r>
              <a:rPr lang="pt-BR" sz="2800" i="1" dirty="0" err="1">
                <a:solidFill>
                  <a:schemeClr val="accent6">
                    <a:lumMod val="75000"/>
                  </a:schemeClr>
                </a:solidFill>
              </a:rPr>
              <a:t>best</a:t>
            </a:r>
            <a:r>
              <a:rPr lang="pt-BR" sz="2800" i="1" dirty="0">
                <a:solidFill>
                  <a:schemeClr val="accent6">
                    <a:lumMod val="75000"/>
                  </a:schemeClr>
                </a:solidFill>
              </a:rPr>
              <a:t> </a:t>
            </a:r>
            <a:r>
              <a:rPr lang="pt-BR" sz="2800" i="1" dirty="0" err="1">
                <a:solidFill>
                  <a:schemeClr val="accent6">
                    <a:lumMod val="75000"/>
                  </a:schemeClr>
                </a:solidFill>
              </a:rPr>
              <a:t>fit</a:t>
            </a:r>
            <a:r>
              <a:rPr lang="pt-BR" sz="2800" i="1" dirty="0">
                <a:solidFill>
                  <a:schemeClr val="accent6">
                    <a:lumMod val="75000"/>
                  </a:schemeClr>
                </a:solidFill>
              </a:rPr>
              <a:t>”</a:t>
            </a:r>
            <a:endParaRPr lang="pt-BR" sz="2800" dirty="0">
              <a:solidFill>
                <a:schemeClr val="accent6">
                  <a:lumMod val="75000"/>
                </a:schemeClr>
              </a:solidFill>
            </a:endParaRPr>
          </a:p>
          <a:p>
            <a:pPr lvl="1"/>
            <a:r>
              <a:rPr lang="pt-BR" dirty="0"/>
              <a:t>Vantagem</a:t>
            </a:r>
          </a:p>
          <a:p>
            <a:pPr lvl="2"/>
            <a:r>
              <a:rPr lang="pt-BR" dirty="0"/>
              <a:t>Como é reutilizado o menor espaço da LED que suporte o registro novo, a fragmentação interna será a menor possível</a:t>
            </a:r>
          </a:p>
          <a:p>
            <a:pPr lvl="1"/>
            <a:r>
              <a:rPr lang="pt-BR" dirty="0"/>
              <a:t>Desvantagens</a:t>
            </a:r>
          </a:p>
          <a:p>
            <a:pPr lvl="2"/>
            <a:r>
              <a:rPr lang="pt-BR" dirty="0"/>
              <a:t>Se as sobras forem transformadas em fragmentação externa, elas podem ser pequenas demais </a:t>
            </a:r>
            <a:r>
              <a:rPr lang="pt-BR" dirty="0">
                <a:sym typeface="Wingdings" panose="05000000000000000000" pitchFamily="2" charset="2"/>
              </a:rPr>
              <a:t> </a:t>
            </a:r>
            <a:r>
              <a:rPr lang="pt-BR" dirty="0"/>
              <a:t>esses espaços se acumularão no início da LED, tornando a busca mais demorada</a:t>
            </a:r>
          </a:p>
          <a:p>
            <a:pPr lvl="2"/>
            <a:r>
              <a:rPr lang="pt-BR" dirty="0"/>
              <a:t>A manutenção da LED é mais lenta devido à inserção ordenada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Estratégias de gerenciamento da LED</a:t>
            </a:r>
          </a:p>
        </p:txBody>
      </p:sp>
      <p:sp>
        <p:nvSpPr>
          <p:cNvPr id="3" name="Espaço Reservado para Conteúdo 2"/>
          <p:cNvSpPr>
            <a:spLocks noGrp="1"/>
          </p:cNvSpPr>
          <p:nvPr>
            <p:ph idx="1"/>
          </p:nvPr>
        </p:nvSpPr>
        <p:spPr>
          <a:xfrm>
            <a:off x="457200" y="1600200"/>
            <a:ext cx="8229600" cy="4853136"/>
          </a:xfrm>
        </p:spPr>
        <p:txBody>
          <a:bodyPr>
            <a:normAutofit/>
          </a:bodyPr>
          <a:lstStyle/>
          <a:p>
            <a:r>
              <a:rPr lang="pt-BR" sz="2400" dirty="0">
                <a:solidFill>
                  <a:schemeClr val="accent6">
                    <a:lumMod val="75000"/>
                  </a:schemeClr>
                </a:solidFill>
              </a:rPr>
              <a:t>Pior </a:t>
            </a:r>
            <a:r>
              <a:rPr lang="pt-BR" sz="2400" dirty="0"/>
              <a:t>ajuste</a:t>
            </a:r>
            <a:r>
              <a:rPr lang="pt-BR" sz="2400" dirty="0">
                <a:solidFill>
                  <a:schemeClr val="accent6">
                    <a:lumMod val="75000"/>
                  </a:schemeClr>
                </a:solidFill>
              </a:rPr>
              <a:t> </a:t>
            </a:r>
            <a:r>
              <a:rPr lang="pt-BR" sz="2400" dirty="0"/>
              <a:t>– </a:t>
            </a:r>
            <a:r>
              <a:rPr lang="pt-BR" sz="2400" dirty="0">
                <a:solidFill>
                  <a:schemeClr val="accent6">
                    <a:lumMod val="75000"/>
                  </a:schemeClr>
                </a:solidFill>
              </a:rPr>
              <a:t>“</a:t>
            </a:r>
            <a:r>
              <a:rPr lang="pt-BR" sz="2400" i="1" dirty="0" err="1">
                <a:solidFill>
                  <a:schemeClr val="accent6">
                    <a:lumMod val="75000"/>
                  </a:schemeClr>
                </a:solidFill>
              </a:rPr>
              <a:t>worst</a:t>
            </a:r>
            <a:r>
              <a:rPr lang="pt-BR" sz="2400" i="1" dirty="0">
                <a:solidFill>
                  <a:schemeClr val="accent6">
                    <a:lumMod val="75000"/>
                  </a:schemeClr>
                </a:solidFill>
              </a:rPr>
              <a:t> </a:t>
            </a:r>
            <a:r>
              <a:rPr lang="pt-BR" sz="2400" i="1" dirty="0" err="1">
                <a:solidFill>
                  <a:schemeClr val="accent6">
                    <a:lumMod val="75000"/>
                  </a:schemeClr>
                </a:solidFill>
              </a:rPr>
              <a:t>fit</a:t>
            </a:r>
            <a:r>
              <a:rPr lang="pt-BR" sz="2400" i="1" dirty="0">
                <a:solidFill>
                  <a:schemeClr val="accent6">
                    <a:lumMod val="75000"/>
                  </a:schemeClr>
                </a:solidFill>
              </a:rPr>
              <a:t>”</a:t>
            </a:r>
            <a:endParaRPr lang="pt-BR" sz="2400" dirty="0">
              <a:solidFill>
                <a:schemeClr val="accent6">
                  <a:lumMod val="75000"/>
                </a:schemeClr>
              </a:solidFill>
            </a:endParaRPr>
          </a:p>
          <a:p>
            <a:pPr lvl="1"/>
            <a:r>
              <a:rPr lang="pt-BR" sz="2000" dirty="0"/>
              <a:t>A LED é mantida ordenada em </a:t>
            </a:r>
            <a:r>
              <a:rPr lang="pt-BR" sz="2000" b="1" u="sng" dirty="0"/>
              <a:t>ordem decrescente do tamanho dos espaços disponíveis</a:t>
            </a:r>
          </a:p>
          <a:p>
            <a:pPr lvl="1"/>
            <a:r>
              <a:rPr lang="pt-BR" sz="2000" dirty="0"/>
              <a:t>Novos espaços devem ser incluídos na LED de forma ordenada</a:t>
            </a:r>
          </a:p>
          <a:p>
            <a:pPr lvl="1"/>
            <a:r>
              <a:rPr lang="pt-BR" sz="2000" dirty="0"/>
              <a:t>Na inserção de um novo registro:</a:t>
            </a:r>
          </a:p>
          <a:p>
            <a:pPr lvl="2"/>
            <a:r>
              <a:rPr lang="pt-BR" sz="1800" dirty="0"/>
              <a:t>Reutiliza-se o espaço que está na cabeça da LED, se ele for adequado</a:t>
            </a:r>
          </a:p>
          <a:p>
            <a:pPr lvl="3"/>
            <a:r>
              <a:rPr lang="pt-BR" sz="1600" b="1" dirty="0">
                <a:solidFill>
                  <a:schemeClr val="accent6">
                    <a:lumMod val="75000"/>
                  </a:schemeClr>
                </a:solidFill>
              </a:rPr>
              <a:t>O espaço na cabeça da LED será o maior espaço disponível</a:t>
            </a:r>
          </a:p>
          <a:p>
            <a:pPr lvl="3"/>
            <a:r>
              <a:rPr lang="pt-BR" sz="1600" b="1" dirty="0">
                <a:solidFill>
                  <a:schemeClr val="accent6">
                    <a:lumMod val="75000"/>
                  </a:schemeClr>
                </a:solidFill>
              </a:rPr>
              <a:t>A sobra será a maior possível, aumentando as chances de reutilização</a:t>
            </a:r>
          </a:p>
          <a:p>
            <a:pPr lvl="3"/>
            <a:r>
              <a:rPr lang="pt-BR" sz="1600" dirty="0"/>
              <a:t>O espaço que sobra é reinserido para a LED</a:t>
            </a:r>
          </a:p>
          <a:p>
            <a:pPr lvl="2"/>
            <a:r>
              <a:rPr lang="pt-BR" sz="1800" dirty="0"/>
              <a:t>Se o espaço da cabeça da LED não for adequado, o novo registro é escrito no fim do arquivo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Estratégias de gerenciamento da LED</a:t>
            </a:r>
          </a:p>
        </p:txBody>
      </p:sp>
      <p:sp>
        <p:nvSpPr>
          <p:cNvPr id="3" name="Espaço Reservado para Conteúdo 2"/>
          <p:cNvSpPr>
            <a:spLocks noGrp="1"/>
          </p:cNvSpPr>
          <p:nvPr>
            <p:ph idx="1"/>
          </p:nvPr>
        </p:nvSpPr>
        <p:spPr/>
        <p:txBody>
          <a:bodyPr>
            <a:normAutofit/>
          </a:bodyPr>
          <a:lstStyle/>
          <a:p>
            <a:r>
              <a:rPr lang="pt-BR" sz="2800" dirty="0">
                <a:solidFill>
                  <a:schemeClr val="accent6">
                    <a:lumMod val="75000"/>
                  </a:schemeClr>
                </a:solidFill>
              </a:rPr>
              <a:t>Pior </a:t>
            </a:r>
            <a:r>
              <a:rPr lang="pt-BR" sz="2800" dirty="0"/>
              <a:t>ajuste</a:t>
            </a:r>
            <a:r>
              <a:rPr lang="pt-BR" sz="2800" dirty="0">
                <a:solidFill>
                  <a:schemeClr val="accent6">
                    <a:lumMod val="75000"/>
                  </a:schemeClr>
                </a:solidFill>
              </a:rPr>
              <a:t> </a:t>
            </a:r>
            <a:r>
              <a:rPr lang="pt-BR" sz="2800" dirty="0"/>
              <a:t>– </a:t>
            </a:r>
            <a:r>
              <a:rPr lang="pt-BR" sz="2800" dirty="0">
                <a:solidFill>
                  <a:schemeClr val="accent6">
                    <a:lumMod val="75000"/>
                  </a:schemeClr>
                </a:solidFill>
              </a:rPr>
              <a:t>“</a:t>
            </a:r>
            <a:r>
              <a:rPr lang="pt-BR" sz="2800" i="1" dirty="0" err="1">
                <a:solidFill>
                  <a:schemeClr val="accent6">
                    <a:lumMod val="75000"/>
                  </a:schemeClr>
                </a:solidFill>
              </a:rPr>
              <a:t>worst</a:t>
            </a:r>
            <a:r>
              <a:rPr lang="pt-BR" sz="2800" i="1" dirty="0">
                <a:solidFill>
                  <a:schemeClr val="accent6">
                    <a:lumMod val="75000"/>
                  </a:schemeClr>
                </a:solidFill>
              </a:rPr>
              <a:t> </a:t>
            </a:r>
            <a:r>
              <a:rPr lang="pt-BR" sz="2800" i="1" dirty="0" err="1">
                <a:solidFill>
                  <a:schemeClr val="accent6">
                    <a:lumMod val="75000"/>
                  </a:schemeClr>
                </a:solidFill>
              </a:rPr>
              <a:t>fit</a:t>
            </a:r>
            <a:r>
              <a:rPr lang="pt-BR" sz="2800" i="1" dirty="0">
                <a:solidFill>
                  <a:schemeClr val="accent6">
                    <a:lumMod val="75000"/>
                  </a:schemeClr>
                </a:solidFill>
              </a:rPr>
              <a:t>”</a:t>
            </a:r>
            <a:endParaRPr lang="pt-BR" sz="2800" dirty="0">
              <a:solidFill>
                <a:schemeClr val="accent6">
                  <a:lumMod val="75000"/>
                </a:schemeClr>
              </a:solidFill>
            </a:endParaRPr>
          </a:p>
          <a:p>
            <a:pPr lvl="1"/>
            <a:r>
              <a:rPr lang="pt-BR" dirty="0"/>
              <a:t>Vantagens</a:t>
            </a:r>
          </a:p>
          <a:p>
            <a:pPr lvl="2"/>
            <a:r>
              <a:rPr lang="pt-BR" dirty="0"/>
              <a:t>A busca na LED é rápida, pois olha-se apenas o elemento da cabeça</a:t>
            </a:r>
          </a:p>
          <a:p>
            <a:pPr lvl="3"/>
            <a:r>
              <a:rPr lang="pt-BR" dirty="0"/>
              <a:t>Se o espaço da cabeça não for grande o bastante para o novo registro, nenhum dos outros será</a:t>
            </a:r>
          </a:p>
          <a:p>
            <a:pPr lvl="2"/>
            <a:r>
              <a:rPr lang="pt-BR" dirty="0"/>
              <a:t>As sobras serão os maiores possíveis, aumentando as chances de nova reutilização</a:t>
            </a:r>
          </a:p>
          <a:p>
            <a:pPr lvl="1"/>
            <a:r>
              <a:rPr lang="pt-BR" dirty="0"/>
              <a:t>Desvantagem</a:t>
            </a:r>
          </a:p>
          <a:p>
            <a:pPr lvl="2"/>
            <a:r>
              <a:rPr lang="pt-BR" dirty="0"/>
              <a:t>A manutenção da LED mais lenta devido à inserção ordenada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Reduzindo a fragmentação externa</a:t>
            </a:r>
          </a:p>
        </p:txBody>
      </p:sp>
      <p:sp>
        <p:nvSpPr>
          <p:cNvPr id="3" name="Espaço Reservado para Conteúdo 2"/>
          <p:cNvSpPr>
            <a:spLocks noGrp="1"/>
          </p:cNvSpPr>
          <p:nvPr>
            <p:ph idx="1"/>
          </p:nvPr>
        </p:nvSpPr>
        <p:spPr>
          <a:xfrm>
            <a:off x="457200" y="1600200"/>
            <a:ext cx="8507288" cy="4972072"/>
          </a:xfrm>
        </p:spPr>
        <p:txBody>
          <a:bodyPr>
            <a:normAutofit/>
          </a:bodyPr>
          <a:lstStyle/>
          <a:p>
            <a:r>
              <a:rPr lang="pt-BR" dirty="0"/>
              <a:t>Estratégias de gerenciamento só se aplicam arquivo contém </a:t>
            </a:r>
            <a:r>
              <a:rPr lang="pt-BR" u="sng" dirty="0"/>
              <a:t>registros com tamanho variável</a:t>
            </a:r>
          </a:p>
          <a:p>
            <a:pPr lvl="2"/>
            <a:endParaRPr lang="pt-BR" sz="1800" dirty="0"/>
          </a:p>
          <a:p>
            <a:r>
              <a:rPr lang="pt-BR" dirty="0"/>
              <a:t>Qual é a melhor estratégia?</a:t>
            </a:r>
          </a:p>
          <a:p>
            <a:pPr lvl="1"/>
            <a:r>
              <a:rPr lang="pt-BR" sz="2200" dirty="0"/>
              <a:t>Depende da aplicação</a:t>
            </a:r>
          </a:p>
          <a:p>
            <a:pPr lvl="1"/>
            <a:r>
              <a:rPr lang="pt-BR" sz="2200" dirty="0"/>
              <a:t>Se o espaço é perdido por fragmentação interna </a:t>
            </a:r>
            <a:r>
              <a:rPr lang="pt-BR" sz="2200" dirty="0">
                <a:sym typeface="Wingdings" panose="05000000000000000000" pitchFamily="2" charset="2"/>
              </a:rPr>
              <a:t> </a:t>
            </a:r>
            <a:r>
              <a:rPr lang="pt-BR" sz="2200" dirty="0"/>
              <a:t>Melhor ajuste</a:t>
            </a:r>
          </a:p>
          <a:p>
            <a:pPr lvl="1"/>
            <a:r>
              <a:rPr lang="pt-BR" sz="2200" dirty="0"/>
              <a:t>Se o espaço é perdido por fragmentação externa </a:t>
            </a:r>
            <a:r>
              <a:rPr lang="pt-BR" sz="2200" dirty="0">
                <a:sym typeface="Wingdings" panose="05000000000000000000" pitchFamily="2" charset="2"/>
              </a:rPr>
              <a:t> </a:t>
            </a:r>
            <a:r>
              <a:rPr lang="pt-BR" sz="2200" dirty="0"/>
              <a:t>Pior ajuste</a:t>
            </a:r>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2441</TotalTime>
  <Words>2763</Words>
  <Application>Microsoft Office PowerPoint</Application>
  <PresentationFormat>Apresentação na tela (4:3)</PresentationFormat>
  <Paragraphs>335</Paragraphs>
  <Slides>25</Slides>
  <Notes>9</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25</vt:i4>
      </vt:variant>
    </vt:vector>
  </HeadingPairs>
  <TitlesOfParts>
    <vt:vector size="29" baseType="lpstr">
      <vt:lpstr>Arial</vt:lpstr>
      <vt:lpstr>Calibri</vt:lpstr>
      <vt:lpstr>Wingdings</vt:lpstr>
      <vt:lpstr>Tema do Office</vt:lpstr>
      <vt:lpstr>Fragmentação e  Reutilização de Espaço</vt:lpstr>
      <vt:lpstr>Fragmentação em arquivos</vt:lpstr>
      <vt:lpstr>Fragmentação em arquivos</vt:lpstr>
      <vt:lpstr>Fragmentação em arquivos</vt:lpstr>
      <vt:lpstr>Fragmentação em arquivos</vt:lpstr>
      <vt:lpstr>Reutilização estática</vt:lpstr>
      <vt:lpstr>Reutilização dinâmica</vt:lpstr>
      <vt:lpstr>Reutilização dinâmica</vt:lpstr>
      <vt:lpstr>Reutilização dinâmica</vt:lpstr>
      <vt:lpstr>PED</vt:lpstr>
      <vt:lpstr>Reutilização dinâmica</vt:lpstr>
      <vt:lpstr>LED</vt:lpstr>
      <vt:lpstr>Reutilização dinâmica</vt:lpstr>
      <vt:lpstr>Exemplo</vt:lpstr>
      <vt:lpstr>Fragmentação interna</vt:lpstr>
      <vt:lpstr>Fragmentação interna</vt:lpstr>
      <vt:lpstr>Fragmentação interna</vt:lpstr>
      <vt:lpstr>Fragmentação externa</vt:lpstr>
      <vt:lpstr>Estratégias de gerenciamento da LED</vt:lpstr>
      <vt:lpstr>Estratégias de gerenciamento da LED</vt:lpstr>
      <vt:lpstr>Estratégias de gerenciamento da LED</vt:lpstr>
      <vt:lpstr>Estratégias de gerenciamento da LED</vt:lpstr>
      <vt:lpstr>Estratégias de gerenciamento da LED</vt:lpstr>
      <vt:lpstr>Estratégias de gerenciamento da LED</vt:lpstr>
      <vt:lpstr>Reduzindo a fragmentação externa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 5 – Organização de Arquivos visando Desempenho Compactação</dc:title>
  <dc:creator>USUARIO</dc:creator>
  <cp:lastModifiedBy>Rodrigo</cp:lastModifiedBy>
  <cp:revision>152</cp:revision>
  <cp:lastPrinted>2021-09-02T20:33:30Z</cp:lastPrinted>
  <dcterms:created xsi:type="dcterms:W3CDTF">2010-05-09T17:19:08Z</dcterms:created>
  <dcterms:modified xsi:type="dcterms:W3CDTF">2026-04-24T00:40:31Z</dcterms:modified>
</cp:coreProperties>
</file>