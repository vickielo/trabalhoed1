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mWcNrRVwWnTPPu64+wLZ7Lp+e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99875C-9ED6-48D3-87BA-559994A3E383}">
  <a:tblStyle styleId="{2899875C-9ED6-48D3-87BA-559994A3E3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7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1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838" y="1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721852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838" y="9721852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Modificações na chave primária afeta índices, relatórios e outras fontes de informação baseadas na chave primária.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A chave primária deve ser “dataless”, ou seja, não deve conter dados reais que podem se repetir ou vir a mudar.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Chaves dataless são formadas artificialmente (contadores únicos). Por ex., número de inscrição em um evento.</a:t>
            </a:r>
            <a:endParaRPr/>
          </a:p>
        </p:txBody>
      </p:sp>
      <p:sp>
        <p:nvSpPr>
          <p:cNvPr id="78" name="Google Shape;78;p4:notes"/>
          <p:cNvSpPr txBox="1">
            <a:spLocks noGrp="1"/>
          </p:cNvSpPr>
          <p:nvPr>
            <p:ph type="sldNum" idx="12"/>
          </p:nvPr>
        </p:nvSpPr>
        <p:spPr>
          <a:xfrm>
            <a:off x="4023838" y="9721852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busca sequencial serve de </a:t>
            </a:r>
            <a:r>
              <a:rPr lang="pt-BR" i="1"/>
              <a:t>baseline</a:t>
            </a:r>
            <a:r>
              <a:rPr lang="pt-BR"/>
              <a:t> para a comparação do custo de outros métodos de busca.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Se dobrarmos o tamanho do arquivo, dobramos o custo do pior caso e do caso médio. Logo, o custo da busca sequencial é proporcional ao tamanho do arquivo.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Para um algoritmo em RAM, calcula-se o custo contando-se o número de operações de comparação realizadas.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Em disco, conta-se o número de leituras físicas (low-level read() calls).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Assume-se que cada read() realiza um seek e que todos os reads têm o mesmo custo. Isso não é verdade dada a bufferização do sistema, especialmente em sistemas monousuário. Em sistemas multiusuários é bem próximo da verdade (requisições simultâneas de acesso ao disco por diferentes usuários).</a:t>
            </a:r>
            <a:endParaRPr/>
          </a:p>
        </p:txBody>
      </p:sp>
      <p:sp>
        <p:nvSpPr>
          <p:cNvPr id="86" name="Google Shape;86;p5:notes"/>
          <p:cNvSpPr txBox="1">
            <a:spLocks noGrp="1"/>
          </p:cNvSpPr>
          <p:nvPr>
            <p:ph type="sldNum" idx="12"/>
          </p:nvPr>
        </p:nvSpPr>
        <p:spPr>
          <a:xfrm>
            <a:off x="4023838" y="9721852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“O custo de buscar e ler um registro e depois buscar e ler outro registro é maior que o custo de buscar (e ler) dois registros sucessivos de uma só vez” 🡪 assumindo um sistema multiusuário em que cada leitura demandaria um seek.</a:t>
            </a:r>
            <a:endParaRPr sz="12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:notes"/>
          <p:cNvSpPr txBox="1">
            <a:spLocks noGrp="1"/>
          </p:cNvSpPr>
          <p:nvPr>
            <p:ph type="sldNum" idx="12"/>
          </p:nvPr>
        </p:nvSpPr>
        <p:spPr>
          <a:xfrm>
            <a:off x="4023838" y="9721852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p7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Visto que a organização em blocos é física, ela geralmente está mais relacionada às características físicas do drive de disco do que ao conteúdo do arquivo. Por ex., em discos setorizados, geralmente os blocos tem um tamanho que é múltiplo do tamanho do setor.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Importante ter em mente que as funções de leitura e escrita são bufferizadas e já fazem leitura e escrita em blocos, geralmente utilizando o tamanho do cluster do SO como tamanho de bloco. Então, quando fazemos um read, p.e., um bloco todo do arquivo é trazido para o buffer de memória. </a:t>
            </a:r>
            <a:endParaRPr/>
          </a:p>
        </p:txBody>
      </p:sp>
      <p:sp>
        <p:nvSpPr>
          <p:cNvPr id="102" name="Google Shape;102;p7:notes"/>
          <p:cNvSpPr txBox="1">
            <a:spLocks noGrp="1"/>
          </p:cNvSpPr>
          <p:nvPr>
            <p:ph type="sldNum" idx="12"/>
          </p:nvPr>
        </p:nvSpPr>
        <p:spPr>
          <a:xfrm>
            <a:off x="4023838" y="9721852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arquivo deixa de ser visto como uma sequência de bytes e passa a ser visto como uma sequência de registros. Em vez de pensarmos em byte 0, byte 1, etc, pensamos nos registro 0, registro 1, etc.</a:t>
            </a:r>
            <a:endParaRPr/>
          </a:p>
        </p:txBody>
      </p:sp>
      <p:sp>
        <p:nvSpPr>
          <p:cNvPr id="174" name="Google Shape;174;p10:notes"/>
          <p:cNvSpPr txBox="1">
            <a:spLocks noGrp="1"/>
          </p:cNvSpPr>
          <p:nvPr>
            <p:ph type="sldNum" idx="12"/>
          </p:nvPr>
        </p:nvSpPr>
        <p:spPr>
          <a:xfrm>
            <a:off x="4023838" y="9721852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6" name="Google Shape;236;p14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Pode causar problemas porque algumas linguagens, como o Pascal, exige q todos os registros sejam do mesmo tipo/tamanho.</a:t>
            </a:r>
            <a:endParaRPr/>
          </a:p>
        </p:txBody>
      </p:sp>
      <p:sp>
        <p:nvSpPr>
          <p:cNvPr id="237" name="Google Shape;237;p14:notes"/>
          <p:cNvSpPr txBox="1">
            <a:spLocks noGrp="1"/>
          </p:cNvSpPr>
          <p:nvPr>
            <p:ph type="sldNum" idx="12"/>
          </p:nvPr>
        </p:nvSpPr>
        <p:spPr>
          <a:xfrm>
            <a:off x="4023838" y="9721852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8" name="Google Shape;258;p16:notes"/>
          <p:cNvSpPr txBox="1">
            <a:spLocks noGrp="1"/>
          </p:cNvSpPr>
          <p:nvPr>
            <p:ph type="body" idx="1"/>
          </p:nvPr>
        </p:nvSpPr>
        <p:spPr>
          <a:xfrm>
            <a:off x="710091" y="4860925"/>
            <a:ext cx="5683886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Linguagem C permite acesso direto a qualquer byte do arquivo 🡪 facilidade para implementação de registro de tamanho variável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Em Pascal, um arquivo é uma coleção de elementos do mesmo tipo, dificultando a implementação de registro de tamanho variável.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Standard Pascal nem tem seek, porque todo acesso ao arquivo é feito por RRN, já que os registros são de tamanho fixo.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Mesmo no Pascal com seek, os registros tem q ser do mesmo tipo (tamanho fixo).</a:t>
            </a:r>
            <a:endParaRPr/>
          </a:p>
        </p:txBody>
      </p:sp>
      <p:sp>
        <p:nvSpPr>
          <p:cNvPr id="259" name="Google Shape;259;p16:notes"/>
          <p:cNvSpPr txBox="1">
            <a:spLocks noGrp="1"/>
          </p:cNvSpPr>
          <p:nvPr>
            <p:ph type="sldNum" idx="12"/>
          </p:nvPr>
        </p:nvSpPr>
        <p:spPr>
          <a:xfrm>
            <a:off x="4023838" y="9721852"/>
            <a:ext cx="3078639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008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Noto Sans Symbols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8000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8000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1"/>
          </p:nvPr>
        </p:nvSpPr>
        <p:spPr>
          <a:xfrm rot="5400000">
            <a:off x="2073275" y="-15875"/>
            <a:ext cx="499745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solidFill>
                  <a:srgbClr val="008000"/>
                </a:solidFill>
              </a:rPr>
              <a:t>Acesso Sequencial e Direto</a:t>
            </a:r>
            <a:endParaRPr sz="5400">
              <a:solidFill>
                <a:srgbClr val="008000"/>
              </a:solidFill>
            </a:endParaRPr>
          </a:p>
        </p:txBody>
      </p:sp>
      <p:sp>
        <p:nvSpPr>
          <p:cNvPr id="56" name="Google Shape;56;p1"/>
          <p:cNvSpPr txBox="1">
            <a:spLocks noGrp="1"/>
          </p:cNvSpPr>
          <p:nvPr>
            <p:ph type="subTitle" idx="1"/>
          </p:nvPr>
        </p:nvSpPr>
        <p:spPr>
          <a:xfrm>
            <a:off x="642938" y="3886200"/>
            <a:ext cx="7858125" cy="254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None/>
            </a:pPr>
            <a:r>
              <a:rPr lang="pt-BR" sz="2400" dirty="0">
                <a:solidFill>
                  <a:srgbClr val="898989"/>
                </a:solidFill>
              </a:rPr>
              <a:t>Organização e Recuperação de Dados</a:t>
            </a:r>
            <a:endParaRPr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sz="2400" dirty="0">
              <a:solidFill>
                <a:srgbClr val="898989"/>
              </a:solidFill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98989"/>
              </a:buClr>
              <a:buSzPts val="2400"/>
              <a:buNone/>
            </a:pPr>
            <a:r>
              <a:rPr lang="pt-BR" sz="2400" dirty="0">
                <a:solidFill>
                  <a:srgbClr val="898989"/>
                </a:solidFill>
              </a:rPr>
              <a:t>UEM – CTC – DIN</a:t>
            </a:r>
            <a:endParaRPr sz="2400" dirty="0">
              <a:solidFill>
                <a:srgbClr val="898989"/>
              </a:solidFill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214313" y="6237312"/>
            <a:ext cx="864393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Slides preparados com base no Cap. 4 do livro FOLK, M.J. &amp; ZOELLICK, B. </a:t>
            </a:r>
            <a:r>
              <a:rPr lang="pt-BR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Structures</a:t>
            </a:r>
            <a:r>
              <a:rPr lang="pt-BR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2</a:t>
            </a:r>
            <a:r>
              <a:rPr lang="pt-BR" sz="140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pt-BR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Edition, Addison-Wesley Publishing Company, 1992, e nos slides disponibilizados pelo Prof. Pedro de Azevedo Berger (DCC/UnB)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Acesso a registros</a:t>
            </a:r>
            <a:endParaRPr/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114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Arquivos que utilizam registros pressupõem que: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O registro é a </a:t>
            </a:r>
            <a:r>
              <a:rPr lang="pt-BR">
                <a:solidFill>
                  <a:srgbClr val="E36C09"/>
                </a:solidFill>
              </a:rPr>
              <a:t>unidade</a:t>
            </a:r>
            <a:r>
              <a:rPr lang="pt-BR"/>
              <a:t> de informação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Deve ser possível </a:t>
            </a:r>
            <a:r>
              <a:rPr lang="pt-BR" u="sng"/>
              <a:t>recuperar um registro específico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Como identificar um registro?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Pela sua </a:t>
            </a:r>
            <a:r>
              <a:rPr lang="pt-BR">
                <a:solidFill>
                  <a:srgbClr val="E36C09"/>
                </a:solidFill>
              </a:rPr>
              <a:t>posição</a:t>
            </a:r>
            <a:r>
              <a:rPr lang="pt-BR"/>
              <a:t> no arquivo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/>
              <a:t>P.e., 6º registro, 2º registro, 10º registro, ...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 b="1">
                <a:solidFill>
                  <a:srgbClr val="C00000"/>
                </a:solidFill>
              </a:rPr>
              <a:t>👎 </a:t>
            </a:r>
            <a:r>
              <a:rPr lang="pt-BR"/>
              <a:t>Sem muita utilidade prática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Por um valor de </a:t>
            </a:r>
            <a:r>
              <a:rPr lang="pt-BR" b="1">
                <a:solidFill>
                  <a:srgbClr val="E36C09"/>
                </a:solidFill>
              </a:rPr>
              <a:t>chave</a:t>
            </a:r>
            <a:r>
              <a:rPr lang="pt-BR"/>
              <a:t> (um campo)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/>
              <a:t>P.e., Sobrenome = “Silva”, Nome = “Alan”, ...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 b="1">
                <a:solidFill>
                  <a:srgbClr val="008000"/>
                </a:solidFill>
              </a:rPr>
              <a:t>👍 </a:t>
            </a:r>
            <a:r>
              <a:rPr lang="pt-BR"/>
              <a:t>Mais conveniente</a:t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368879" y="6021288"/>
            <a:ext cx="8406242" cy="338554"/>
          </a:xfrm>
          <a:prstGeom prst="rect">
            <a:avLst/>
          </a:prstGeom>
          <a:solidFill>
            <a:srgbClr val="DAEEF3"/>
          </a:solidFill>
          <a:ln w="9525" cap="flat" cmpd="sng">
            <a:solidFill>
              <a:srgbClr val="205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Silva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Alan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(23)3666-1111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Flores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3300-9874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Santos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Cristina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(42)3568-4789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9684568" y="33265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 rot="-5400000">
            <a:off x="1478233" y="5332818"/>
            <a:ext cx="338552" cy="2392597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 rot="-5400000">
            <a:off x="3872356" y="5331294"/>
            <a:ext cx="355305" cy="2412401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 rot="-5400000">
            <a:off x="6509025" y="5107025"/>
            <a:ext cx="338552" cy="2844186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Chaves de registros</a:t>
            </a:r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Deve haver </a:t>
            </a:r>
            <a:r>
              <a:rPr lang="pt-BR">
                <a:solidFill>
                  <a:srgbClr val="E36C09"/>
                </a:solidFill>
              </a:rPr>
              <a:t>regras</a:t>
            </a:r>
            <a:r>
              <a:rPr lang="pt-BR"/>
              <a:t> para mapear os campos do registro em </a:t>
            </a:r>
            <a:r>
              <a:rPr lang="pt-BR">
                <a:solidFill>
                  <a:srgbClr val="E36C09"/>
                </a:solidFill>
              </a:rPr>
              <a:t>chaves em uma forma padrão </a:t>
            </a:r>
            <a:r>
              <a:rPr lang="pt-BR"/>
              <a:t>(canônica)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 u="sng"/>
              <a:t>Por exemplo</a:t>
            </a:r>
            <a:r>
              <a:rPr lang="pt-BR"/>
              <a:t>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Se a regra define que as chaves têm letras maiúsculas sem espaços em branco no final, qualquer entrada dada pelo usuário deve ser convertida para a forma canônica antes da inserção e da pesquisa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 i="1"/>
              <a:t>“SILVA” → SILVA 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 i="1"/>
              <a:t>“Silva” → SILVA 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 i="1"/>
              <a:t>“silva” → SILVA</a:t>
            </a:r>
            <a:endParaRPr>
              <a:solidFill>
                <a:srgbClr val="E36C0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Chaves de registros</a:t>
            </a:r>
            <a:endParaRPr/>
          </a:p>
        </p:txBody>
      </p:sp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Chave</a:t>
            </a:r>
            <a:r>
              <a:rPr lang="pt-BR">
                <a:solidFill>
                  <a:srgbClr val="008000"/>
                </a:solidFill>
              </a:rPr>
              <a:t> </a:t>
            </a:r>
            <a:r>
              <a:rPr lang="pt-BR" b="1">
                <a:solidFill>
                  <a:srgbClr val="008000"/>
                </a:solidFill>
              </a:rPr>
              <a:t>primária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pt-BR" sz="2200"/>
              <a:t>Identifica </a:t>
            </a:r>
            <a:r>
              <a:rPr lang="pt-BR" sz="2200" b="1">
                <a:solidFill>
                  <a:srgbClr val="E36C09"/>
                </a:solidFill>
              </a:rPr>
              <a:t>unicamente</a:t>
            </a:r>
            <a:r>
              <a:rPr lang="pt-BR" sz="2200"/>
              <a:t> cada registro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pt-BR" sz="2200"/>
              <a:t>Em geral, não pode ser modificada</a:t>
            </a:r>
            <a:endParaRPr/>
          </a:p>
          <a:p>
            <a:pPr marL="1143000" lvl="2" indent="-228600" algn="l" rtl="0"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pt-BR" sz="1800"/>
              <a:t>O ideal é que a chave primária seja artificial (“</a:t>
            </a:r>
            <a:r>
              <a:rPr lang="pt-BR" sz="1800" i="1"/>
              <a:t>dataless</a:t>
            </a:r>
            <a:r>
              <a:rPr lang="pt-BR" sz="1800"/>
              <a:t>”)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Chave</a:t>
            </a:r>
            <a:r>
              <a:rPr lang="pt-BR">
                <a:solidFill>
                  <a:srgbClr val="3333CC"/>
                </a:solidFill>
              </a:rPr>
              <a:t> </a:t>
            </a:r>
            <a:r>
              <a:rPr lang="pt-BR" b="1">
                <a:solidFill>
                  <a:srgbClr val="3333CC"/>
                </a:solidFill>
              </a:rPr>
              <a:t>secundária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pt-BR" sz="2200"/>
              <a:t>Chave que </a:t>
            </a:r>
            <a:r>
              <a:rPr lang="pt-BR" sz="2200" b="1">
                <a:solidFill>
                  <a:srgbClr val="E36C09"/>
                </a:solidFill>
              </a:rPr>
              <a:t>pode se repetir </a:t>
            </a:r>
            <a:r>
              <a:rPr lang="pt-BR" sz="2200"/>
              <a:t>em dois ou mais registros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pt-BR" sz="2200"/>
              <a:t>Não há garantia de unicidade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pt-BR" sz="2200"/>
              <a:t>Pode ser utilizada para buscas simultâneas de várias chaves (p.e., todos os “Rodrigues” que moram em “Maringá”)</a:t>
            </a:r>
            <a:endParaRPr/>
          </a:p>
          <a:p>
            <a:pPr marL="1143000" lvl="2" indent="-228600" algn="l" rtl="0"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pt-BR" sz="1800"/>
              <a:t>Exemplos: nome, cidade, UF, etc.</a:t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5580112" y="5517232"/>
            <a:ext cx="2952328" cy="830997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Voltaremos a falar de chaves primárias/secundárias quando falarmos sobre Índices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Busca sequencial</a:t>
            </a:r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43528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Como buscar um registro por chave?</a:t>
            </a:r>
            <a:endParaRPr sz="2400" u="sng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A </a:t>
            </a:r>
            <a:r>
              <a:rPr lang="pt-BR" sz="2400">
                <a:solidFill>
                  <a:srgbClr val="E36C09"/>
                </a:solidFill>
              </a:rPr>
              <a:t>busca sequencial </a:t>
            </a:r>
            <a:r>
              <a:rPr lang="pt-BR" sz="2400"/>
              <a:t>consiste em ler um arquivo, registro por registro, procurando por um certo valor de chave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Se a chave usada na busca for primária, apenas um registro será selecionado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 u="sng"/>
              <a:t>Desempenho</a:t>
            </a:r>
            <a:r>
              <a:rPr lang="pt-BR" sz="2400"/>
              <a:t> da busca sequencial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O esforço de buscar um registro específico é diretamente proporcional ao número </a:t>
            </a:r>
            <a:r>
              <a:rPr lang="pt-BR" sz="2000" i="1"/>
              <a:t>n</a:t>
            </a:r>
            <a:r>
              <a:rPr lang="pt-BR" sz="2000"/>
              <a:t> de registros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Para busca em arquivo, a medida utilizada é o número de </a:t>
            </a:r>
            <a:r>
              <a:rPr lang="pt-BR" sz="2000" u="sng"/>
              <a:t>leituras físicas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Se o acesso a cada registro implica em uma leitura física, então temos:</a:t>
            </a:r>
            <a:endParaRPr/>
          </a:p>
        </p:txBody>
      </p:sp>
      <p:graphicFrame>
        <p:nvGraphicFramePr>
          <p:cNvPr id="90" name="Google Shape;90;p5"/>
          <p:cNvGraphicFramePr/>
          <p:nvPr/>
        </p:nvGraphicFramePr>
        <p:xfrm>
          <a:off x="2786050" y="54848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{2899875C-9ED6-48D3-87BA-559994A3E383}</a:tableStyleId>
              </a:tblPr>
              <a:tblGrid>
                <a:gridCol w="15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Melhor caso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Pior caso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Caso médio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1" name="Google Shape;91;p5"/>
          <p:cNvGraphicFramePr/>
          <p:nvPr/>
        </p:nvGraphicFramePr>
        <p:xfrm>
          <a:off x="2782951" y="54848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{2899875C-9ED6-48D3-87BA-559994A3E383}</a:tableStyleId>
              </a:tblPr>
              <a:tblGrid>
                <a:gridCol w="15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Melhor caso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 leitura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O(1)</a:t>
                      </a:r>
                      <a:endParaRPr sz="1800" i="1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Pior caso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i="1"/>
                        <a:t>n</a:t>
                      </a:r>
                      <a:r>
                        <a:rPr lang="pt-BR" sz="1800"/>
                        <a:t> leituras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O(n)</a:t>
                      </a:r>
                      <a:endParaRPr sz="1800" i="1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Caso médio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i="1"/>
                        <a:t>n</a:t>
                      </a:r>
                      <a:r>
                        <a:rPr lang="pt-BR" sz="1800"/>
                        <a:t>/2 leituras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O(n)</a:t>
                      </a:r>
                      <a:endParaRPr sz="1800" i="1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Busca sequencial em blocos</a:t>
            </a:r>
            <a:endParaRPr/>
          </a:p>
        </p:txBody>
      </p:sp>
      <p:sp>
        <p:nvSpPr>
          <p:cNvPr id="98" name="Google Shape;98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O desempenho da busca sequencial será melhor se a leitura do arquivo é feita em </a:t>
            </a:r>
            <a:r>
              <a:rPr lang="pt-BR" sz="2400" u="sng"/>
              <a:t>bloco de registros</a:t>
            </a:r>
            <a:endParaRPr sz="240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Sabemos que a parte mais lenta do acesso ao disco é o </a:t>
            </a:r>
            <a:r>
              <a:rPr lang="pt-BR" sz="2000" b="1" i="1">
                <a:solidFill>
                  <a:srgbClr val="E36C09"/>
                </a:solidFill>
              </a:rPr>
              <a:t>seek</a:t>
            </a:r>
            <a:r>
              <a:rPr lang="pt-BR" sz="2000"/>
              <a:t>, realizado para localizar o cilindro correto do disco</a:t>
            </a:r>
            <a:endParaRPr sz="120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O custo de buscar e ler um registro e depois buscar e ler outro registro é maior do que o custo de buscar (e ler) dois registros sucessivos de uma só vez</a:t>
            </a:r>
            <a:endParaRPr sz="120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Podemos melhorar o desempenho da busca lendo um </a:t>
            </a:r>
            <a:r>
              <a:rPr lang="pt-BR" sz="2000" b="1">
                <a:solidFill>
                  <a:srgbClr val="E36C09"/>
                </a:solidFill>
              </a:rPr>
              <a:t>bloco com vários registros </a:t>
            </a:r>
            <a:r>
              <a:rPr lang="pt-BR" sz="2000"/>
              <a:t>por vez para então processar o bloco em RAM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7"/>
          <p:cNvGrpSpPr/>
          <p:nvPr/>
        </p:nvGrpSpPr>
        <p:grpSpPr>
          <a:xfrm>
            <a:off x="928662" y="4354305"/>
            <a:ext cx="7072362" cy="1900231"/>
            <a:chOff x="928662" y="4354305"/>
            <a:chExt cx="6572297" cy="1900231"/>
          </a:xfrm>
        </p:grpSpPr>
        <p:sp>
          <p:nvSpPr>
            <p:cNvPr id="105" name="Google Shape;105;p7"/>
            <p:cNvSpPr/>
            <p:nvPr/>
          </p:nvSpPr>
          <p:spPr>
            <a:xfrm>
              <a:off x="928662" y="4354305"/>
              <a:ext cx="6572296" cy="1561677"/>
            </a:xfrm>
            <a:prstGeom prst="rect">
              <a:avLst/>
            </a:prstGeom>
            <a:solidFill>
              <a:srgbClr val="FDE9D8"/>
            </a:solidFill>
            <a:ln w="28575" cap="flat" cmpd="sng">
              <a:solidFill>
                <a:srgbClr val="E36C0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7"/>
            <p:cNvSpPr txBox="1"/>
            <p:nvPr/>
          </p:nvSpPr>
          <p:spPr>
            <a:xfrm>
              <a:off x="5572133" y="5915982"/>
              <a:ext cx="1928826" cy="338554"/>
            </a:xfrm>
            <a:prstGeom prst="rect">
              <a:avLst/>
            </a:prstGeom>
            <a:solidFill>
              <a:srgbClr val="E36C0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Organização lógica</a:t>
              </a:r>
              <a:endParaRPr/>
            </a:p>
          </p:txBody>
        </p:sp>
      </p:grpSp>
      <p:grpSp>
        <p:nvGrpSpPr>
          <p:cNvPr id="107" name="Google Shape;107;p7"/>
          <p:cNvGrpSpPr/>
          <p:nvPr/>
        </p:nvGrpSpPr>
        <p:grpSpPr>
          <a:xfrm>
            <a:off x="928662" y="3172910"/>
            <a:ext cx="7072363" cy="967081"/>
            <a:chOff x="928662" y="3172910"/>
            <a:chExt cx="7072363" cy="967081"/>
          </a:xfrm>
        </p:grpSpPr>
        <p:sp>
          <p:nvSpPr>
            <p:cNvPr id="108" name="Google Shape;108;p7"/>
            <p:cNvSpPr/>
            <p:nvPr/>
          </p:nvSpPr>
          <p:spPr>
            <a:xfrm>
              <a:off x="928662" y="3497049"/>
              <a:ext cx="7072362" cy="642942"/>
            </a:xfrm>
            <a:prstGeom prst="rect">
              <a:avLst/>
            </a:prstGeom>
            <a:solidFill>
              <a:srgbClr val="EAF1DD"/>
            </a:solidFill>
            <a:ln w="28575" cap="flat" cmpd="sng">
              <a:solidFill>
                <a:srgbClr val="008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7"/>
            <p:cNvSpPr txBox="1"/>
            <p:nvPr/>
          </p:nvSpPr>
          <p:spPr>
            <a:xfrm>
              <a:off x="6072199" y="3172910"/>
              <a:ext cx="1928826" cy="33855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Organização física</a:t>
              </a:r>
              <a:endParaRPr/>
            </a:p>
          </p:txBody>
        </p:sp>
      </p:grpSp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Busca sequencial em blocos</a:t>
            </a:r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329642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O </a:t>
            </a:r>
            <a:r>
              <a:rPr lang="pt-BR" sz="2400">
                <a:solidFill>
                  <a:srgbClr val="E36C09"/>
                </a:solidFill>
              </a:rPr>
              <a:t>agrupamento de registros em blocos</a:t>
            </a:r>
            <a:r>
              <a:rPr lang="pt-BR" sz="2400"/>
              <a:t> introduz um novo nível de organização ao arquivo, porém diferente dos vistos até aqui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Campos e registros 🡪 manter/dar significado 🡪 Organização </a:t>
            </a:r>
            <a:r>
              <a:rPr lang="pt-BR" sz="2000">
                <a:solidFill>
                  <a:srgbClr val="E36C09"/>
                </a:solidFill>
              </a:rPr>
              <a:t>lógica</a:t>
            </a:r>
            <a:endParaRPr sz="200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Blocos 🡪 melhorar desempenho 🡪 Organização </a:t>
            </a:r>
            <a:r>
              <a:rPr lang="pt-BR" sz="2000">
                <a:solidFill>
                  <a:srgbClr val="008000"/>
                </a:solidFill>
              </a:rPr>
              <a:t>física</a:t>
            </a:r>
            <a:endParaRPr sz="2000"/>
          </a:p>
        </p:txBody>
      </p:sp>
      <p:sp>
        <p:nvSpPr>
          <p:cNvPr id="112" name="Google Shape;112;p7"/>
          <p:cNvSpPr txBox="1"/>
          <p:nvPr/>
        </p:nvSpPr>
        <p:spPr>
          <a:xfrm>
            <a:off x="2285984" y="6140255"/>
            <a:ext cx="4286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pt-BR" sz="16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2571736" y="6140255"/>
            <a:ext cx="4286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pt-BR" sz="16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6891067" y="6140255"/>
            <a:ext cx="4286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pt-BR" sz="16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2857488" y="6140255"/>
            <a:ext cx="4286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pt-BR" sz="16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6391001" y="6140255"/>
            <a:ext cx="57150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pt-BR" sz="16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4038882" y="6140255"/>
            <a:ext cx="131893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    .       .</a:t>
            </a:r>
            <a:endParaRPr sz="1600" b="1" i="1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2643174" y="5354437"/>
            <a:ext cx="500066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pt-BR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9" name="Google Shape;119;p7"/>
          <p:cNvSpPr txBox="1"/>
          <p:nvPr/>
        </p:nvSpPr>
        <p:spPr>
          <a:xfrm>
            <a:off x="3214678" y="5354437"/>
            <a:ext cx="500066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pt-BR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3786182" y="5354437"/>
            <a:ext cx="500066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pt-BR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6105249" y="5354437"/>
            <a:ext cx="500066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pt-BR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/>
          </a:p>
        </p:txBody>
      </p:sp>
      <p:cxnSp>
        <p:nvCxnSpPr>
          <p:cNvPr id="122" name="Google Shape;122;p7"/>
          <p:cNvCxnSpPr>
            <a:stCxn id="113" idx="0"/>
            <a:endCxn id="118" idx="2"/>
          </p:cNvCxnSpPr>
          <p:nvPr/>
        </p:nvCxnSpPr>
        <p:spPr>
          <a:xfrm rot="10800000" flipH="1">
            <a:off x="2786050" y="5723855"/>
            <a:ext cx="10710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3" name="Google Shape;123;p7"/>
          <p:cNvCxnSpPr>
            <a:stCxn id="112" idx="0"/>
            <a:endCxn id="118" idx="2"/>
          </p:cNvCxnSpPr>
          <p:nvPr/>
        </p:nvCxnSpPr>
        <p:spPr>
          <a:xfrm rot="10800000" flipH="1">
            <a:off x="2500298" y="5723855"/>
            <a:ext cx="39300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4" name="Google Shape;124;p7"/>
          <p:cNvCxnSpPr>
            <a:stCxn id="115" idx="0"/>
            <a:endCxn id="118" idx="2"/>
          </p:cNvCxnSpPr>
          <p:nvPr/>
        </p:nvCxnSpPr>
        <p:spPr>
          <a:xfrm rot="10800000">
            <a:off x="2893302" y="5723855"/>
            <a:ext cx="17850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5" name="Google Shape;125;p7"/>
          <p:cNvCxnSpPr>
            <a:endCxn id="119" idx="2"/>
          </p:cNvCxnSpPr>
          <p:nvPr/>
        </p:nvCxnSpPr>
        <p:spPr>
          <a:xfrm rot="10800000" flipH="1">
            <a:off x="3357611" y="5723769"/>
            <a:ext cx="10710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6" name="Google Shape;126;p7"/>
          <p:cNvCxnSpPr>
            <a:endCxn id="119" idx="2"/>
          </p:cNvCxnSpPr>
          <p:nvPr/>
        </p:nvCxnSpPr>
        <p:spPr>
          <a:xfrm rot="10800000">
            <a:off x="3464711" y="5723769"/>
            <a:ext cx="10710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7" name="Google Shape;127;p7"/>
          <p:cNvCxnSpPr>
            <a:endCxn id="120" idx="2"/>
          </p:cNvCxnSpPr>
          <p:nvPr/>
        </p:nvCxnSpPr>
        <p:spPr>
          <a:xfrm rot="10800000" flipH="1">
            <a:off x="3857715" y="5723769"/>
            <a:ext cx="17850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8" name="Google Shape;128;p7"/>
          <p:cNvCxnSpPr>
            <a:endCxn id="120" idx="2"/>
          </p:cNvCxnSpPr>
          <p:nvPr/>
        </p:nvCxnSpPr>
        <p:spPr>
          <a:xfrm rot="10800000">
            <a:off x="4036215" y="5723769"/>
            <a:ext cx="17850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9" name="Google Shape;129;p7"/>
          <p:cNvCxnSpPr>
            <a:stCxn id="116" idx="0"/>
            <a:endCxn id="121" idx="2"/>
          </p:cNvCxnSpPr>
          <p:nvPr/>
        </p:nvCxnSpPr>
        <p:spPr>
          <a:xfrm rot="10800000">
            <a:off x="6355153" y="5723855"/>
            <a:ext cx="32160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0" name="Google Shape;130;p7"/>
          <p:cNvCxnSpPr>
            <a:stCxn id="114" idx="0"/>
            <a:endCxn id="121" idx="2"/>
          </p:cNvCxnSpPr>
          <p:nvPr/>
        </p:nvCxnSpPr>
        <p:spPr>
          <a:xfrm rot="10800000">
            <a:off x="6355381" y="5723855"/>
            <a:ext cx="750000" cy="4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1" name="Google Shape;131;p7"/>
          <p:cNvCxnSpPr>
            <a:endCxn id="121" idx="2"/>
          </p:cNvCxnSpPr>
          <p:nvPr/>
        </p:nvCxnSpPr>
        <p:spPr>
          <a:xfrm rot="10800000" flipH="1">
            <a:off x="5890882" y="5723769"/>
            <a:ext cx="464400" cy="34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2" name="Google Shape;132;p7"/>
          <p:cNvSpPr txBox="1"/>
          <p:nvPr/>
        </p:nvSpPr>
        <p:spPr>
          <a:xfrm>
            <a:off x="2434196" y="4497181"/>
            <a:ext cx="1000132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pt-BR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33" name="Google Shape;133;p7"/>
          <p:cNvCxnSpPr>
            <a:stCxn id="118" idx="0"/>
            <a:endCxn id="132" idx="2"/>
          </p:cNvCxnSpPr>
          <p:nvPr/>
        </p:nvCxnSpPr>
        <p:spPr>
          <a:xfrm rot="10800000" flipH="1">
            <a:off x="2893207" y="4866637"/>
            <a:ext cx="41100" cy="48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4" name="Google Shape;134;p7"/>
          <p:cNvCxnSpPr>
            <a:stCxn id="119" idx="0"/>
            <a:endCxn id="132" idx="2"/>
          </p:cNvCxnSpPr>
          <p:nvPr/>
        </p:nvCxnSpPr>
        <p:spPr>
          <a:xfrm rot="10800000">
            <a:off x="2934311" y="4866637"/>
            <a:ext cx="530400" cy="48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5" name="Google Shape;135;p7"/>
          <p:cNvSpPr txBox="1"/>
          <p:nvPr/>
        </p:nvSpPr>
        <p:spPr>
          <a:xfrm>
            <a:off x="3571868" y="4497181"/>
            <a:ext cx="1000132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pt-BR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36" name="Google Shape;136;p7"/>
          <p:cNvCxnSpPr>
            <a:stCxn id="120" idx="0"/>
            <a:endCxn id="135" idx="2"/>
          </p:cNvCxnSpPr>
          <p:nvPr/>
        </p:nvCxnSpPr>
        <p:spPr>
          <a:xfrm rot="10800000" flipH="1">
            <a:off x="4036215" y="4866637"/>
            <a:ext cx="35700" cy="48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7" name="Google Shape;137;p7"/>
          <p:cNvCxnSpPr>
            <a:endCxn id="135" idx="2"/>
          </p:cNvCxnSpPr>
          <p:nvPr/>
        </p:nvCxnSpPr>
        <p:spPr>
          <a:xfrm rot="10800000">
            <a:off x="4071934" y="4866513"/>
            <a:ext cx="357300" cy="48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8" name="Google Shape;138;p7"/>
          <p:cNvCxnSpPr>
            <a:endCxn id="135" idx="2"/>
          </p:cNvCxnSpPr>
          <p:nvPr/>
        </p:nvCxnSpPr>
        <p:spPr>
          <a:xfrm rot="10800000">
            <a:off x="4071934" y="4866513"/>
            <a:ext cx="714300" cy="48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9" name="Google Shape;139;p7"/>
          <p:cNvSpPr txBox="1"/>
          <p:nvPr/>
        </p:nvSpPr>
        <p:spPr>
          <a:xfrm>
            <a:off x="5857884" y="4497181"/>
            <a:ext cx="1000132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pt-BR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/>
          </a:p>
        </p:txBody>
      </p:sp>
      <p:cxnSp>
        <p:nvCxnSpPr>
          <p:cNvPr id="140" name="Google Shape;140;p7"/>
          <p:cNvCxnSpPr>
            <a:stCxn id="121" idx="0"/>
            <a:endCxn id="139" idx="2"/>
          </p:cNvCxnSpPr>
          <p:nvPr/>
        </p:nvCxnSpPr>
        <p:spPr>
          <a:xfrm rot="10800000" flipH="1">
            <a:off x="6355282" y="4866637"/>
            <a:ext cx="2700" cy="48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1" name="Google Shape;141;p7"/>
          <p:cNvCxnSpPr>
            <a:endCxn id="139" idx="2"/>
          </p:cNvCxnSpPr>
          <p:nvPr/>
        </p:nvCxnSpPr>
        <p:spPr>
          <a:xfrm rot="10800000" flipH="1">
            <a:off x="5786450" y="4866513"/>
            <a:ext cx="571500" cy="48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2" name="Google Shape;142;p7"/>
          <p:cNvSpPr txBox="1"/>
          <p:nvPr/>
        </p:nvSpPr>
        <p:spPr>
          <a:xfrm>
            <a:off x="2428860" y="3627783"/>
            <a:ext cx="2643206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pt-BR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43" name="Google Shape;143;p7"/>
          <p:cNvCxnSpPr>
            <a:stCxn id="132" idx="0"/>
            <a:endCxn id="142" idx="2"/>
          </p:cNvCxnSpPr>
          <p:nvPr/>
        </p:nvCxnSpPr>
        <p:spPr>
          <a:xfrm rot="10800000" flipH="1">
            <a:off x="2934262" y="3997081"/>
            <a:ext cx="816300" cy="50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4" name="Google Shape;144;p7"/>
          <p:cNvCxnSpPr>
            <a:stCxn id="135" idx="0"/>
            <a:endCxn id="142" idx="2"/>
          </p:cNvCxnSpPr>
          <p:nvPr/>
        </p:nvCxnSpPr>
        <p:spPr>
          <a:xfrm rot="10800000">
            <a:off x="3750334" y="3997081"/>
            <a:ext cx="321600" cy="50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5" name="Google Shape;145;p7"/>
          <p:cNvCxnSpPr>
            <a:stCxn id="146" idx="0"/>
            <a:endCxn id="142" idx="2"/>
          </p:cNvCxnSpPr>
          <p:nvPr/>
        </p:nvCxnSpPr>
        <p:spPr>
          <a:xfrm rot="10800000">
            <a:off x="3750323" y="3997117"/>
            <a:ext cx="1387500" cy="51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7" name="Google Shape;147;p7"/>
          <p:cNvSpPr txBox="1"/>
          <p:nvPr/>
        </p:nvSpPr>
        <p:spPr>
          <a:xfrm>
            <a:off x="4643438" y="5373073"/>
            <a:ext cx="100013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 .    .</a:t>
            </a:r>
            <a:endParaRPr sz="1600" b="1" i="1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4637757" y="4515817"/>
            <a:ext cx="100013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 .    .</a:t>
            </a:r>
            <a:endParaRPr sz="1600" b="1" i="1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071538" y="6068817"/>
            <a:ext cx="12144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Nível 0</a:t>
            </a:r>
            <a:r>
              <a:rPr lang="pt-BR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caracteres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1071538" y="5214950"/>
            <a:ext cx="100013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Nível 1</a:t>
            </a:r>
            <a:r>
              <a:rPr lang="pt-BR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campos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071538" y="4354305"/>
            <a:ext cx="107157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Nível 2</a:t>
            </a:r>
            <a:r>
              <a:rPr lang="pt-BR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registros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1071538" y="3497049"/>
            <a:ext cx="9286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Nível 3</a:t>
            </a:r>
            <a:r>
              <a:rPr lang="pt-BR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blocos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5214942" y="3627783"/>
            <a:ext cx="2643206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pt-BR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cxnSp>
        <p:nvCxnSpPr>
          <p:cNvPr id="153" name="Google Shape;153;p7"/>
          <p:cNvCxnSpPr>
            <a:stCxn id="139" idx="0"/>
            <a:endCxn id="152" idx="2"/>
          </p:cNvCxnSpPr>
          <p:nvPr/>
        </p:nvCxnSpPr>
        <p:spPr>
          <a:xfrm rot="10800000" flipH="1">
            <a:off x="6357950" y="3997081"/>
            <a:ext cx="178500" cy="50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4" name="Google Shape;154;p7"/>
          <p:cNvCxnSpPr>
            <a:endCxn id="152" idx="2"/>
          </p:cNvCxnSpPr>
          <p:nvPr/>
        </p:nvCxnSpPr>
        <p:spPr>
          <a:xfrm rot="10800000" flipH="1">
            <a:off x="5643445" y="3997115"/>
            <a:ext cx="893100" cy="50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5" name="Google Shape;155;p7"/>
          <p:cNvCxnSpPr>
            <a:stCxn id="147" idx="0"/>
            <a:endCxn id="139" idx="2"/>
          </p:cNvCxnSpPr>
          <p:nvPr/>
        </p:nvCxnSpPr>
        <p:spPr>
          <a:xfrm rot="10800000" flipH="1">
            <a:off x="5143504" y="4866373"/>
            <a:ext cx="1214400" cy="5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6" name="Google Shape;156;p7"/>
          <p:cNvCxnSpPr>
            <a:endCxn id="121" idx="2"/>
          </p:cNvCxnSpPr>
          <p:nvPr/>
        </p:nvCxnSpPr>
        <p:spPr>
          <a:xfrm rot="10800000" flipH="1">
            <a:off x="6248182" y="5723769"/>
            <a:ext cx="107100" cy="34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Busca sequencial em blocos</a:t>
            </a:r>
            <a:endParaRPr/>
          </a:p>
        </p:txBody>
      </p:sp>
      <p:sp>
        <p:nvSpPr>
          <p:cNvPr id="162" name="Google Shape;162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Se cada bloco tem </a:t>
            </a:r>
            <a:r>
              <a:rPr lang="pt-BR" sz="2400" i="1"/>
              <a:t>k</a:t>
            </a:r>
            <a:r>
              <a:rPr lang="pt-BR" sz="2400"/>
              <a:t> registros (</a:t>
            </a:r>
            <a:r>
              <a:rPr lang="pt-BR" sz="2400" i="1"/>
              <a:t>k </a:t>
            </a:r>
            <a:r>
              <a:rPr lang="pt-BR" sz="2400"/>
              <a:t>= fator de bloco)</a:t>
            </a:r>
            <a:r>
              <a:rPr lang="pt-BR" sz="2400" i="1"/>
              <a:t>, então: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endParaRPr sz="2400" i="1"/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Arial"/>
              <a:buNone/>
            </a:pPr>
            <a:endParaRPr sz="1800" i="1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None/>
            </a:pPr>
            <a:endParaRPr sz="2000" i="1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Exemplo: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Suponha um arquivo com </a:t>
            </a:r>
            <a:r>
              <a:rPr lang="pt-BR" sz="2000" b="1"/>
              <a:t>4.000 registros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 u="sng">
                <a:solidFill>
                  <a:srgbClr val="008000"/>
                </a:solidFill>
              </a:rPr>
              <a:t>Busca sequencial por registro</a:t>
            </a:r>
            <a:r>
              <a:rPr lang="pt-BR" sz="2000"/>
              <a:t>: teremos, em média, </a:t>
            </a:r>
            <a:r>
              <a:rPr lang="pt-BR" sz="2000" b="1"/>
              <a:t>2.000</a:t>
            </a:r>
            <a:r>
              <a:rPr lang="pt-BR" sz="2000"/>
              <a:t> leituras físicas para encontrar um registro específico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 u="sng">
                <a:solidFill>
                  <a:srgbClr val="E36C09"/>
                </a:solidFill>
              </a:rPr>
              <a:t>Busca sequencial por bloco</a:t>
            </a:r>
            <a:r>
              <a:rPr lang="pt-BR" sz="2000"/>
              <a:t>: se agruparmos 16 registros por bloco, teremos, em média, </a:t>
            </a:r>
            <a:r>
              <a:rPr lang="pt-BR" sz="2000" b="1"/>
              <a:t>125</a:t>
            </a:r>
            <a:r>
              <a:rPr lang="pt-BR" sz="2000"/>
              <a:t> leituras físicas para encontrar um registro</a:t>
            </a:r>
            <a:endParaRPr/>
          </a:p>
          <a:p>
            <a:pPr marL="1143000" lvl="2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▪"/>
            </a:pPr>
            <a:r>
              <a:rPr lang="pt-BR" sz="1600"/>
              <a:t>As características do sistema operacional devem ser consideradas na hora de definir o tamanho do bloco, p.e., é recomendado usar um tamanho que seja múltipo do tamanho de </a:t>
            </a:r>
            <a:r>
              <a:rPr lang="pt-BR" sz="1600" i="1"/>
              <a:t>cluster</a:t>
            </a:r>
            <a:r>
              <a:rPr lang="pt-BR" sz="1600"/>
              <a:t> usado pelo S.O.</a:t>
            </a:r>
            <a:endParaRPr/>
          </a:p>
        </p:txBody>
      </p:sp>
      <p:graphicFrame>
        <p:nvGraphicFramePr>
          <p:cNvPr id="163" name="Google Shape;163;p8"/>
          <p:cNvGraphicFramePr/>
          <p:nvPr/>
        </p:nvGraphicFramePr>
        <p:xfrm>
          <a:off x="2857488" y="21431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{2899875C-9ED6-48D3-87BA-559994A3E383}</a:tableStyleId>
              </a:tblPr>
              <a:tblGrid>
                <a:gridCol w="15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Melhor caso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1 leitura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i="1"/>
                        <a:t>O(1)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Pior caso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i="1"/>
                        <a:t>n</a:t>
                      </a:r>
                      <a:r>
                        <a:rPr lang="pt-BR" sz="1600" i="0"/>
                        <a:t>/</a:t>
                      </a:r>
                      <a:r>
                        <a:rPr lang="pt-BR" sz="1600" i="1"/>
                        <a:t>k</a:t>
                      </a:r>
                      <a:r>
                        <a:rPr lang="pt-BR" sz="1600"/>
                        <a:t> leituras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i="1"/>
                        <a:t>O(n)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Caso médio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i="1"/>
                        <a:t>n</a:t>
                      </a:r>
                      <a:r>
                        <a:rPr lang="pt-BR" sz="1600"/>
                        <a:t>/2</a:t>
                      </a:r>
                      <a:r>
                        <a:rPr lang="pt-BR" sz="1600" i="1"/>
                        <a:t>k</a:t>
                      </a:r>
                      <a:r>
                        <a:rPr lang="pt-BR" sz="1600"/>
                        <a:t> leituras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i="1"/>
                        <a:t>O(n)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4" name="Google Shape;164;p8"/>
          <p:cNvGraphicFramePr/>
          <p:nvPr/>
        </p:nvGraphicFramePr>
        <p:xfrm>
          <a:off x="2857488" y="21431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{2899875C-9ED6-48D3-87BA-559994A3E383}</a:tableStyleId>
              </a:tblPr>
              <a:tblGrid>
                <a:gridCol w="15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Melhor caso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Pior caso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Caso médio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Busca sequencial em blocos</a:t>
            </a:r>
            <a:endParaRPr/>
          </a:p>
        </p:txBody>
      </p:sp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Considerações: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A recuperação de blocos de registros economiza tempo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>
                <a:solidFill>
                  <a:schemeClr val="accent6"/>
                </a:solidFill>
              </a:rPr>
              <a:t>Reduz o número de operações de </a:t>
            </a:r>
            <a:r>
              <a:rPr lang="pt-BR" i="1">
                <a:solidFill>
                  <a:schemeClr val="accent6"/>
                </a:solidFill>
              </a:rPr>
              <a:t>seek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/>
              <a:t>Mas</a:t>
            </a:r>
            <a:r>
              <a:rPr lang="pt-BR">
                <a:solidFill>
                  <a:srgbClr val="009900"/>
                </a:solidFill>
              </a:rPr>
              <a:t> não muda a ordem do esforço</a:t>
            </a:r>
            <a:r>
              <a:rPr lang="pt-BR"/>
              <a:t>, que é de </a:t>
            </a:r>
            <a:r>
              <a:rPr lang="pt-BR" b="1"/>
              <a:t>O(n)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Pode aumentar a quantidade de transferências entre disco e RAM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/>
              <a:t>Sempre é transferido o bloco todo, mesmo quando o registro procurado for o primeiro do bloco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/>
              <a:t>Mesmo assim, dada a redução no número de </a:t>
            </a:r>
            <a:r>
              <a:rPr lang="pt-BR" i="1"/>
              <a:t>seeks</a:t>
            </a:r>
            <a:r>
              <a:rPr lang="pt-BR"/>
              <a:t> na média, </a:t>
            </a:r>
            <a:r>
              <a:rPr lang="pt-BR" u="sng"/>
              <a:t>compensa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Acesso direto</a:t>
            </a:r>
            <a:endParaRPr/>
          </a:p>
        </p:txBody>
      </p:sp>
      <p:sp>
        <p:nvSpPr>
          <p:cNvPr id="177" name="Google Shape;17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No acesso direto, um registro é acessado por meio do seu endereço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Idealizado para registros de fixo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Na busca pelo k-ésimo registro no arquivo: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O acesso é feito diretamente ao registro k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A leitura não passa pelos k – 1 registros anteriores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O  custo da busca é constante 🡪 </a:t>
            </a:r>
            <a:r>
              <a:rPr lang="pt-BR" i="1"/>
              <a:t>O(1)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/>
              <a:t>Independe do tamanho do arquivo</a:t>
            </a:r>
            <a:endParaRPr i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Acesso direto</a:t>
            </a:r>
            <a:endParaRPr/>
          </a:p>
        </p:txBody>
      </p:sp>
      <p:sp>
        <p:nvSpPr>
          <p:cNvPr id="183" name="Google Shape;18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Quando os registros têm </a:t>
            </a:r>
            <a:r>
              <a:rPr lang="pt-BR" sz="2400" u="sng"/>
              <a:t>tamanho fixo</a:t>
            </a:r>
            <a:r>
              <a:rPr lang="pt-BR" sz="2400"/>
              <a:t>, podemos usar a ordem em estão no arquivo como um endereço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Visão lógica do arquivo como uma sequência de registros em vez de uma sequência de bytes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Chamamos esse “endereço” de </a:t>
            </a:r>
            <a:r>
              <a:rPr lang="pt-BR" sz="2400" i="1">
                <a:solidFill>
                  <a:srgbClr val="E36C09"/>
                </a:solidFill>
              </a:rPr>
              <a:t>Relative Record Number </a:t>
            </a:r>
            <a:r>
              <a:rPr lang="pt-BR" sz="2400"/>
              <a:t>(Número Relativo do Registro) 🡪 </a:t>
            </a:r>
            <a:r>
              <a:rPr lang="pt-BR" sz="2400">
                <a:solidFill>
                  <a:srgbClr val="E36C09"/>
                </a:solidFill>
              </a:rPr>
              <a:t>RRN</a:t>
            </a:r>
            <a:endParaRPr sz="1600" i="1">
              <a:solidFill>
                <a:srgbClr val="C00000"/>
              </a:solidFill>
            </a:endParaRPr>
          </a:p>
          <a:p>
            <a:pPr marL="1143000" lvl="2" indent="-12700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 i="1">
              <a:solidFill>
                <a:srgbClr val="C00000"/>
              </a:solidFill>
            </a:endParaRPr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rgbClr val="C00000"/>
              </a:solidFill>
            </a:endParaRPr>
          </a:p>
        </p:txBody>
      </p:sp>
      <p:grpSp>
        <p:nvGrpSpPr>
          <p:cNvPr id="184" name="Google Shape;184;p11"/>
          <p:cNvGrpSpPr/>
          <p:nvPr/>
        </p:nvGrpSpPr>
        <p:grpSpPr>
          <a:xfrm>
            <a:off x="1185403" y="4077072"/>
            <a:ext cx="6773192" cy="907419"/>
            <a:chOff x="1196799" y="4817681"/>
            <a:chExt cx="6773192" cy="907419"/>
          </a:xfrm>
        </p:grpSpPr>
        <p:sp>
          <p:nvSpPr>
            <p:cNvPr id="185" name="Google Shape;185;p11"/>
            <p:cNvSpPr txBox="1"/>
            <p:nvPr/>
          </p:nvSpPr>
          <p:spPr>
            <a:xfrm>
              <a:off x="1210415" y="5050096"/>
              <a:ext cx="6696297" cy="338554"/>
            </a:xfrm>
            <a:prstGeom prst="rect">
              <a:avLst/>
            </a:prstGeom>
            <a:solidFill>
              <a:srgbClr val="DAEEF3"/>
            </a:solidFill>
            <a:ln w="9525" cap="flat" cmpd="sng">
              <a:solidFill>
                <a:srgbClr val="205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Silva     Alan      (23)3666-1111  Soares     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Andrei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(31)3300-9874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Rodrigues ...</a:t>
              </a:r>
              <a:endParaRPr/>
            </a:p>
          </p:txBody>
        </p:sp>
        <p:sp>
          <p:nvSpPr>
            <p:cNvPr id="186" name="Google Shape;186;p11"/>
            <p:cNvSpPr txBox="1"/>
            <p:nvPr/>
          </p:nvSpPr>
          <p:spPr>
            <a:xfrm>
              <a:off x="1201239" y="4817681"/>
              <a:ext cx="67687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i="1">
                  <a:solidFill>
                    <a:schemeClr val="dk1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pt-BR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1 2...     ...              ...                              ... </a:t>
              </a:r>
              <a:r>
                <a:rPr lang="pt-BR" sz="1200" i="1">
                  <a:solidFill>
                    <a:schemeClr val="dk1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33</a:t>
              </a:r>
              <a:r>
                <a:rPr lang="pt-BR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         ...                ...                  ...                 ... </a:t>
              </a:r>
              <a:r>
                <a:rPr lang="pt-BR" sz="1200" i="1">
                  <a:solidFill>
                    <a:schemeClr val="dk1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66</a:t>
              </a:r>
              <a:r>
                <a:rPr lang="pt-BR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  <p:cxnSp>
          <p:nvCxnSpPr>
            <p:cNvPr id="187" name="Google Shape;187;p11"/>
            <p:cNvCxnSpPr/>
            <p:nvPr/>
          </p:nvCxnSpPr>
          <p:spPr>
            <a:xfrm>
              <a:off x="3774856" y="5063667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11"/>
            <p:cNvCxnSpPr/>
            <p:nvPr/>
          </p:nvCxnSpPr>
          <p:spPr>
            <a:xfrm>
              <a:off x="6647176" y="5058104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9" name="Google Shape;189;p11"/>
            <p:cNvSpPr txBox="1"/>
            <p:nvPr/>
          </p:nvSpPr>
          <p:spPr>
            <a:xfrm>
              <a:off x="2348831" y="5386546"/>
              <a:ext cx="2743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highlight>
                    <a:srgbClr val="00FFFF"/>
                  </a:highlight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0" name="Google Shape;190;p11"/>
            <p:cNvSpPr txBox="1"/>
            <p:nvPr/>
          </p:nvSpPr>
          <p:spPr>
            <a:xfrm>
              <a:off x="5197093" y="5386546"/>
              <a:ext cx="2743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highlight>
                    <a:srgbClr val="00FFFF"/>
                  </a:highlight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91" name="Google Shape;191;p11"/>
            <p:cNvSpPr txBox="1"/>
            <p:nvPr/>
          </p:nvSpPr>
          <p:spPr>
            <a:xfrm>
              <a:off x="7681959" y="5386546"/>
              <a:ext cx="2743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highlight>
                    <a:srgbClr val="00FFFF"/>
                  </a:highlight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192" name="Google Shape;192;p11"/>
            <p:cNvCxnSpPr/>
            <p:nvPr/>
          </p:nvCxnSpPr>
          <p:spPr>
            <a:xfrm>
              <a:off x="1844775" y="5055378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3" name="Google Shape;193;p11"/>
            <p:cNvCxnSpPr/>
            <p:nvPr/>
          </p:nvCxnSpPr>
          <p:spPr>
            <a:xfrm>
              <a:off x="2520279" y="5065283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4" name="Google Shape;194;p11"/>
            <p:cNvCxnSpPr/>
            <p:nvPr/>
          </p:nvCxnSpPr>
          <p:spPr>
            <a:xfrm>
              <a:off x="4667951" y="5064522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5" name="Google Shape;195;p11"/>
            <p:cNvCxnSpPr/>
            <p:nvPr/>
          </p:nvCxnSpPr>
          <p:spPr>
            <a:xfrm>
              <a:off x="5396423" y="5064522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6" name="Google Shape;196;p11"/>
            <p:cNvSpPr/>
            <p:nvPr/>
          </p:nvSpPr>
          <p:spPr>
            <a:xfrm>
              <a:off x="1196799" y="5050096"/>
              <a:ext cx="2582498" cy="334704"/>
            </a:xfrm>
            <a:prstGeom prst="rect">
              <a:avLst/>
            </a:prstGeom>
            <a:noFill/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3788472" y="5053815"/>
              <a:ext cx="2854263" cy="331847"/>
            </a:xfrm>
            <a:prstGeom prst="rect">
              <a:avLst/>
            </a:prstGeom>
            <a:noFill/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6651057" y="5052616"/>
              <a:ext cx="1255656" cy="327970"/>
            </a:xfrm>
            <a:prstGeom prst="rect">
              <a:avLst/>
            </a:prstGeom>
            <a:noFill/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11"/>
          <p:cNvSpPr/>
          <p:nvPr/>
        </p:nvSpPr>
        <p:spPr>
          <a:xfrm rot="10800000">
            <a:off x="2302589" y="5124926"/>
            <a:ext cx="344011" cy="57606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1763225" y="5732025"/>
            <a:ext cx="14227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RRN = 0</a:t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 rot="10800000">
            <a:off x="5151668" y="5124926"/>
            <a:ext cx="344011" cy="57606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4612304" y="5732025"/>
            <a:ext cx="14227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RRN = 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Acesso direto</a:t>
            </a:r>
            <a:endParaRPr/>
          </a:p>
        </p:txBody>
      </p:sp>
      <p:sp>
        <p:nvSpPr>
          <p:cNvPr id="208" name="Google Shape;208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Como fazer acesso por RRN?</a:t>
            </a:r>
            <a:endParaRPr u="sng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É possível calcular o </a:t>
            </a:r>
            <a:r>
              <a:rPr lang="pt-BR" i="1"/>
              <a:t>byte-offset</a:t>
            </a:r>
            <a:r>
              <a:rPr lang="pt-BR"/>
              <a:t> do registro a partir do RRN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 i="1">
                <a:solidFill>
                  <a:srgbClr val="E36C09"/>
                </a:solidFill>
              </a:rPr>
              <a:t>byte-offset</a:t>
            </a:r>
            <a:r>
              <a:rPr lang="pt-BR">
                <a:solidFill>
                  <a:srgbClr val="E36C09"/>
                </a:solidFill>
              </a:rPr>
              <a:t> = RRN * tamanho do registro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/>
              <a:t>P.e., se queremos o recuperar o registro de RRN = 546 e o tamanho dos registros é 128b, então o </a:t>
            </a:r>
            <a:r>
              <a:rPr lang="pt-BR" i="1"/>
              <a:t>byte-offset</a:t>
            </a:r>
            <a:r>
              <a:rPr lang="pt-BR"/>
              <a:t> do registrado procurado é 546 * 128 = 69.888 🡪 i.e., o 1º byte do registro em questão está no deslocamento 69.888 a partir do início do arquivo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pt-BR"/>
              <a:t>A quantidade de bytes do cabeçalho do arquivo (se houver) deve ser considerada no cálculo</a:t>
            </a:r>
            <a:endParaRPr i="1"/>
          </a:p>
          <a:p>
            <a:pPr marL="1600200" lvl="3" indent="-228600" algn="l" rtl="0"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pt-BR" i="1">
                <a:solidFill>
                  <a:srgbClr val="E36C09"/>
                </a:solidFill>
              </a:rPr>
              <a:t>byte-offset</a:t>
            </a:r>
            <a:r>
              <a:rPr lang="pt-BR">
                <a:solidFill>
                  <a:srgbClr val="E36C09"/>
                </a:solidFill>
              </a:rPr>
              <a:t> = RRN * tamanho_registro + tamanho_cabeçalho</a:t>
            </a:r>
            <a:endParaRPr i="1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Conhecendo o </a:t>
            </a:r>
            <a:r>
              <a:rPr lang="pt-BR" i="1"/>
              <a:t>byte-offset</a:t>
            </a:r>
            <a:r>
              <a:rPr lang="pt-BR"/>
              <a:t>, podemos fazer um </a:t>
            </a:r>
            <a:r>
              <a:rPr lang="pt-BR" i="1"/>
              <a:t>seek()</a:t>
            </a:r>
            <a:r>
              <a:rPr lang="pt-BR"/>
              <a:t> diretamente para esse byte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Acesso direto</a:t>
            </a:r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Se os registros têm </a:t>
            </a:r>
            <a:r>
              <a:rPr lang="pt-BR" sz="2400" u="sng"/>
              <a:t>tamanho variável</a:t>
            </a:r>
            <a:r>
              <a:rPr lang="pt-BR" sz="2400"/>
              <a:t>, precisaremos conhecer os </a:t>
            </a:r>
            <a:r>
              <a:rPr lang="pt-BR" sz="2400" i="1"/>
              <a:t>byte-offsets</a:t>
            </a:r>
            <a:r>
              <a:rPr lang="pt-BR" sz="2400"/>
              <a:t> de antemão para poder fazer acesso direto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Registros de </a:t>
            </a:r>
            <a:r>
              <a:rPr lang="pt-BR" sz="2000" u="sng"/>
              <a:t>tamanho variável</a:t>
            </a:r>
            <a:r>
              <a:rPr lang="pt-BR" sz="2000"/>
              <a:t> 🡪 precisamos conhecer seu </a:t>
            </a:r>
            <a:r>
              <a:rPr lang="pt-BR" sz="2000" b="1" i="1">
                <a:solidFill>
                  <a:srgbClr val="008000"/>
                </a:solidFill>
              </a:rPr>
              <a:t>byte-offset</a:t>
            </a:r>
            <a:r>
              <a:rPr lang="pt-BR" sz="2000"/>
              <a:t> 🡪 endereço do primeiro byte do registro</a:t>
            </a:r>
            <a:endParaRPr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Registros de </a:t>
            </a:r>
            <a:r>
              <a:rPr lang="pt-BR" sz="2000" u="sng"/>
              <a:t>tamanho fixo</a:t>
            </a:r>
            <a:r>
              <a:rPr lang="pt-BR" sz="2000"/>
              <a:t> 🡪 conhecendo o </a:t>
            </a:r>
            <a:r>
              <a:rPr lang="pt-BR" sz="2000" b="1">
                <a:solidFill>
                  <a:srgbClr val="E36C09"/>
                </a:solidFill>
              </a:rPr>
              <a:t>RRN</a:t>
            </a:r>
            <a:r>
              <a:rPr lang="pt-BR" sz="2000"/>
              <a:t>, podemos calcular o </a:t>
            </a:r>
            <a:r>
              <a:rPr lang="pt-BR" sz="2000" i="1"/>
              <a:t>byte-offset</a:t>
            </a:r>
            <a:endParaRPr sz="2000" i="1">
              <a:solidFill>
                <a:srgbClr val="C00000"/>
              </a:solidFill>
            </a:endParaRPr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rgbClr val="C00000"/>
              </a:solidFill>
            </a:endParaRPr>
          </a:p>
        </p:txBody>
      </p:sp>
      <p:grpSp>
        <p:nvGrpSpPr>
          <p:cNvPr id="215" name="Google Shape;215;p13"/>
          <p:cNvGrpSpPr/>
          <p:nvPr/>
        </p:nvGrpSpPr>
        <p:grpSpPr>
          <a:xfrm>
            <a:off x="1187624" y="3212976"/>
            <a:ext cx="6768752" cy="570969"/>
            <a:chOff x="1313480" y="2476505"/>
            <a:chExt cx="6768752" cy="570969"/>
          </a:xfrm>
        </p:grpSpPr>
        <p:sp>
          <p:nvSpPr>
            <p:cNvPr id="216" name="Google Shape;216;p13"/>
            <p:cNvSpPr txBox="1"/>
            <p:nvPr/>
          </p:nvSpPr>
          <p:spPr>
            <a:xfrm>
              <a:off x="1322656" y="2708920"/>
              <a:ext cx="6696297" cy="338554"/>
            </a:xfrm>
            <a:prstGeom prst="rect">
              <a:avLst/>
            </a:prstGeom>
            <a:solidFill>
              <a:srgbClr val="DAEEF3"/>
            </a:solidFill>
            <a:ln w="9525" cap="flat" cmpd="sng">
              <a:solidFill>
                <a:srgbClr val="205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25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Silva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|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Alan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|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(23)3666-1111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|</a:t>
              </a:r>
              <a:r>
                <a:rPr lang="pt-BR" sz="16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Soares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|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Andrei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|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(31)3300-9874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|</a:t>
              </a:r>
              <a:r>
                <a:rPr lang="pt-BR" sz="16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34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Rodrigues...</a:t>
              </a:r>
              <a:endParaRPr/>
            </a:p>
          </p:txBody>
        </p:sp>
        <p:sp>
          <p:nvSpPr>
            <p:cNvPr id="217" name="Google Shape;217;p13"/>
            <p:cNvSpPr txBox="1"/>
            <p:nvPr/>
          </p:nvSpPr>
          <p:spPr>
            <a:xfrm>
              <a:off x="1313480" y="2476505"/>
              <a:ext cx="67687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i="1">
                  <a:solidFill>
                    <a:schemeClr val="dk1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pt-BR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1 2...     ...              ...                             ... </a:t>
              </a:r>
              <a:r>
                <a:rPr lang="pt-BR" sz="1200" i="1">
                  <a:solidFill>
                    <a:schemeClr val="dk1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27</a:t>
              </a:r>
              <a:r>
                <a:rPr lang="pt-BR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         ...                ...                  ...                ... </a:t>
              </a:r>
              <a:r>
                <a:rPr lang="pt-BR" sz="1200" i="1">
                  <a:solidFill>
                    <a:schemeClr val="dk1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57</a:t>
              </a:r>
              <a:r>
                <a:rPr lang="pt-BR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grpSp>
        <p:nvGrpSpPr>
          <p:cNvPr id="218" name="Google Shape;218;p13"/>
          <p:cNvGrpSpPr/>
          <p:nvPr/>
        </p:nvGrpSpPr>
        <p:grpSpPr>
          <a:xfrm>
            <a:off x="1161192" y="4941168"/>
            <a:ext cx="6773192" cy="907419"/>
            <a:chOff x="1196799" y="4817681"/>
            <a:chExt cx="6773192" cy="907419"/>
          </a:xfrm>
        </p:grpSpPr>
        <p:sp>
          <p:nvSpPr>
            <p:cNvPr id="219" name="Google Shape;219;p13"/>
            <p:cNvSpPr txBox="1"/>
            <p:nvPr/>
          </p:nvSpPr>
          <p:spPr>
            <a:xfrm>
              <a:off x="1210415" y="5050096"/>
              <a:ext cx="6696297" cy="338554"/>
            </a:xfrm>
            <a:prstGeom prst="rect">
              <a:avLst/>
            </a:prstGeom>
            <a:solidFill>
              <a:srgbClr val="DAEEF3"/>
            </a:solidFill>
            <a:ln w="9525" cap="flat" cmpd="sng">
              <a:solidFill>
                <a:srgbClr val="205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Silva     Alan      (23)3666-1111  Soares     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Andrei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(31)3300-9874</a:t>
              </a:r>
              <a:r>
                <a:rPr lang="pt-BR" sz="1600">
                  <a:solidFill>
                    <a:srgbClr val="E36C0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Rodrigues ...</a:t>
              </a:r>
              <a:endParaRPr/>
            </a:p>
          </p:txBody>
        </p:sp>
        <p:sp>
          <p:nvSpPr>
            <p:cNvPr id="220" name="Google Shape;220;p13"/>
            <p:cNvSpPr txBox="1"/>
            <p:nvPr/>
          </p:nvSpPr>
          <p:spPr>
            <a:xfrm>
              <a:off x="1201239" y="4817681"/>
              <a:ext cx="67687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i="1">
                  <a:solidFill>
                    <a:schemeClr val="dk1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pt-BR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1 2...     ...              ...                              ... </a:t>
              </a:r>
              <a:r>
                <a:rPr lang="pt-BR" sz="1200" i="1">
                  <a:solidFill>
                    <a:schemeClr val="dk1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33</a:t>
              </a:r>
              <a:r>
                <a:rPr lang="pt-BR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         ...                ...                  ...                 ... </a:t>
              </a:r>
              <a:r>
                <a:rPr lang="pt-BR" sz="1200" i="1">
                  <a:solidFill>
                    <a:schemeClr val="dk1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66</a:t>
              </a:r>
              <a:r>
                <a:rPr lang="pt-BR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  <p:cxnSp>
          <p:nvCxnSpPr>
            <p:cNvPr id="221" name="Google Shape;221;p13"/>
            <p:cNvCxnSpPr/>
            <p:nvPr/>
          </p:nvCxnSpPr>
          <p:spPr>
            <a:xfrm>
              <a:off x="3774856" y="5063667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2" name="Google Shape;222;p13"/>
            <p:cNvCxnSpPr/>
            <p:nvPr/>
          </p:nvCxnSpPr>
          <p:spPr>
            <a:xfrm>
              <a:off x="6647176" y="5058104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3" name="Google Shape;223;p13"/>
            <p:cNvSpPr txBox="1"/>
            <p:nvPr/>
          </p:nvSpPr>
          <p:spPr>
            <a:xfrm>
              <a:off x="2348831" y="5386546"/>
              <a:ext cx="2743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highlight>
                    <a:srgbClr val="00FFFF"/>
                  </a:highlight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24" name="Google Shape;224;p13"/>
            <p:cNvSpPr txBox="1"/>
            <p:nvPr/>
          </p:nvSpPr>
          <p:spPr>
            <a:xfrm>
              <a:off x="5197093" y="5386546"/>
              <a:ext cx="2743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highlight>
                    <a:srgbClr val="00FFFF"/>
                  </a:highlight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25" name="Google Shape;225;p13"/>
            <p:cNvSpPr txBox="1"/>
            <p:nvPr/>
          </p:nvSpPr>
          <p:spPr>
            <a:xfrm>
              <a:off x="7681959" y="5386546"/>
              <a:ext cx="2743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highlight>
                    <a:srgbClr val="00FFFF"/>
                  </a:highlight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226" name="Google Shape;226;p13"/>
            <p:cNvCxnSpPr/>
            <p:nvPr/>
          </p:nvCxnSpPr>
          <p:spPr>
            <a:xfrm>
              <a:off x="1844775" y="5055378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7" name="Google Shape;227;p13"/>
            <p:cNvCxnSpPr/>
            <p:nvPr/>
          </p:nvCxnSpPr>
          <p:spPr>
            <a:xfrm>
              <a:off x="2520279" y="5065283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8" name="Google Shape;228;p13"/>
            <p:cNvCxnSpPr/>
            <p:nvPr/>
          </p:nvCxnSpPr>
          <p:spPr>
            <a:xfrm>
              <a:off x="4667951" y="5064522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9" name="Google Shape;229;p13"/>
            <p:cNvCxnSpPr/>
            <p:nvPr/>
          </p:nvCxnSpPr>
          <p:spPr>
            <a:xfrm>
              <a:off x="5396423" y="5064522"/>
              <a:ext cx="0" cy="331847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0" name="Google Shape;230;p13"/>
            <p:cNvSpPr/>
            <p:nvPr/>
          </p:nvSpPr>
          <p:spPr>
            <a:xfrm>
              <a:off x="1196799" y="5050096"/>
              <a:ext cx="2582498" cy="334704"/>
            </a:xfrm>
            <a:prstGeom prst="rect">
              <a:avLst/>
            </a:prstGeom>
            <a:noFill/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788472" y="5053815"/>
              <a:ext cx="2854263" cy="331847"/>
            </a:xfrm>
            <a:prstGeom prst="rect">
              <a:avLst/>
            </a:prstGeom>
            <a:noFill/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6651057" y="5052616"/>
              <a:ext cx="1255656" cy="327970"/>
            </a:xfrm>
            <a:prstGeom prst="rect">
              <a:avLst/>
            </a:prstGeom>
            <a:noFill/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13"/>
          <p:cNvSpPr txBox="1"/>
          <p:nvPr/>
        </p:nvSpPr>
        <p:spPr>
          <a:xfrm>
            <a:off x="1082629" y="5990044"/>
            <a:ext cx="6978741" cy="36933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Sem um índice, o </a:t>
            </a:r>
            <a:r>
              <a:rPr lang="pt-BR" sz="1800" i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byte-offset </a:t>
            </a:r>
            <a:r>
              <a:rPr lang="pt-B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 o RRN não têm muita utilidade prática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Registro de cabeçalho (</a:t>
            </a:r>
            <a:r>
              <a:rPr lang="pt-BR" i="1"/>
              <a:t>Header</a:t>
            </a:r>
            <a:r>
              <a:rPr lang="pt-BR"/>
              <a:t>)</a:t>
            </a:r>
            <a:endParaRPr/>
          </a:p>
        </p:txBody>
      </p:sp>
      <p:sp>
        <p:nvSpPr>
          <p:cNvPr id="240" name="Google Shape;240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25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Podemos manter informações sobre o arquivo gravadas no 1º registro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 b="1">
                <a:solidFill>
                  <a:srgbClr val="E36C09"/>
                </a:solidFill>
              </a:rPr>
              <a:t>Registro de cabeçalho (</a:t>
            </a:r>
            <a:r>
              <a:rPr lang="pt-BR" sz="2000" b="1" i="1">
                <a:solidFill>
                  <a:srgbClr val="E36C09"/>
                </a:solidFill>
              </a:rPr>
              <a:t>header</a:t>
            </a:r>
            <a:r>
              <a:rPr lang="pt-BR" sz="2000" b="1">
                <a:solidFill>
                  <a:srgbClr val="E36C09"/>
                </a:solidFill>
              </a:rPr>
              <a:t>)</a:t>
            </a:r>
            <a:endParaRPr sz="20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Os dados do cabeçalho auxiliam o uso do arquivo por parte da aplicação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P.e.: número de registros, tamanho dos registros (se o tamanho for fixo), n</a:t>
            </a:r>
            <a:r>
              <a:rPr lang="pt-BR" sz="2000" u="sng" baseline="30000"/>
              <a:t>o</a:t>
            </a:r>
            <a:r>
              <a:rPr lang="pt-BR" sz="2000"/>
              <a:t> de campos nos registros, data/hora da última atualização, etc.</a:t>
            </a:r>
            <a:endParaRPr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■"/>
            </a:pPr>
            <a:r>
              <a:rPr lang="pt-BR" sz="2400"/>
              <a:t>O registro de cabeçalho difere dos demais registros do arquivo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 sz="2000"/>
              <a:t>O que pode ser um problema em algumas linguagens de programação</a:t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1196800" y="4669527"/>
            <a:ext cx="7047608" cy="338554"/>
          </a:xfrm>
          <a:prstGeom prst="rect">
            <a:avLst/>
          </a:prstGeom>
          <a:solidFill>
            <a:srgbClr val="DAEEF3"/>
          </a:solidFill>
          <a:ln w="9525" cap="flat" cmpd="sng">
            <a:solidFill>
              <a:srgbClr val="205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r>
              <a:rPr lang="pt-BR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Silva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Alan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(23)3666-1111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Soares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Andrei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(31)3300-9874</a:t>
            </a:r>
            <a:r>
              <a:rPr lang="pt-BR" sz="16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pt-BR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Rodrigues...</a:t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1187624" y="4437112"/>
            <a:ext cx="70476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i="1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pt-BR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    </a:t>
            </a:r>
            <a:r>
              <a:rPr lang="pt-BR" sz="1200" i="1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pt-BR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           ...              ...                            ... </a:t>
            </a:r>
            <a:r>
              <a:rPr lang="pt-BR" sz="1200" i="1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31</a:t>
            </a:r>
            <a:r>
              <a:rPr lang="pt-BR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         ...                ...                  ...                ... </a:t>
            </a:r>
            <a:r>
              <a:rPr lang="pt-BR" sz="1200" i="1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61</a:t>
            </a:r>
            <a:r>
              <a:rPr lang="pt-BR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        ...</a:t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 rot="-5400000">
            <a:off x="1280305" y="4922615"/>
            <a:ext cx="297208" cy="338554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F591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/>
              <a:t>Acesso a arquivos e organização de arquivos</a:t>
            </a:r>
            <a:endParaRPr/>
          </a:p>
        </p:txBody>
      </p:sp>
      <p:sp>
        <p:nvSpPr>
          <p:cNvPr id="249" name="Google Shape;249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Até aqui, nós vimos: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Registros de tamanho fixo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Registros de tamanho variável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Acesso sequencial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Acesso direto</a:t>
            </a:r>
            <a:endParaRPr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Char char="■"/>
            </a:pPr>
            <a:r>
              <a:rPr lang="pt-BR"/>
              <a:t>Como </a:t>
            </a:r>
            <a:r>
              <a:rPr lang="pt-BR" b="1">
                <a:solidFill>
                  <a:srgbClr val="E36C09"/>
                </a:solidFill>
              </a:rPr>
              <a:t>acesso</a:t>
            </a:r>
            <a:r>
              <a:rPr lang="pt-BR"/>
              <a:t> e </a:t>
            </a:r>
            <a:r>
              <a:rPr lang="pt-BR" b="1">
                <a:solidFill>
                  <a:srgbClr val="008000"/>
                </a:solidFill>
              </a:rPr>
              <a:t>organização</a:t>
            </a:r>
            <a:r>
              <a:rPr lang="pt-BR"/>
              <a:t> interagem?</a:t>
            </a:r>
            <a:endParaRPr/>
          </a:p>
        </p:txBody>
      </p:sp>
      <p:grpSp>
        <p:nvGrpSpPr>
          <p:cNvPr id="250" name="Google Shape;250;p15"/>
          <p:cNvGrpSpPr/>
          <p:nvPr/>
        </p:nvGrpSpPr>
        <p:grpSpPr>
          <a:xfrm>
            <a:off x="1214414" y="2143116"/>
            <a:ext cx="5301802" cy="857256"/>
            <a:chOff x="1214414" y="2143116"/>
            <a:chExt cx="5301802" cy="857256"/>
          </a:xfrm>
        </p:grpSpPr>
        <p:sp>
          <p:nvSpPr>
            <p:cNvPr id="251" name="Google Shape;251;p15"/>
            <p:cNvSpPr/>
            <p:nvPr/>
          </p:nvSpPr>
          <p:spPr>
            <a:xfrm>
              <a:off x="1214414" y="2143116"/>
              <a:ext cx="3929090" cy="857256"/>
            </a:xfrm>
            <a:prstGeom prst="rect">
              <a:avLst/>
            </a:prstGeom>
            <a:noFill/>
            <a:ln w="1905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5"/>
            <p:cNvSpPr txBox="1"/>
            <p:nvPr/>
          </p:nvSpPr>
          <p:spPr>
            <a:xfrm>
              <a:off x="5143504" y="2143116"/>
              <a:ext cx="1372712" cy="338554"/>
            </a:xfrm>
            <a:prstGeom prst="rect">
              <a:avLst/>
            </a:prstGeom>
            <a:solidFill>
              <a:srgbClr val="008000"/>
            </a:solidFill>
            <a:ln w="9525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Organização</a:t>
              </a:r>
              <a:endParaRPr/>
            </a:p>
          </p:txBody>
        </p:sp>
      </p:grpSp>
      <p:grpSp>
        <p:nvGrpSpPr>
          <p:cNvPr id="253" name="Google Shape;253;p15"/>
          <p:cNvGrpSpPr/>
          <p:nvPr/>
        </p:nvGrpSpPr>
        <p:grpSpPr>
          <a:xfrm>
            <a:off x="1214414" y="3000372"/>
            <a:ext cx="3645618" cy="857256"/>
            <a:chOff x="1214414" y="3000372"/>
            <a:chExt cx="3645618" cy="857256"/>
          </a:xfrm>
        </p:grpSpPr>
        <p:sp>
          <p:nvSpPr>
            <p:cNvPr id="254" name="Google Shape;254;p15"/>
            <p:cNvSpPr/>
            <p:nvPr/>
          </p:nvSpPr>
          <p:spPr>
            <a:xfrm>
              <a:off x="1214414" y="3000372"/>
              <a:ext cx="2643206" cy="857256"/>
            </a:xfrm>
            <a:prstGeom prst="rect">
              <a:avLst/>
            </a:prstGeom>
            <a:noFill/>
            <a:ln w="19050" cap="flat" cmpd="sng">
              <a:solidFill>
                <a:srgbClr val="E36C0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5"/>
            <p:cNvSpPr txBox="1"/>
            <p:nvPr/>
          </p:nvSpPr>
          <p:spPr>
            <a:xfrm>
              <a:off x="3857620" y="3272853"/>
              <a:ext cx="1002412" cy="584775"/>
            </a:xfrm>
            <a:prstGeom prst="rect">
              <a:avLst/>
            </a:prstGeom>
            <a:solidFill>
              <a:srgbClr val="E36C09"/>
            </a:solidFill>
            <a:ln w="9525" cap="flat" cmpd="sng">
              <a:solidFill>
                <a:srgbClr val="E36C0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Modo de acesso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/>
              <a:t>Acesso a arquivos e organização de arquivos</a:t>
            </a:r>
            <a:endParaRPr/>
          </a:p>
        </p:txBody>
      </p:sp>
      <p:sp>
        <p:nvSpPr>
          <p:cNvPr id="262" name="Google Shape;262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pt-BR" sz="2400"/>
              <a:t>A escolha de uma </a:t>
            </a:r>
            <a:r>
              <a:rPr lang="pt-BR" sz="2400" u="sng">
                <a:solidFill>
                  <a:srgbClr val="E36C09"/>
                </a:solidFill>
              </a:rPr>
              <a:t>organização</a:t>
            </a:r>
            <a:r>
              <a:rPr lang="pt-BR" sz="2400"/>
              <a:t> particular para um arquivo depende de várias coisas, entre elas:</a:t>
            </a:r>
            <a:endParaRPr/>
          </a:p>
          <a:p>
            <a:pPr marL="742950" lvl="1" indent="-285750" algn="l" rtl="0">
              <a:spcBef>
                <a:spcPts val="800"/>
              </a:spcBef>
              <a:spcAft>
                <a:spcPts val="0"/>
              </a:spcAft>
              <a:buSzPts val="2400"/>
              <a:buChar char="–"/>
            </a:pPr>
            <a:r>
              <a:rPr lang="pt-BR"/>
              <a:t>Facilidades oferecidas pela linguagem de programação</a:t>
            </a:r>
            <a:endParaRPr/>
          </a:p>
          <a:p>
            <a:pPr marL="742950" lvl="1" indent="-285750" algn="l" rtl="0">
              <a:spcBef>
                <a:spcPts val="800"/>
              </a:spcBef>
              <a:spcAft>
                <a:spcPts val="0"/>
              </a:spcAft>
              <a:buSzPts val="2400"/>
              <a:buChar char="–"/>
            </a:pPr>
            <a:r>
              <a:rPr lang="pt-BR" b="1">
                <a:solidFill>
                  <a:srgbClr val="008000"/>
                </a:solidFill>
              </a:rPr>
              <a:t>Como se pretende acessar o arquivo</a:t>
            </a:r>
            <a:endParaRPr/>
          </a:p>
          <a:p>
            <a:pPr marL="1143000" lvl="2" indent="-228600" algn="l" rtl="0">
              <a:spcBef>
                <a:spcPts val="800"/>
              </a:spcBef>
              <a:spcAft>
                <a:spcPts val="0"/>
              </a:spcAft>
              <a:buSzPts val="2000"/>
              <a:buChar char="▪"/>
            </a:pPr>
            <a:r>
              <a:rPr lang="pt-BR"/>
              <a:t>Registros de tamanho fixo</a:t>
            </a:r>
            <a:endParaRPr/>
          </a:p>
          <a:p>
            <a:pPr marL="1600200" lvl="3" indent="-228600" algn="l" rtl="0">
              <a:spcBef>
                <a:spcPts val="800"/>
              </a:spcBef>
              <a:spcAft>
                <a:spcPts val="0"/>
              </a:spcAft>
              <a:buSzPts val="1800"/>
              <a:buChar char="–"/>
            </a:pPr>
            <a:r>
              <a:rPr lang="pt-BR"/>
              <a:t>Acesso tanto  sequencial quanto direto é feito facilmente</a:t>
            </a:r>
            <a:endParaRPr/>
          </a:p>
          <a:p>
            <a:pPr marL="1143000" lvl="2" indent="-228600" algn="l" rtl="0">
              <a:spcBef>
                <a:spcPts val="800"/>
              </a:spcBef>
              <a:spcAft>
                <a:spcPts val="0"/>
              </a:spcAft>
              <a:buSzPts val="2000"/>
              <a:buChar char="▪"/>
            </a:pPr>
            <a:r>
              <a:rPr lang="pt-BR"/>
              <a:t>Registros de tamanho variável</a:t>
            </a:r>
            <a:endParaRPr/>
          </a:p>
          <a:p>
            <a:pPr marL="1600200" lvl="3" indent="-228600" algn="l" rtl="0">
              <a:spcBef>
                <a:spcPts val="800"/>
              </a:spcBef>
              <a:spcAft>
                <a:spcPts val="0"/>
              </a:spcAft>
              <a:buSzPts val="1800"/>
              <a:buChar char="–"/>
            </a:pPr>
            <a:r>
              <a:rPr lang="pt-BR"/>
              <a:t>Acesso sequencial fácil</a:t>
            </a:r>
            <a:endParaRPr/>
          </a:p>
          <a:p>
            <a:pPr marL="1600200" lvl="3" indent="-228600" algn="l" rtl="0">
              <a:spcBef>
                <a:spcPts val="800"/>
              </a:spcBef>
              <a:spcAft>
                <a:spcPts val="0"/>
              </a:spcAft>
              <a:buSzPts val="1800"/>
              <a:buChar char="–"/>
            </a:pPr>
            <a:r>
              <a:rPr lang="pt-BR"/>
              <a:t>Acesso direto?</a:t>
            </a:r>
            <a:endParaRPr/>
          </a:p>
          <a:p>
            <a:pPr marL="2057400" lvl="4" indent="-228600" algn="l" rtl="0">
              <a:spcBef>
                <a:spcPts val="800"/>
              </a:spcBef>
              <a:spcAft>
                <a:spcPts val="0"/>
              </a:spcAft>
              <a:buSzPts val="1800"/>
              <a:buChar char="»"/>
            </a:pPr>
            <a:r>
              <a:rPr lang="pt-BR"/>
              <a:t>Por RRN não é possível </a:t>
            </a:r>
            <a:endParaRPr/>
          </a:p>
          <a:p>
            <a:pPr marL="2057400" lvl="4" indent="-228600" algn="l" rtl="0">
              <a:spcBef>
                <a:spcPts val="800"/>
              </a:spcBef>
              <a:spcAft>
                <a:spcPts val="0"/>
              </a:spcAft>
              <a:buSzPts val="1800"/>
              <a:buChar char="»"/>
            </a:pPr>
            <a:r>
              <a:rPr lang="pt-BR"/>
              <a:t>Para o acesso direto é preciso manter uma lista relacionando cada RRN  com o respectivo </a:t>
            </a:r>
            <a:r>
              <a:rPr lang="pt-BR" i="1"/>
              <a:t>byte-offset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1983</Words>
  <Application>Microsoft Office PowerPoint</Application>
  <PresentationFormat>Apresentação na tela (4:3)</PresentationFormat>
  <Paragraphs>216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Noto Sans Symbols</vt:lpstr>
      <vt:lpstr>Tema do Office</vt:lpstr>
      <vt:lpstr>Acesso Sequencial e Direto</vt:lpstr>
      <vt:lpstr>Acesso a registros</vt:lpstr>
      <vt:lpstr>Chaves de registros</vt:lpstr>
      <vt:lpstr>Chaves de registros</vt:lpstr>
      <vt:lpstr>Busca sequencial</vt:lpstr>
      <vt:lpstr>Busca sequencial em blocos</vt:lpstr>
      <vt:lpstr>Busca sequencial em blocos</vt:lpstr>
      <vt:lpstr>Busca sequencial em blocos</vt:lpstr>
      <vt:lpstr>Busca sequencial em blocos</vt:lpstr>
      <vt:lpstr>Acesso direto</vt:lpstr>
      <vt:lpstr>Acesso direto</vt:lpstr>
      <vt:lpstr>Acesso direto</vt:lpstr>
      <vt:lpstr>Acesso direto</vt:lpstr>
      <vt:lpstr>Registro de cabeçalho (Header)</vt:lpstr>
      <vt:lpstr>Acesso a arquivos e organização de arquivos</vt:lpstr>
      <vt:lpstr>Acesso a arquivos e organização de arquivos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  <cp:lastModifiedBy>Rodrigo</cp:lastModifiedBy>
  <cp:revision>1</cp:revision>
  <dcterms:created xsi:type="dcterms:W3CDTF">2010-03-03T22:38:26Z</dcterms:created>
  <dcterms:modified xsi:type="dcterms:W3CDTF">2026-04-14T22:53:37Z</dcterms:modified>
</cp:coreProperties>
</file>